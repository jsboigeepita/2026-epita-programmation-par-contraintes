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4.xml" ContentType="application/vnd.openxmlformats-officedocument.presentationml.slide+xml"/>
  <Override PartName="/ppt/slides/slide6.xml" ContentType="application/vnd.openxmlformats-officedocument.presentationml.slide+xml"/>
  <Override PartName="/ppt/slides/slide12.xml" ContentType="application/vnd.openxmlformats-officedocument.presentationml.slide+xml"/>
  <Override PartName="/ppt/slides/slide1.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793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Slide0">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MasterSlide0">
    <p:spTree>
      <p:nvGrpSpPr>
        <p:cNvPr id="1" name=""/>
        <p:cNvGrpSpPr/>
        <p:nvPr/>
      </p:nvGrpSpPr>
      <p:grpSpPr>
        <a:xfrm>
          <a:off x="0" y="0"/>
          <a:ext cx="0" cy="0"/>
          <a:chOff x="0" y="0"/>
          <a:chExt cx="0" cy="0"/>
        </a:xfrm>
      </p:grpSpPr>
      <p:sp>
        <p:nvSpPr>
          <p:cNvPr id="4" name="PlaceHolder 1"/>
          <p:cNvSpPr>
            <a:spLocks noGrp="1"/>
          </p:cNvSpPr>
          <p:nvPr>
            <p:ph type="title"/>
          </p:nvPr>
        </p:nvSpPr>
        <p:spPr>
          <a:xfrm>
            <a:off x="608760" y="273600"/>
            <a:ext cx="10960560" cy="114480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5" name="PlaceHolder 2"/>
          <p:cNvSpPr>
            <a:spLocks noGrp="1"/>
          </p:cNvSpPr>
          <p:nvPr>
            <p:ph type="subTitle"/>
          </p:nvPr>
        </p:nvSpPr>
        <p:spPr>
          <a:xfrm>
            <a:off x="608760" y="1604520"/>
            <a:ext cx="10960560" cy="397728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8760" y="273600"/>
            <a:ext cx="10960560" cy="1144800"/>
          </a:xfrm>
          <a:prstGeom prst="rect">
            <a:avLst/>
          </a:prstGeom>
          <a:noFill/>
          <a:ln w="0">
            <a:noFill/>
          </a:ln>
        </p:spPr>
        <p:txBody>
          <a:bodyPr lIns="0" tIns="0" rIns="0" bIns="0" anchor="ctr">
            <a:noAutofit/>
          </a:bodyPr>
          <a:lstStyle>
            <a:lvl1pPr indent="0" algn="ctr">
              <a:buNone/>
              <a:defRPr lang="en-US" sz="4400" b="0" u="none" strike="noStrike">
                <a:solidFill>
                  <a:srgbClr val="000000"/>
                </a:solidFill>
                <a:effectLst/>
                <a:uFillTx/>
                <a:latin typeface="Arial"/>
              </a:defRPr>
            </a:lvl1pPr>
          </a:lstStyle>
          <a:p>
            <a:pPr indent="0" algn="ctr">
              <a:buNone/>
            </a:pPr>
            <a:r>
              <a:rPr lang="en-US" sz="4400" b="0" u="none" strike="noStrike">
                <a:solidFill>
                  <a:srgbClr val="000000"/>
                </a:solidFill>
                <a:effectLst/>
                <a:uFillTx/>
                <a:latin typeface="Arial"/>
              </a:rPr>
              <a:t>Click to edit the title text format</a:t>
            </a:r>
            <a:endParaRPr lang="en-US" sz="4400" b="0" u="none" strike="noStrike">
              <a:solidFill>
                <a:srgbClr val="000000"/>
              </a:solidFill>
              <a:effectLst/>
              <a:uFillTx/>
              <a:latin typeface="Arial"/>
            </a:endParaRPr>
          </a:p>
        </p:txBody>
      </p:sp>
      <p:sp>
        <p:nvSpPr>
          <p:cNvPr id="3" name="PlaceHolder 2"/>
          <p:cNvSpPr>
            <a:spLocks noGrp="1"/>
          </p:cNvSpPr>
          <p:nvPr>
            <p:ph type="body"/>
          </p:nvPr>
        </p:nvSpPr>
        <p:spPr>
          <a:xfrm>
            <a:off x="608760" y="1604520"/>
            <a:ext cx="1096056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7"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8"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9" name=""/>
          <p:cNvSpPr/>
          <p:nvPr/>
        </p:nvSpPr>
        <p:spPr>
          <a:xfrm>
            <a:off x="8046720" y="-731520"/>
            <a:ext cx="5943600" cy="5943960"/>
          </a:xfrm>
          <a:custGeom>
            <a:avLst/>
            <a:gdLst/>
            <a:ahLst/>
            <a:rect l="0" t="0" r="r" b="b"/>
            <a:pathLst>
              <a:path w="16510" h="16511">
                <a:moveTo>
                  <a:pt x="14093" y="2417"/>
                </a:moveTo>
                <a:cubicBezTo>
                  <a:pt x="17316" y="5642"/>
                  <a:pt x="17316" y="10869"/>
                  <a:pt x="14093" y="14094"/>
                </a:cubicBezTo>
                <a:cubicBezTo>
                  <a:pt x="10869" y="17317"/>
                  <a:pt x="5641" y="17317"/>
                  <a:pt x="2417" y="14094"/>
                </a:cubicBezTo>
                <a:cubicBezTo>
                  <a:pt x="-805" y="10869"/>
                  <a:pt x="-805" y="5642"/>
                  <a:pt x="2417" y="2417"/>
                </a:cubicBezTo>
                <a:cubicBezTo>
                  <a:pt x="5641" y="-806"/>
                  <a:pt x="10869" y="-806"/>
                  <a:pt x="14093" y="2417"/>
                </a:cubicBez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0" name=""/>
          <p:cNvSpPr txBox="1"/>
          <p:nvPr/>
        </p:nvSpPr>
        <p:spPr>
          <a:xfrm>
            <a:off x="685800" y="1097280"/>
            <a:ext cx="8138160" cy="822960"/>
          </a:xfrm>
          <a:prstGeom prst="rect">
            <a:avLst/>
          </a:prstGeom>
          <a:noFill/>
          <a:ln w="0">
            <a:noFill/>
          </a:ln>
        </p:spPr>
        <p:txBody>
          <a:bodyPr lIns="90000" tIns="45000" rIns="90000" bIns="45000" anchor="t">
            <a:spAutoFit/>
          </a:bodyPr>
          <a:p>
            <a:r>
              <a:rPr lang="en-US" sz="3600" b="1" u="none" strike="noStrike">
                <a:solidFill>
                  <a:srgbClr val="CCCCCC"/>
                </a:solidFill>
                <a:effectLst/>
                <a:uFillTx/>
                <a:latin typeface="Calibri-Bold"/>
                <a:ea typeface="Calibri-Bold"/>
              </a:rPr>
              <a:t>Comment un ordinateur décide</a:t>
            </a:r>
            <a:endParaRPr lang="en-US" sz="3600" b="0" u="none" strike="noStrike">
              <a:solidFill>
                <a:srgbClr val="000000"/>
              </a:solidFill>
              <a:effectLst/>
              <a:uFillTx/>
              <a:latin typeface="Arial"/>
            </a:endParaRPr>
          </a:p>
        </p:txBody>
      </p:sp>
      <p:sp>
        <p:nvSpPr>
          <p:cNvPr id="11" name=""/>
          <p:cNvSpPr txBox="1"/>
          <p:nvPr/>
        </p:nvSpPr>
        <p:spPr>
          <a:xfrm>
            <a:off x="685800" y="1828800"/>
            <a:ext cx="8138160" cy="822960"/>
          </a:xfrm>
          <a:prstGeom prst="rect">
            <a:avLst/>
          </a:prstGeom>
          <a:noFill/>
          <a:ln w="0">
            <a:noFill/>
          </a:ln>
        </p:spPr>
        <p:txBody>
          <a:bodyPr lIns="90000" tIns="45000" rIns="90000" bIns="45000" anchor="t">
            <a:spAutoFit/>
          </a:bodyPr>
          <a:p>
            <a:r>
              <a:rPr lang="en-US" sz="4000" b="1" u="none" strike="noStrike">
                <a:solidFill>
                  <a:srgbClr val="FFFFFF"/>
                </a:solidFill>
                <a:effectLst/>
                <a:uFillTx/>
                <a:latin typeface="Calibri-Bold"/>
                <a:ea typeface="Calibri-Bold"/>
              </a:rPr>
              <a:t>qui produit l'électricité</a:t>
            </a:r>
            <a:r>
              <a:rPr lang="en-US" sz="4000" b="1" u="none" strike="noStrike">
                <a:solidFill>
                  <a:srgbClr val="FFFFFF"/>
                </a:solidFill>
                <a:effectLst/>
                <a:uFillTx/>
                <a:latin typeface="Calibri-Bold"/>
                <a:ea typeface="Calibri-Bold"/>
              </a:rPr>
              <a:t> ?</a:t>
            </a:r>
            <a:endParaRPr lang="en-US" sz="4000" b="0" u="none" strike="noStrike">
              <a:solidFill>
                <a:srgbClr val="000000"/>
              </a:solidFill>
              <a:effectLst/>
              <a:uFillTx/>
              <a:latin typeface="Arial"/>
            </a:endParaRPr>
          </a:p>
        </p:txBody>
      </p:sp>
      <p:sp>
        <p:nvSpPr>
          <p:cNvPr id="12" name=""/>
          <p:cNvSpPr txBox="1"/>
          <p:nvPr/>
        </p:nvSpPr>
        <p:spPr>
          <a:xfrm>
            <a:off x="685800" y="2834640"/>
            <a:ext cx="8138160" cy="457200"/>
          </a:xfrm>
          <a:prstGeom prst="rect">
            <a:avLst/>
          </a:prstGeom>
          <a:noFill/>
          <a:ln w="0">
            <a:noFill/>
          </a:ln>
        </p:spPr>
        <p:txBody>
          <a:bodyPr lIns="90000" tIns="45000" rIns="90000" bIns="45000" anchor="t">
            <a:spAutoFit/>
          </a:bodyPr>
          <a:p>
            <a:r>
              <a:rPr lang="en-US" sz="1600" b="0" u="none" strike="noStrike">
                <a:solidFill>
                  <a:srgbClr val="00B4D8"/>
                </a:solidFill>
                <a:effectLst/>
                <a:uFillTx/>
                <a:latin typeface="Calibri"/>
                <a:ea typeface="Calibri"/>
              </a:rPr>
              <a:t>D4 — Dispatch Économique dans un Réseau Électrique</a:t>
            </a:r>
            <a:endParaRPr lang="en-US" sz="1600" b="0" u="none" strike="noStrike">
              <a:solidFill>
                <a:srgbClr val="000000"/>
              </a:solidFill>
              <a:effectLst/>
              <a:uFillTx/>
              <a:latin typeface="Arial"/>
            </a:endParaRPr>
          </a:p>
        </p:txBody>
      </p:sp>
      <p:sp>
        <p:nvSpPr>
          <p:cNvPr id="13" name=""/>
          <p:cNvSpPr/>
          <p:nvPr/>
        </p:nvSpPr>
        <p:spPr>
          <a:xfrm>
            <a:off x="640080" y="3429000"/>
            <a:ext cx="3200760" cy="37080"/>
          </a:xfrm>
          <a:custGeom>
            <a:avLst/>
            <a:gdLst/>
            <a:ahLst/>
            <a:rect l="0" t="0" r="r" b="b"/>
            <a:pathLst>
              <a:path w="8891" h="103">
                <a:moveTo>
                  <a:pt x="0" y="0"/>
                </a:moveTo>
                <a:lnTo>
                  <a:pt x="8891" y="0"/>
                </a:lnTo>
                <a:lnTo>
                  <a:pt x="8891" y="103"/>
                </a:lnTo>
                <a:lnTo>
                  <a:pt x="0" y="103"/>
                </a:lnTo>
                <a:lnTo>
                  <a:pt x="0" y="0"/>
                </a:lnTo>
                <a:close/>
              </a:path>
            </a:pathLst>
          </a:custGeom>
          <a:solidFill>
            <a:srgbClr val="E86916"/>
          </a:solidFill>
          <a:ln w="0">
            <a:noFill/>
          </a:ln>
        </p:spPr>
        <p:txBody>
          <a:bodyPr lIns="90000" tIns="-7920" rIns="90000" bIns="-7920" anchor="t">
            <a:noAutofit/>
          </a:bodyPr>
          <a:p>
            <a:endParaRPr lang="en-US" sz="1800" b="0" u="none" strike="noStrike">
              <a:solidFill>
                <a:srgbClr val="FFFFFF"/>
              </a:solidFill>
              <a:effectLst/>
              <a:uFillTx/>
              <a:latin typeface="Arial"/>
            </a:endParaRPr>
          </a:p>
        </p:txBody>
      </p:sp>
      <p:sp>
        <p:nvSpPr>
          <p:cNvPr id="14" name=""/>
          <p:cNvSpPr txBox="1"/>
          <p:nvPr/>
        </p:nvSpPr>
        <p:spPr>
          <a:xfrm>
            <a:off x="685800" y="3566160"/>
            <a:ext cx="8138160" cy="365760"/>
          </a:xfrm>
          <a:prstGeom prst="rect">
            <a:avLst/>
          </a:prstGeom>
          <a:noFill/>
          <a:ln w="0">
            <a:noFill/>
          </a:ln>
        </p:spPr>
        <p:txBody>
          <a:bodyPr lIns="90000" tIns="45000" rIns="90000" bIns="45000" anchor="t">
            <a:spAutoFit/>
          </a:bodyPr>
          <a:p>
            <a:r>
              <a:rPr lang="en-US" sz="1300" b="0" i="1" u="none" strike="noStrike">
                <a:solidFill>
                  <a:srgbClr val="CCCCCC"/>
                </a:solidFill>
                <a:effectLst/>
                <a:uFillTx/>
                <a:latin typeface="Calibri-Italic"/>
                <a:ea typeface="Calibri-Italic"/>
              </a:rPr>
              <a:t>Programmation par Contraintes  ·  OR-Tools CP-SAT  ·  EPITA 2026</a:t>
            </a:r>
            <a:endParaRPr lang="en-US" sz="1300" b="0" u="none" strike="noStrike">
              <a:solidFill>
                <a:srgbClr val="000000"/>
              </a:solidFill>
              <a:effectLst/>
              <a:uFillTx/>
              <a:latin typeface="Arial"/>
            </a:endParaRPr>
          </a:p>
        </p:txBody>
      </p:sp>
      <p:sp>
        <p:nvSpPr>
          <p:cNvPr id="15" name=""/>
          <p:cNvSpPr/>
          <p:nvPr/>
        </p:nvSpPr>
        <p:spPr>
          <a:xfrm>
            <a:off x="640080" y="4389120"/>
            <a:ext cx="6858360" cy="1189080"/>
          </a:xfrm>
          <a:custGeom>
            <a:avLst/>
            <a:gdLst/>
            <a:ahLst/>
            <a:rect l="0" t="0" r="r" b="b"/>
            <a:pathLst>
              <a:path w="19051" h="3303">
                <a:moveTo>
                  <a:pt x="0" y="0"/>
                </a:moveTo>
                <a:lnTo>
                  <a:pt x="19051" y="0"/>
                </a:lnTo>
                <a:lnTo>
                  <a:pt x="19051" y="3303"/>
                </a:lnTo>
                <a:lnTo>
                  <a:pt x="0" y="3303"/>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6" name=""/>
          <p:cNvSpPr txBox="1"/>
          <p:nvPr/>
        </p:nvSpPr>
        <p:spPr>
          <a:xfrm>
            <a:off x="868680" y="4434840"/>
            <a:ext cx="6492240" cy="1097280"/>
          </a:xfrm>
          <a:prstGeom prst="rect">
            <a:avLst/>
          </a:prstGeom>
          <a:noFill/>
          <a:ln w="0">
            <a:noFill/>
          </a:ln>
        </p:spPr>
        <p:txBody>
          <a:bodyPr lIns="90000" tIns="45000" rIns="90000" bIns="45000" anchor="t">
            <a:spAutoFit/>
          </a:bodyPr>
          <a:p>
            <a:r>
              <a:rPr lang="en-US" sz="1400" b="0" u="none" strike="noStrike">
                <a:solidFill>
                  <a:srgbClr val="FFFFFF"/>
                </a:solidFill>
                <a:effectLst/>
                <a:uFillTx/>
                <a:latin typeface="Calibri"/>
                <a:ea typeface="Calibri"/>
              </a:rPr>
              <a:t>Problème industriel : comment alimenter la France au meilleur prix</a:t>
            </a:r>
            <a:r>
              <a:rPr lang="en-US" sz="1400" b="0" u="none" strike="noStrike">
                <a:solidFill>
                  <a:srgbClr val="FFFFFF"/>
                </a:solidFill>
                <a:effectLst/>
                <a:uFillTx/>
                <a:latin typeface="Calibri"/>
                <a:ea typeface="Calibri"/>
              </a:rPr>
              <a:t> ?</a:t>
            </a:r>
            <a:endParaRPr lang="en-US" sz="1400" b="0" u="none" strike="noStrike">
              <a:solidFill>
                <a:srgbClr val="000000"/>
              </a:solidFill>
              <a:effectLst/>
              <a:uFillTx/>
              <a:latin typeface="Arial"/>
            </a:endParaRPr>
          </a:p>
          <a:p>
            <a:r>
              <a:rPr lang="en-US" sz="1400" b="0" u="none" strike="noStrike">
                <a:solidFill>
                  <a:srgbClr val="FFFFFF"/>
                </a:solidFill>
                <a:effectLst/>
                <a:uFillTx/>
                <a:latin typeface="Calibri"/>
                <a:ea typeface="Calibri"/>
              </a:rPr>
              <a:t>Approche : programmation par contraintes (CP-SAT, Google OR-Tools)</a:t>
            </a:r>
            <a:endParaRPr lang="en-US" sz="1400" b="0" u="none" strike="noStrike">
              <a:solidFill>
                <a:srgbClr val="000000"/>
              </a:solidFill>
              <a:effectLst/>
              <a:uFillTx/>
              <a:latin typeface="Arial"/>
            </a:endParaRPr>
          </a:p>
          <a:p>
            <a:r>
              <a:rPr lang="en-US" sz="1400" b="0" u="none" strike="noStrike">
                <a:solidFill>
                  <a:srgbClr val="FFFFFF"/>
                </a:solidFill>
                <a:effectLst/>
                <a:uFillTx/>
                <a:latin typeface="Calibri"/>
                <a:ea typeface="Calibri"/>
              </a:rPr>
              <a:t>3</a:t>
            </a:r>
            <a:r>
              <a:rPr lang="en-US" sz="1400" b="0" u="none" strike="noStrike">
                <a:solidFill>
                  <a:srgbClr val="FFFFFF"/>
                </a:solidFill>
                <a:effectLst/>
                <a:uFillTx/>
                <a:latin typeface="Calibri"/>
                <a:ea typeface="Calibri"/>
              </a:rPr>
              <a:t> </a:t>
            </a:r>
            <a:r>
              <a:rPr lang="en-US" sz="1400" b="0" u="none" strike="noStrike">
                <a:solidFill>
                  <a:srgbClr val="FFFFFF"/>
                </a:solidFill>
                <a:effectLst/>
                <a:uFillTx/>
                <a:latin typeface="Calibri"/>
                <a:ea typeface="Calibri"/>
              </a:rPr>
              <a:t>niveaux de complexité : instantané → journée → incertitude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8"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19"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20" name=""/>
          <p:cNvSpPr txBox="1"/>
          <p:nvPr/>
        </p:nvSpPr>
        <p:spPr>
          <a:xfrm>
            <a:off x="428040" y="358560"/>
            <a:ext cx="10881360" cy="515520"/>
          </a:xfrm>
          <a:prstGeom prst="rect">
            <a:avLst/>
          </a:prstGeom>
          <a:noFill/>
          <a:ln w="0">
            <a:noFill/>
          </a:ln>
        </p:spPr>
        <p:txBody>
          <a:bodyPr lIns="90000" tIns="45000" rIns="90000" bIns="45000" anchor="t">
            <a:spAutoFit/>
          </a:bodyPr>
          <a:p>
            <a:r>
              <a:rPr lang="en-US" sz="3000" b="1" u="none" strike="noStrike">
                <a:solidFill>
                  <a:srgbClr val="E86916"/>
                </a:solidFill>
                <a:effectLst/>
                <a:uFillTx/>
                <a:latin typeface="Calibri-Bold"/>
                <a:ea typeface="Calibri-Bold"/>
              </a:rPr>
              <a:t>Ce que nous allons va voir</a:t>
            </a:r>
            <a:endParaRPr lang="en-US" sz="3000" b="0" u="none" strike="noStrike">
              <a:solidFill>
                <a:srgbClr val="000000"/>
              </a:solidFill>
              <a:effectLst/>
              <a:uFillTx/>
              <a:latin typeface="Arial"/>
            </a:endParaRPr>
          </a:p>
        </p:txBody>
      </p:sp>
      <p:sp>
        <p:nvSpPr>
          <p:cNvPr id="21" name=""/>
          <p:cNvSpPr/>
          <p:nvPr/>
        </p:nvSpPr>
        <p:spPr>
          <a:xfrm>
            <a:off x="365760" y="114300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2DCC7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2" name=""/>
          <p:cNvSpPr txBox="1"/>
          <p:nvPr/>
        </p:nvSpPr>
        <p:spPr>
          <a:xfrm>
            <a:off x="411480" y="1216080"/>
            <a:ext cx="411480" cy="365760"/>
          </a:xfrm>
          <a:prstGeom prst="rect">
            <a:avLst/>
          </a:prstGeom>
          <a:noFill/>
          <a:ln w="0">
            <a:noFill/>
          </a:ln>
        </p:spPr>
        <p:txBody>
          <a:bodyPr lIns="90000" tIns="45000" rIns="90000" bIns="45000" anchor="t">
            <a:spAutoFit/>
          </a:bodyPr>
          <a:p>
            <a:pPr algn="ctr" rtl="1"/>
            <a:r>
              <a:rPr lang="en-US" sz="1400" b="1" u="none" strike="noStrike">
                <a:solidFill>
                  <a:srgbClr val="FFFFFF"/>
                </a:solidFill>
                <a:effectLst/>
                <a:uFillTx/>
                <a:latin typeface="Calibri-Bold"/>
                <a:ea typeface="Calibri-Bold"/>
              </a:rPr>
              <a:t>01</a:t>
            </a:r>
            <a:endParaRPr lang="en-US" sz="1400" b="0" u="none" strike="noStrike">
              <a:solidFill>
                <a:srgbClr val="000000"/>
              </a:solidFill>
              <a:effectLst/>
              <a:uFillTx/>
              <a:latin typeface="Arial"/>
            </a:endParaRPr>
          </a:p>
        </p:txBody>
      </p:sp>
      <p:sp>
        <p:nvSpPr>
          <p:cNvPr id="23" name=""/>
          <p:cNvSpPr txBox="1"/>
          <p:nvPr/>
        </p:nvSpPr>
        <p:spPr>
          <a:xfrm>
            <a:off x="1051560" y="1161360"/>
            <a:ext cx="5852160" cy="316080"/>
          </a:xfrm>
          <a:prstGeom prst="rect">
            <a:avLst/>
          </a:prstGeom>
          <a:noFill/>
          <a:ln w="0">
            <a:noFill/>
          </a:ln>
        </p:spPr>
        <p:txBody>
          <a:bodyPr lIns="90000" tIns="45000" rIns="90000" bIns="45000" anchor="t">
            <a:spAutoFit/>
          </a:bodyPr>
          <a:p>
            <a:r>
              <a:rPr lang="en-US" sz="1600" b="1" u="none" strike="noStrike">
                <a:solidFill>
                  <a:srgbClr val="FFFFFF"/>
                </a:solidFill>
                <a:effectLst/>
                <a:uFillTx/>
                <a:latin typeface="Calibri-Bold"/>
                <a:ea typeface="Calibri-Bold"/>
              </a:rPr>
              <a:t>Le problème concret</a:t>
            </a:r>
            <a:endParaRPr lang="en-US" sz="1600" b="0" u="none" strike="noStrike">
              <a:solidFill>
                <a:srgbClr val="000000"/>
              </a:solidFill>
              <a:effectLst/>
              <a:uFillTx/>
              <a:latin typeface="Arial"/>
            </a:endParaRPr>
          </a:p>
        </p:txBody>
      </p:sp>
      <p:sp>
        <p:nvSpPr>
          <p:cNvPr id="24" name=""/>
          <p:cNvSpPr txBox="1"/>
          <p:nvPr/>
        </p:nvSpPr>
        <p:spPr>
          <a:xfrm>
            <a:off x="1051560" y="1435680"/>
            <a:ext cx="7680960" cy="297720"/>
          </a:xfrm>
          <a:prstGeom prst="rect">
            <a:avLst/>
          </a:prstGeom>
          <a:noFill/>
          <a:ln w="0">
            <a:noFill/>
          </a:ln>
        </p:spPr>
        <p:txBody>
          <a:bodyPr lIns="90000" tIns="45000" rIns="90000" bIns="45000" anchor="t">
            <a:spAutoFit/>
          </a:bodyPr>
          <a:p>
            <a:r>
              <a:rPr lang="en-US" sz="1200" b="0" i="1" u="none" strike="noStrike">
                <a:solidFill>
                  <a:srgbClr val="CCCCCC"/>
                </a:solidFill>
                <a:effectLst/>
                <a:uFillTx/>
                <a:latin typeface="Calibri-Italic"/>
                <a:ea typeface="Calibri-Italic"/>
              </a:rPr>
              <a:t>Qui produit quoi ? Pourquoi c'est dur</a:t>
            </a:r>
            <a:r>
              <a:rPr lang="en-US" sz="1200" b="0" i="1" u="none" strike="noStrike">
                <a:solidFill>
                  <a:srgbClr val="CCCCCC"/>
                </a:solidFill>
                <a:effectLst/>
                <a:uFillTx/>
                <a:latin typeface="Calibri-Italic"/>
                <a:ea typeface="Calibri-Italic"/>
              </a:rPr>
              <a:t> ?</a:t>
            </a:r>
            <a:endParaRPr lang="en-US" sz="1200" b="0" u="none" strike="noStrike">
              <a:solidFill>
                <a:srgbClr val="000000"/>
              </a:solidFill>
              <a:effectLst/>
              <a:uFillTx/>
              <a:latin typeface="Arial"/>
            </a:endParaRPr>
          </a:p>
        </p:txBody>
      </p:sp>
      <p:sp>
        <p:nvSpPr>
          <p:cNvPr id="25" name=""/>
          <p:cNvSpPr/>
          <p:nvPr/>
        </p:nvSpPr>
        <p:spPr>
          <a:xfrm>
            <a:off x="365760" y="190188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6" name=""/>
          <p:cNvSpPr txBox="1"/>
          <p:nvPr/>
        </p:nvSpPr>
        <p:spPr>
          <a:xfrm>
            <a:off x="411480" y="1974960"/>
            <a:ext cx="411480" cy="365760"/>
          </a:xfrm>
          <a:prstGeom prst="rect">
            <a:avLst/>
          </a:prstGeom>
          <a:noFill/>
          <a:ln w="0">
            <a:noFill/>
          </a:ln>
        </p:spPr>
        <p:txBody>
          <a:bodyPr lIns="90000" tIns="45000" rIns="90000" bIns="45000" anchor="t">
            <a:spAutoFit/>
          </a:bodyPr>
          <a:p>
            <a:pPr algn="ctr" rtl="1"/>
            <a:r>
              <a:rPr lang="en-US" sz="1400" b="1" u="none" strike="noStrike">
                <a:solidFill>
                  <a:srgbClr val="FFFFFF"/>
                </a:solidFill>
                <a:effectLst/>
                <a:uFillTx/>
                <a:latin typeface="Calibri-Bold"/>
                <a:ea typeface="Calibri-Bold"/>
              </a:rPr>
              <a:t>02</a:t>
            </a:r>
            <a:endParaRPr lang="en-US" sz="1400" b="0" u="none" strike="noStrike">
              <a:solidFill>
                <a:srgbClr val="000000"/>
              </a:solidFill>
              <a:effectLst/>
              <a:uFillTx/>
              <a:latin typeface="Arial"/>
            </a:endParaRPr>
          </a:p>
        </p:txBody>
      </p:sp>
      <p:sp>
        <p:nvSpPr>
          <p:cNvPr id="27" name=""/>
          <p:cNvSpPr txBox="1"/>
          <p:nvPr/>
        </p:nvSpPr>
        <p:spPr>
          <a:xfrm>
            <a:off x="1051560" y="1920240"/>
            <a:ext cx="5852160" cy="316080"/>
          </a:xfrm>
          <a:prstGeom prst="rect">
            <a:avLst/>
          </a:prstGeom>
          <a:noFill/>
          <a:ln w="0">
            <a:noFill/>
          </a:ln>
        </p:spPr>
        <p:txBody>
          <a:bodyPr lIns="90000" tIns="45000" rIns="90000" bIns="45000" anchor="t">
            <a:spAutoFit/>
          </a:bodyPr>
          <a:p>
            <a:r>
              <a:rPr lang="en-US" sz="1600" b="1" u="none" strike="noStrike">
                <a:solidFill>
                  <a:srgbClr val="FFFFFF"/>
                </a:solidFill>
                <a:effectLst/>
                <a:uFillTx/>
                <a:latin typeface="Calibri-Bold"/>
                <a:ea typeface="Calibri-Bold"/>
              </a:rPr>
              <a:t>Les 3 niveaux</a:t>
            </a:r>
            <a:endParaRPr lang="en-US" sz="1600" b="0" u="none" strike="noStrike">
              <a:solidFill>
                <a:srgbClr val="000000"/>
              </a:solidFill>
              <a:effectLst/>
              <a:uFillTx/>
              <a:latin typeface="Arial"/>
            </a:endParaRPr>
          </a:p>
        </p:txBody>
      </p:sp>
      <p:sp>
        <p:nvSpPr>
          <p:cNvPr id="28" name=""/>
          <p:cNvSpPr txBox="1"/>
          <p:nvPr/>
        </p:nvSpPr>
        <p:spPr>
          <a:xfrm>
            <a:off x="1051560" y="2194560"/>
            <a:ext cx="7680960" cy="261000"/>
          </a:xfrm>
          <a:prstGeom prst="rect">
            <a:avLst/>
          </a:prstGeom>
          <a:noFill/>
          <a:ln w="0">
            <a:noFill/>
          </a:ln>
        </p:spPr>
        <p:txBody>
          <a:bodyPr lIns="90000" tIns="45000" rIns="90000" bIns="45000" anchor="t">
            <a:spAutoFit/>
          </a:bodyPr>
          <a:p>
            <a:r>
              <a:rPr lang="en-US" sz="1200" b="0" i="1" u="none" strike="noStrike">
                <a:solidFill>
                  <a:srgbClr val="CCCCCC"/>
                </a:solidFill>
                <a:effectLst/>
                <a:uFillTx/>
                <a:latin typeface="Calibri-Italic"/>
                <a:ea typeface="Calibri-Italic"/>
              </a:rPr>
              <a:t>Du plus simple au plus réaliste</a:t>
            </a:r>
            <a:endParaRPr lang="en-US" sz="1200" b="0" u="none" strike="noStrike">
              <a:solidFill>
                <a:srgbClr val="000000"/>
              </a:solidFill>
              <a:effectLst/>
              <a:uFillTx/>
              <a:latin typeface="Arial"/>
            </a:endParaRPr>
          </a:p>
        </p:txBody>
      </p:sp>
      <p:sp>
        <p:nvSpPr>
          <p:cNvPr id="29" name=""/>
          <p:cNvSpPr/>
          <p:nvPr/>
        </p:nvSpPr>
        <p:spPr>
          <a:xfrm>
            <a:off x="365760" y="266076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F39C11"/>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0" name=""/>
          <p:cNvSpPr txBox="1"/>
          <p:nvPr/>
        </p:nvSpPr>
        <p:spPr>
          <a:xfrm>
            <a:off x="411480" y="2734200"/>
            <a:ext cx="411480" cy="365760"/>
          </a:xfrm>
          <a:prstGeom prst="rect">
            <a:avLst/>
          </a:prstGeom>
          <a:noFill/>
          <a:ln w="0">
            <a:noFill/>
          </a:ln>
        </p:spPr>
        <p:txBody>
          <a:bodyPr lIns="90000" tIns="45000" rIns="90000" bIns="45000" anchor="t">
            <a:spAutoFit/>
          </a:bodyPr>
          <a:p>
            <a:pPr algn="ctr" rtl="1"/>
            <a:r>
              <a:rPr lang="en-US" sz="1400" b="1" u="none" strike="noStrike">
                <a:solidFill>
                  <a:srgbClr val="FFFFFF"/>
                </a:solidFill>
                <a:effectLst/>
                <a:uFillTx/>
                <a:latin typeface="Calibri-Bold"/>
                <a:ea typeface="Calibri-Bold"/>
              </a:rPr>
              <a:t>03</a:t>
            </a:r>
            <a:endParaRPr lang="en-US" sz="1400" b="0" u="none" strike="noStrike">
              <a:solidFill>
                <a:srgbClr val="000000"/>
              </a:solidFill>
              <a:effectLst/>
              <a:uFillTx/>
              <a:latin typeface="Arial"/>
            </a:endParaRPr>
          </a:p>
        </p:txBody>
      </p:sp>
      <p:sp>
        <p:nvSpPr>
          <p:cNvPr id="31" name=""/>
          <p:cNvSpPr txBox="1"/>
          <p:nvPr/>
        </p:nvSpPr>
        <p:spPr>
          <a:xfrm>
            <a:off x="1051560" y="2679120"/>
            <a:ext cx="5852160" cy="316080"/>
          </a:xfrm>
          <a:prstGeom prst="rect">
            <a:avLst/>
          </a:prstGeom>
          <a:noFill/>
          <a:ln w="0">
            <a:noFill/>
          </a:ln>
        </p:spPr>
        <p:txBody>
          <a:bodyPr lIns="90000" tIns="45000" rIns="90000" bIns="45000" anchor="t">
            <a:spAutoFit/>
          </a:bodyPr>
          <a:p>
            <a:r>
              <a:rPr lang="en-US" sz="1600" b="1" u="none" strike="noStrike">
                <a:solidFill>
                  <a:srgbClr val="FFFFFF"/>
                </a:solidFill>
                <a:effectLst/>
                <a:uFillTx/>
                <a:latin typeface="Calibri-Bold"/>
                <a:ea typeface="Calibri-Bold"/>
              </a:rPr>
              <a:t>Comment on modélise</a:t>
            </a:r>
            <a:endParaRPr lang="en-US" sz="1600" b="0" u="none" strike="noStrike">
              <a:solidFill>
                <a:srgbClr val="000000"/>
              </a:solidFill>
              <a:effectLst/>
              <a:uFillTx/>
              <a:latin typeface="Arial"/>
            </a:endParaRPr>
          </a:p>
        </p:txBody>
      </p:sp>
      <p:sp>
        <p:nvSpPr>
          <p:cNvPr id="32" name=""/>
          <p:cNvSpPr txBox="1"/>
          <p:nvPr/>
        </p:nvSpPr>
        <p:spPr>
          <a:xfrm>
            <a:off x="1051560" y="2953440"/>
            <a:ext cx="7680960" cy="261000"/>
          </a:xfrm>
          <a:prstGeom prst="rect">
            <a:avLst/>
          </a:prstGeom>
          <a:noFill/>
          <a:ln w="0">
            <a:noFill/>
          </a:ln>
        </p:spPr>
        <p:txBody>
          <a:bodyPr lIns="90000" tIns="45000" rIns="90000" bIns="45000" anchor="t">
            <a:spAutoFit/>
          </a:bodyPr>
          <a:p>
            <a:r>
              <a:rPr lang="en-US" sz="1200" b="0" i="1" u="none" strike="noStrike">
                <a:solidFill>
                  <a:srgbClr val="CCCCCC"/>
                </a:solidFill>
                <a:effectLst/>
                <a:uFillTx/>
                <a:latin typeface="Calibri-Italic"/>
                <a:ea typeface="Calibri-Italic"/>
              </a:rPr>
              <a:t>Traduire la physique en maths que l'ordi comprend</a:t>
            </a:r>
            <a:endParaRPr lang="en-US" sz="1200" b="0" u="none" strike="noStrike">
              <a:solidFill>
                <a:srgbClr val="000000"/>
              </a:solidFill>
              <a:effectLst/>
              <a:uFillTx/>
              <a:latin typeface="Arial"/>
            </a:endParaRPr>
          </a:p>
        </p:txBody>
      </p:sp>
      <p:sp>
        <p:nvSpPr>
          <p:cNvPr id="33" name=""/>
          <p:cNvSpPr/>
          <p:nvPr/>
        </p:nvSpPr>
        <p:spPr>
          <a:xfrm>
            <a:off x="365760" y="342000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4" name=""/>
          <p:cNvSpPr txBox="1"/>
          <p:nvPr/>
        </p:nvSpPr>
        <p:spPr>
          <a:xfrm>
            <a:off x="411480" y="3493080"/>
            <a:ext cx="411480" cy="365760"/>
          </a:xfrm>
          <a:prstGeom prst="rect">
            <a:avLst/>
          </a:prstGeom>
          <a:noFill/>
          <a:ln w="0">
            <a:noFill/>
          </a:ln>
        </p:spPr>
        <p:txBody>
          <a:bodyPr lIns="90000" tIns="45000" rIns="90000" bIns="45000" anchor="t">
            <a:spAutoFit/>
          </a:bodyPr>
          <a:p>
            <a:pPr algn="ctr" rtl="1"/>
            <a:r>
              <a:rPr lang="en-US" sz="1400" b="1" u="none" strike="noStrike">
                <a:solidFill>
                  <a:srgbClr val="FFFFFF"/>
                </a:solidFill>
                <a:effectLst/>
                <a:uFillTx/>
                <a:latin typeface="Calibri-Bold"/>
                <a:ea typeface="Calibri-Bold"/>
              </a:rPr>
              <a:t>04</a:t>
            </a:r>
            <a:endParaRPr lang="en-US" sz="1400" b="0" u="none" strike="noStrike">
              <a:solidFill>
                <a:srgbClr val="000000"/>
              </a:solidFill>
              <a:effectLst/>
              <a:uFillTx/>
              <a:latin typeface="Arial"/>
            </a:endParaRPr>
          </a:p>
        </p:txBody>
      </p:sp>
      <p:sp>
        <p:nvSpPr>
          <p:cNvPr id="35" name=""/>
          <p:cNvSpPr txBox="1"/>
          <p:nvPr/>
        </p:nvSpPr>
        <p:spPr>
          <a:xfrm>
            <a:off x="1051560" y="3438000"/>
            <a:ext cx="5852160" cy="316080"/>
          </a:xfrm>
          <a:prstGeom prst="rect">
            <a:avLst/>
          </a:prstGeom>
          <a:noFill/>
          <a:ln w="0">
            <a:noFill/>
          </a:ln>
        </p:spPr>
        <p:txBody>
          <a:bodyPr lIns="90000" tIns="45000" rIns="90000" bIns="45000" anchor="t">
            <a:spAutoFit/>
          </a:bodyPr>
          <a:p>
            <a:r>
              <a:rPr lang="en-US" sz="1600" b="1" u="none" strike="noStrike">
                <a:solidFill>
                  <a:srgbClr val="FFFFFF"/>
                </a:solidFill>
                <a:effectLst/>
                <a:uFillTx/>
                <a:latin typeface="Calibri-Bold"/>
                <a:ea typeface="Calibri-Bold"/>
              </a:rPr>
              <a:t>L'astuce des coûts</a:t>
            </a:r>
            <a:endParaRPr lang="en-US" sz="1600" b="0" u="none" strike="noStrike">
              <a:solidFill>
                <a:srgbClr val="000000"/>
              </a:solidFill>
              <a:effectLst/>
              <a:uFillTx/>
              <a:latin typeface="Arial"/>
            </a:endParaRPr>
          </a:p>
        </p:txBody>
      </p:sp>
      <p:sp>
        <p:nvSpPr>
          <p:cNvPr id="36" name=""/>
          <p:cNvSpPr txBox="1"/>
          <p:nvPr/>
        </p:nvSpPr>
        <p:spPr>
          <a:xfrm>
            <a:off x="1051560" y="3712320"/>
            <a:ext cx="7680960" cy="261000"/>
          </a:xfrm>
          <a:prstGeom prst="rect">
            <a:avLst/>
          </a:prstGeom>
          <a:noFill/>
          <a:ln w="0">
            <a:noFill/>
          </a:ln>
        </p:spPr>
        <p:txBody>
          <a:bodyPr lIns="90000" tIns="45000" rIns="90000" bIns="45000" anchor="t">
            <a:spAutoFit/>
          </a:bodyPr>
          <a:p>
            <a:r>
              <a:rPr lang="en-US" sz="1200" b="0" i="1" u="none" strike="noStrike">
                <a:solidFill>
                  <a:srgbClr val="CCCCCC"/>
                </a:solidFill>
                <a:effectLst/>
                <a:uFillTx/>
                <a:latin typeface="Calibri-Italic"/>
                <a:ea typeface="Calibri-Italic"/>
              </a:rPr>
              <a:t>Pourquoi une courbe courbée pose problème</a:t>
            </a:r>
            <a:endParaRPr lang="en-US" sz="1200" b="0" u="none" strike="noStrike">
              <a:solidFill>
                <a:srgbClr val="000000"/>
              </a:solidFill>
              <a:effectLst/>
              <a:uFillTx/>
              <a:latin typeface="Arial"/>
            </a:endParaRPr>
          </a:p>
        </p:txBody>
      </p:sp>
      <p:sp>
        <p:nvSpPr>
          <p:cNvPr id="37" name=""/>
          <p:cNvSpPr/>
          <p:nvPr/>
        </p:nvSpPr>
        <p:spPr>
          <a:xfrm>
            <a:off x="365760" y="417888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8E43A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8" name=""/>
          <p:cNvSpPr txBox="1"/>
          <p:nvPr/>
        </p:nvSpPr>
        <p:spPr>
          <a:xfrm>
            <a:off x="411480" y="4251960"/>
            <a:ext cx="411480" cy="365760"/>
          </a:xfrm>
          <a:prstGeom prst="rect">
            <a:avLst/>
          </a:prstGeom>
          <a:noFill/>
          <a:ln w="0">
            <a:noFill/>
          </a:ln>
        </p:spPr>
        <p:txBody>
          <a:bodyPr lIns="90000" tIns="45000" rIns="90000" bIns="45000" anchor="t">
            <a:spAutoFit/>
          </a:bodyPr>
          <a:p>
            <a:pPr algn="ctr" rtl="1"/>
            <a:r>
              <a:rPr lang="en-US" sz="1400" b="1" u="none" strike="noStrike">
                <a:solidFill>
                  <a:srgbClr val="FFFFFF"/>
                </a:solidFill>
                <a:effectLst/>
                <a:uFillTx/>
                <a:latin typeface="Calibri-Bold"/>
                <a:ea typeface="Calibri-Bold"/>
              </a:rPr>
              <a:t>05</a:t>
            </a:r>
            <a:endParaRPr lang="en-US" sz="1400" b="0" u="none" strike="noStrike">
              <a:solidFill>
                <a:srgbClr val="000000"/>
              </a:solidFill>
              <a:effectLst/>
              <a:uFillTx/>
              <a:latin typeface="Arial"/>
            </a:endParaRPr>
          </a:p>
        </p:txBody>
      </p:sp>
      <p:sp>
        <p:nvSpPr>
          <p:cNvPr id="39" name=""/>
          <p:cNvSpPr txBox="1"/>
          <p:nvPr/>
        </p:nvSpPr>
        <p:spPr>
          <a:xfrm>
            <a:off x="1051560" y="4197240"/>
            <a:ext cx="5852160" cy="316080"/>
          </a:xfrm>
          <a:prstGeom prst="rect">
            <a:avLst/>
          </a:prstGeom>
          <a:noFill/>
          <a:ln w="0">
            <a:noFill/>
          </a:ln>
        </p:spPr>
        <p:txBody>
          <a:bodyPr lIns="90000" tIns="45000" rIns="90000" bIns="45000" anchor="t">
            <a:spAutoFit/>
          </a:bodyPr>
          <a:p>
            <a:r>
              <a:rPr lang="en-US" sz="1600" b="1" u="none" strike="noStrike">
                <a:solidFill>
                  <a:srgbClr val="FFFFFF"/>
                </a:solidFill>
                <a:effectLst/>
                <a:uFillTx/>
                <a:latin typeface="Calibri-Bold"/>
                <a:ea typeface="Calibri-Bold"/>
              </a:rPr>
              <a:t>Les contraintes de temps</a:t>
            </a:r>
            <a:endParaRPr lang="en-US" sz="1600" b="0" u="none" strike="noStrike">
              <a:solidFill>
                <a:srgbClr val="000000"/>
              </a:solidFill>
              <a:effectLst/>
              <a:uFillTx/>
              <a:latin typeface="Arial"/>
            </a:endParaRPr>
          </a:p>
        </p:txBody>
      </p:sp>
      <p:sp>
        <p:nvSpPr>
          <p:cNvPr id="40" name=""/>
          <p:cNvSpPr txBox="1"/>
          <p:nvPr/>
        </p:nvSpPr>
        <p:spPr>
          <a:xfrm>
            <a:off x="1051560" y="4471560"/>
            <a:ext cx="7680960" cy="261000"/>
          </a:xfrm>
          <a:prstGeom prst="rect">
            <a:avLst/>
          </a:prstGeom>
          <a:noFill/>
          <a:ln w="0">
            <a:noFill/>
          </a:ln>
        </p:spPr>
        <p:txBody>
          <a:bodyPr lIns="90000" tIns="45000" rIns="90000" bIns="45000" anchor="t">
            <a:spAutoFit/>
          </a:bodyPr>
          <a:p>
            <a:r>
              <a:rPr lang="en-US" sz="1200" b="0" i="1" u="none" strike="noStrike">
                <a:solidFill>
                  <a:srgbClr val="CCCCCC"/>
                </a:solidFill>
                <a:effectLst/>
                <a:uFillTx/>
                <a:latin typeface="Calibri-Italic"/>
                <a:ea typeface="Calibri-Italic"/>
              </a:rPr>
              <a:t>Un groupe électrogène ne s'allume pas en 1 seconde</a:t>
            </a:r>
            <a:endParaRPr lang="en-US" sz="1200" b="0" u="none" strike="noStrike">
              <a:solidFill>
                <a:srgbClr val="000000"/>
              </a:solidFill>
              <a:effectLst/>
              <a:uFillTx/>
              <a:latin typeface="Arial"/>
            </a:endParaRPr>
          </a:p>
        </p:txBody>
      </p:sp>
      <p:sp>
        <p:nvSpPr>
          <p:cNvPr id="41" name=""/>
          <p:cNvSpPr/>
          <p:nvPr/>
        </p:nvSpPr>
        <p:spPr>
          <a:xfrm>
            <a:off x="365760" y="493776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42" name=""/>
          <p:cNvSpPr txBox="1"/>
          <p:nvPr/>
        </p:nvSpPr>
        <p:spPr>
          <a:xfrm>
            <a:off x="411480" y="5010840"/>
            <a:ext cx="411480" cy="365760"/>
          </a:xfrm>
          <a:prstGeom prst="rect">
            <a:avLst/>
          </a:prstGeom>
          <a:noFill/>
          <a:ln w="0">
            <a:noFill/>
          </a:ln>
        </p:spPr>
        <p:txBody>
          <a:bodyPr lIns="90000" tIns="45000" rIns="90000" bIns="45000" anchor="t">
            <a:spAutoFit/>
          </a:bodyPr>
          <a:p>
            <a:pPr algn="ctr" rtl="1"/>
            <a:r>
              <a:rPr lang="en-US" sz="1400" b="1" u="none" strike="noStrike">
                <a:solidFill>
                  <a:srgbClr val="FFFFFF"/>
                </a:solidFill>
                <a:effectLst/>
                <a:uFillTx/>
                <a:latin typeface="Calibri-Bold"/>
                <a:ea typeface="Calibri-Bold"/>
              </a:rPr>
              <a:t>06</a:t>
            </a:r>
            <a:endParaRPr lang="en-US" sz="1400" b="0" u="none" strike="noStrike">
              <a:solidFill>
                <a:srgbClr val="000000"/>
              </a:solidFill>
              <a:effectLst/>
              <a:uFillTx/>
              <a:latin typeface="Arial"/>
            </a:endParaRPr>
          </a:p>
        </p:txBody>
      </p:sp>
      <p:sp>
        <p:nvSpPr>
          <p:cNvPr id="43" name=""/>
          <p:cNvSpPr txBox="1"/>
          <p:nvPr/>
        </p:nvSpPr>
        <p:spPr>
          <a:xfrm>
            <a:off x="1051560" y="4956120"/>
            <a:ext cx="5852160" cy="316080"/>
          </a:xfrm>
          <a:prstGeom prst="rect">
            <a:avLst/>
          </a:prstGeom>
          <a:noFill/>
          <a:ln w="0">
            <a:noFill/>
          </a:ln>
        </p:spPr>
        <p:txBody>
          <a:bodyPr lIns="90000" tIns="45000" rIns="90000" bIns="45000" anchor="t">
            <a:spAutoFit/>
          </a:bodyPr>
          <a:p>
            <a:r>
              <a:rPr lang="en-US" sz="1600" b="1" u="none" strike="noStrike">
                <a:solidFill>
                  <a:srgbClr val="FFFFFF"/>
                </a:solidFill>
                <a:effectLst/>
                <a:uFillTx/>
                <a:latin typeface="Calibri-Bold"/>
                <a:ea typeface="Calibri-Bold"/>
              </a:rPr>
              <a:t>Incertitude &amp; vent</a:t>
            </a:r>
            <a:endParaRPr lang="en-US" sz="1600" b="0" u="none" strike="noStrike">
              <a:solidFill>
                <a:srgbClr val="000000"/>
              </a:solidFill>
              <a:effectLst/>
              <a:uFillTx/>
              <a:latin typeface="Arial"/>
            </a:endParaRPr>
          </a:p>
        </p:txBody>
      </p:sp>
      <p:sp>
        <p:nvSpPr>
          <p:cNvPr id="44" name=""/>
          <p:cNvSpPr txBox="1"/>
          <p:nvPr/>
        </p:nvSpPr>
        <p:spPr>
          <a:xfrm>
            <a:off x="1051560" y="5230440"/>
            <a:ext cx="7680960" cy="297720"/>
          </a:xfrm>
          <a:prstGeom prst="rect">
            <a:avLst/>
          </a:prstGeom>
          <a:noFill/>
          <a:ln w="0">
            <a:noFill/>
          </a:ln>
        </p:spPr>
        <p:txBody>
          <a:bodyPr lIns="90000" tIns="45000" rIns="90000" bIns="45000" anchor="t">
            <a:spAutoFit/>
          </a:bodyPr>
          <a:p>
            <a:r>
              <a:rPr lang="en-US" sz="1200" b="0" i="1" u="none" strike="noStrike">
                <a:solidFill>
                  <a:srgbClr val="CCCCCC"/>
                </a:solidFill>
                <a:effectLst/>
                <a:uFillTx/>
                <a:latin typeface="Calibri-Italic"/>
                <a:ea typeface="Calibri-Italic"/>
              </a:rPr>
              <a:t>Que faire quand on ne sait pas combien soufflera le vent</a:t>
            </a:r>
            <a:r>
              <a:rPr lang="en-US" sz="1200" b="0" i="1" u="none" strike="noStrike">
                <a:solidFill>
                  <a:srgbClr val="CCCCCC"/>
                </a:solidFill>
                <a:effectLst/>
                <a:uFillTx/>
                <a:latin typeface="Calibri-Italic"/>
                <a:ea typeface="Calibri-Italic"/>
              </a:rPr>
              <a:t> ?</a:t>
            </a:r>
            <a:endParaRPr lang="en-US" sz="1200" b="0" u="none" strike="noStrike">
              <a:solidFill>
                <a:srgbClr val="000000"/>
              </a:solidFill>
              <a:effectLst/>
              <a:uFillTx/>
              <a:latin typeface="Arial"/>
            </a:endParaRPr>
          </a:p>
        </p:txBody>
      </p:sp>
      <p:sp>
        <p:nvSpPr>
          <p:cNvPr id="45" name=""/>
          <p:cNvSpPr/>
          <p:nvPr/>
        </p:nvSpPr>
        <p:spPr>
          <a:xfrm>
            <a:off x="365760" y="569664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46" name=""/>
          <p:cNvSpPr txBox="1"/>
          <p:nvPr/>
        </p:nvSpPr>
        <p:spPr>
          <a:xfrm>
            <a:off x="411480" y="5769720"/>
            <a:ext cx="411480" cy="365760"/>
          </a:xfrm>
          <a:prstGeom prst="rect">
            <a:avLst/>
          </a:prstGeom>
          <a:noFill/>
          <a:ln w="0">
            <a:noFill/>
          </a:ln>
        </p:spPr>
        <p:txBody>
          <a:bodyPr lIns="90000" tIns="45000" rIns="90000" bIns="45000" anchor="t">
            <a:spAutoFit/>
          </a:bodyPr>
          <a:p>
            <a:pPr algn="ctr" rtl="1"/>
            <a:r>
              <a:rPr lang="en-US" sz="1400" b="1" u="none" strike="noStrike">
                <a:solidFill>
                  <a:srgbClr val="FFFFFF"/>
                </a:solidFill>
                <a:effectLst/>
                <a:uFillTx/>
                <a:latin typeface="Calibri-Bold"/>
                <a:ea typeface="Calibri-Bold"/>
              </a:rPr>
              <a:t>07</a:t>
            </a:r>
            <a:endParaRPr lang="en-US" sz="1400" b="0" u="none" strike="noStrike">
              <a:solidFill>
                <a:srgbClr val="000000"/>
              </a:solidFill>
              <a:effectLst/>
              <a:uFillTx/>
              <a:latin typeface="Arial"/>
            </a:endParaRPr>
          </a:p>
        </p:txBody>
      </p:sp>
      <p:sp>
        <p:nvSpPr>
          <p:cNvPr id="47" name=""/>
          <p:cNvSpPr txBox="1"/>
          <p:nvPr/>
        </p:nvSpPr>
        <p:spPr>
          <a:xfrm>
            <a:off x="1051560" y="5715000"/>
            <a:ext cx="5852160" cy="316080"/>
          </a:xfrm>
          <a:prstGeom prst="rect">
            <a:avLst/>
          </a:prstGeom>
          <a:noFill/>
          <a:ln w="0">
            <a:noFill/>
          </a:ln>
        </p:spPr>
        <p:txBody>
          <a:bodyPr lIns="90000" tIns="45000" rIns="90000" bIns="45000" anchor="t">
            <a:spAutoFit/>
          </a:bodyPr>
          <a:p>
            <a:r>
              <a:rPr lang="en-US" sz="1600" b="1" u="none" strike="noStrike">
                <a:solidFill>
                  <a:srgbClr val="FFFFFF"/>
                </a:solidFill>
                <a:effectLst/>
                <a:uFillTx/>
                <a:latin typeface="Calibri-Bold"/>
                <a:ea typeface="Calibri-Bold"/>
              </a:rPr>
              <a:t>Résultats &amp; conclusion</a:t>
            </a:r>
            <a:endParaRPr lang="en-US" sz="1600" b="0" u="none" strike="noStrike">
              <a:solidFill>
                <a:srgbClr val="000000"/>
              </a:solidFill>
              <a:effectLst/>
              <a:uFillTx/>
              <a:latin typeface="Arial"/>
            </a:endParaRPr>
          </a:p>
        </p:txBody>
      </p:sp>
      <p:sp>
        <p:nvSpPr>
          <p:cNvPr id="48" name=""/>
          <p:cNvSpPr txBox="1"/>
          <p:nvPr/>
        </p:nvSpPr>
        <p:spPr>
          <a:xfrm>
            <a:off x="1051560" y="5989320"/>
            <a:ext cx="7680960" cy="261000"/>
          </a:xfrm>
          <a:prstGeom prst="rect">
            <a:avLst/>
          </a:prstGeom>
          <a:noFill/>
          <a:ln w="0">
            <a:noFill/>
          </a:ln>
        </p:spPr>
        <p:txBody>
          <a:bodyPr lIns="90000" tIns="45000" rIns="90000" bIns="45000" anchor="t">
            <a:spAutoFit/>
          </a:bodyPr>
          <a:p>
            <a:r>
              <a:rPr lang="en-US" sz="1200" b="0" i="1" u="none" strike="noStrike">
                <a:solidFill>
                  <a:srgbClr val="CCCCCC"/>
                </a:solidFill>
                <a:effectLst/>
                <a:uFillTx/>
                <a:latin typeface="Calibri-Italic"/>
                <a:ea typeface="Calibri-Italic"/>
              </a:rPr>
              <a:t>Ce qu'on a obtenu, ce qu'on a appris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50"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51"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52" name=""/>
          <p:cNvSpPr/>
          <p:nvPr/>
        </p:nvSpPr>
        <p:spPr>
          <a:xfrm>
            <a:off x="457200" y="155520"/>
            <a:ext cx="2926440" cy="293040"/>
          </a:xfrm>
          <a:custGeom>
            <a:avLst/>
            <a:gdLst/>
            <a:ahLst/>
            <a:rect l="0" t="0" r="r" b="b"/>
            <a:pathLst>
              <a:path w="8129" h="814">
                <a:moveTo>
                  <a:pt x="0" y="0"/>
                </a:moveTo>
                <a:lnTo>
                  <a:pt x="8129" y="0"/>
                </a:lnTo>
                <a:lnTo>
                  <a:pt x="8129" y="814"/>
                </a:lnTo>
                <a:lnTo>
                  <a:pt x="0" y="81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53" name=""/>
          <p:cNvSpPr txBox="1"/>
          <p:nvPr/>
        </p:nvSpPr>
        <p:spPr>
          <a:xfrm>
            <a:off x="502920" y="155520"/>
            <a:ext cx="2834640" cy="292680"/>
          </a:xfrm>
          <a:prstGeom prst="rect">
            <a:avLst/>
          </a:prstGeom>
          <a:noFill/>
          <a:ln w="0">
            <a:noFill/>
          </a:ln>
        </p:spPr>
        <p:txBody>
          <a:bodyPr lIns="90000" tIns="45000" rIns="90000" bIns="45000" anchor="t">
            <a:spAutoFit/>
          </a:bodyPr>
          <a:p>
            <a:pPr algn="ctr" rtl="1"/>
            <a:r>
              <a:rPr lang="en-US" sz="1000" b="1" u="none" strike="noStrike">
                <a:solidFill>
                  <a:srgbClr val="FFFFFF"/>
                </a:solidFill>
                <a:effectLst/>
                <a:uFillTx/>
                <a:latin typeface="Calibri-Bold"/>
                <a:ea typeface="Calibri-Bold"/>
              </a:rPr>
              <a:t>01</a:t>
            </a:r>
            <a:r>
              <a:rPr lang="en-US" sz="1000" b="1" u="none" strike="noStrike">
                <a:solidFill>
                  <a:srgbClr val="FFFFFF"/>
                </a:solidFill>
                <a:effectLst/>
                <a:uFillTx/>
                <a:latin typeface="Calibri-Bold"/>
                <a:ea typeface="Calibri-Bold"/>
              </a:rPr>
              <a:t> · </a:t>
            </a:r>
            <a:r>
              <a:rPr lang="en-US" sz="1000" b="1" u="none" strike="noStrike">
                <a:solidFill>
                  <a:srgbClr val="FFFFFF"/>
                </a:solidFill>
                <a:effectLst/>
                <a:uFillTx/>
                <a:latin typeface="Calibri-Bold"/>
                <a:ea typeface="Calibri-Bold"/>
              </a:rPr>
              <a:t>LE PROBLÈME</a:t>
            </a:r>
            <a:endParaRPr lang="en-US" sz="1000" b="0" u="none" strike="noStrike">
              <a:solidFill>
                <a:srgbClr val="000000"/>
              </a:solidFill>
              <a:effectLst/>
              <a:uFillTx/>
              <a:latin typeface="Arial"/>
            </a:endParaRPr>
          </a:p>
        </p:txBody>
      </p:sp>
      <p:sp>
        <p:nvSpPr>
          <p:cNvPr id="54" name=""/>
          <p:cNvSpPr txBox="1"/>
          <p:nvPr/>
        </p:nvSpPr>
        <p:spPr>
          <a:xfrm>
            <a:off x="502920" y="530280"/>
            <a:ext cx="11612880" cy="594360"/>
          </a:xfrm>
          <a:prstGeom prst="rect">
            <a:avLst/>
          </a:prstGeom>
          <a:noFill/>
          <a:ln w="0">
            <a:noFill/>
          </a:ln>
        </p:spPr>
        <p:txBody>
          <a:bodyPr lIns="90000" tIns="45000" rIns="90000" bIns="45000" anchor="t">
            <a:spAutoFit/>
          </a:bodyPr>
          <a:p>
            <a:r>
              <a:rPr lang="en-US" sz="2600" b="1" u="none" strike="noStrike">
                <a:solidFill>
                  <a:srgbClr val="FFFFFF"/>
                </a:solidFill>
                <a:effectLst/>
                <a:uFillTx/>
                <a:latin typeface="Calibri-Bold"/>
                <a:ea typeface="Calibri-Bold"/>
              </a:rPr>
              <a:t>Imaginez : vous gérez l'électricité de toute la France</a:t>
            </a:r>
            <a:endParaRPr lang="en-US" sz="2600" b="0" u="none" strike="noStrike">
              <a:solidFill>
                <a:srgbClr val="000000"/>
              </a:solidFill>
              <a:effectLst/>
              <a:uFillTx/>
              <a:latin typeface="Arial"/>
            </a:endParaRPr>
          </a:p>
        </p:txBody>
      </p:sp>
      <p:sp>
        <p:nvSpPr>
          <p:cNvPr id="55" name=""/>
          <p:cNvSpPr/>
          <p:nvPr/>
        </p:nvSpPr>
        <p:spPr>
          <a:xfrm>
            <a:off x="365760" y="1188720"/>
            <a:ext cx="11430360" cy="1051920"/>
          </a:xfrm>
          <a:custGeom>
            <a:avLst/>
            <a:gdLst/>
            <a:ahLst/>
            <a:rect l="0" t="0" r="r" b="b"/>
            <a:pathLst>
              <a:path w="31751" h="2922">
                <a:moveTo>
                  <a:pt x="0" y="0"/>
                </a:moveTo>
                <a:lnTo>
                  <a:pt x="31751" y="0"/>
                </a:lnTo>
                <a:lnTo>
                  <a:pt x="31751" y="2922"/>
                </a:lnTo>
                <a:lnTo>
                  <a:pt x="0" y="2922"/>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56" name=""/>
          <p:cNvSpPr/>
          <p:nvPr/>
        </p:nvSpPr>
        <p:spPr>
          <a:xfrm>
            <a:off x="365760" y="1188720"/>
            <a:ext cx="64440" cy="1051920"/>
          </a:xfrm>
          <a:custGeom>
            <a:avLst/>
            <a:gdLst/>
            <a:ahLst/>
            <a:rect l="0" t="0" r="r" b="b"/>
            <a:pathLst>
              <a:path w="179" h="2922">
                <a:moveTo>
                  <a:pt x="0" y="0"/>
                </a:moveTo>
                <a:lnTo>
                  <a:pt x="179" y="0"/>
                </a:lnTo>
                <a:lnTo>
                  <a:pt x="179" y="2922"/>
                </a:lnTo>
                <a:lnTo>
                  <a:pt x="0" y="2922"/>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57" name=""/>
          <p:cNvSpPr txBox="1"/>
          <p:nvPr/>
        </p:nvSpPr>
        <p:spPr>
          <a:xfrm>
            <a:off x="594360" y="1216080"/>
            <a:ext cx="2651760" cy="320040"/>
          </a:xfrm>
          <a:prstGeom prst="rect">
            <a:avLst/>
          </a:prstGeom>
          <a:noFill/>
          <a:ln w="0">
            <a:noFill/>
          </a:ln>
        </p:spPr>
        <p:txBody>
          <a:bodyPr lIns="90000" tIns="45000" rIns="90000" bIns="45000" anchor="t">
            <a:spAutoFit/>
          </a:bodyPr>
          <a:p>
            <a:r>
              <a:rPr lang="en-US" sz="1200" b="1" u="none" strike="noStrike">
                <a:solidFill>
                  <a:srgbClr val="00B4D8"/>
                </a:solidFill>
                <a:effectLst/>
                <a:uFillTx/>
                <a:latin typeface="Calibri-Bold"/>
                <a:ea typeface="Calibri-Bold"/>
              </a:rPr>
              <a:t>Analogie</a:t>
            </a:r>
            <a:endParaRPr lang="en-US" sz="1200" b="0" u="none" strike="noStrike">
              <a:solidFill>
                <a:srgbClr val="000000"/>
              </a:solidFill>
              <a:effectLst/>
              <a:uFillTx/>
              <a:latin typeface="Arial"/>
            </a:endParaRPr>
          </a:p>
        </p:txBody>
      </p:sp>
      <p:sp>
        <p:nvSpPr>
          <p:cNvPr id="58" name=""/>
          <p:cNvSpPr txBox="1"/>
          <p:nvPr/>
        </p:nvSpPr>
        <p:spPr>
          <a:xfrm>
            <a:off x="594360" y="1481400"/>
            <a:ext cx="11064240" cy="658440"/>
          </a:xfrm>
          <a:prstGeom prst="rect">
            <a:avLst/>
          </a:prstGeom>
          <a:noFill/>
          <a:ln w="0">
            <a:noFill/>
          </a:ln>
        </p:spPr>
        <p:txBody>
          <a:bodyPr lIns="90000" tIns="45000" rIns="90000" bIns="45000" anchor="t">
            <a:spAutoFit/>
          </a:bodyPr>
          <a:p>
            <a:r>
              <a:rPr lang="en-US" sz="1400" b="0" i="1" u="none" strike="noStrike">
                <a:solidFill>
                  <a:srgbClr val="FFFFFF"/>
                </a:solidFill>
                <a:effectLst/>
                <a:uFillTx/>
                <a:latin typeface="Calibri-Italic"/>
                <a:ea typeface="Calibri-Italic"/>
              </a:rPr>
              <a:t>C'est comme gérer un restaurant avec 5 cuisiniers de coût horaire différent. Vous devez servir exactement ce que les clients demandent, ni plus, ni moins, au prix le plus bas possible, sans dépasser la capacité de chaque cuisinier</a:t>
            </a:r>
            <a:r>
              <a:rPr lang="en-US" sz="1400" b="0" i="1" u="none" strike="noStrike">
                <a:solidFill>
                  <a:srgbClr val="FFFFFF"/>
                </a:solidFill>
                <a:effectLst/>
                <a:uFillTx/>
                <a:latin typeface="Calibri-Italic"/>
                <a:ea typeface="Calibri-Italic"/>
              </a:rPr>
              <a:t>.</a:t>
            </a:r>
            <a:endParaRPr lang="en-US" sz="1400" b="0" u="none" strike="noStrike">
              <a:solidFill>
                <a:srgbClr val="000000"/>
              </a:solidFill>
              <a:effectLst/>
              <a:uFillTx/>
              <a:latin typeface="Arial"/>
            </a:endParaRPr>
          </a:p>
        </p:txBody>
      </p:sp>
      <p:sp>
        <p:nvSpPr>
          <p:cNvPr id="59" name=""/>
          <p:cNvSpPr/>
          <p:nvPr/>
        </p:nvSpPr>
        <p:spPr>
          <a:xfrm>
            <a:off x="365760" y="2331720"/>
            <a:ext cx="5578200" cy="3429360"/>
          </a:xfrm>
          <a:custGeom>
            <a:avLst/>
            <a:gdLst/>
            <a:ahLst/>
            <a:rect l="0" t="0" r="r" b="b"/>
            <a:pathLst>
              <a:path w="15495" h="9526">
                <a:moveTo>
                  <a:pt x="0" y="0"/>
                </a:moveTo>
                <a:lnTo>
                  <a:pt x="15495" y="0"/>
                </a:lnTo>
                <a:lnTo>
                  <a:pt x="15495" y="9526"/>
                </a:lnTo>
                <a:lnTo>
                  <a:pt x="0" y="9526"/>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60" name=""/>
          <p:cNvSpPr/>
          <p:nvPr/>
        </p:nvSpPr>
        <p:spPr>
          <a:xfrm>
            <a:off x="365760" y="2331720"/>
            <a:ext cx="64440" cy="3429360"/>
          </a:xfrm>
          <a:custGeom>
            <a:avLst/>
            <a:gdLst/>
            <a:ahLst/>
            <a:rect l="0" t="0" r="r" b="b"/>
            <a:pathLst>
              <a:path w="179" h="9526">
                <a:moveTo>
                  <a:pt x="0" y="0"/>
                </a:moveTo>
                <a:lnTo>
                  <a:pt x="179" y="0"/>
                </a:lnTo>
                <a:lnTo>
                  <a:pt x="179" y="9526"/>
                </a:lnTo>
                <a:lnTo>
                  <a:pt x="0" y="9526"/>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61" name=""/>
          <p:cNvSpPr txBox="1"/>
          <p:nvPr/>
        </p:nvSpPr>
        <p:spPr>
          <a:xfrm>
            <a:off x="548640" y="2404800"/>
            <a:ext cx="5303520" cy="320040"/>
          </a:xfrm>
          <a:prstGeom prst="rect">
            <a:avLst/>
          </a:prstGeom>
          <a:noFill/>
          <a:ln w="0">
            <a:noFill/>
          </a:ln>
        </p:spPr>
        <p:txBody>
          <a:bodyPr lIns="90000" tIns="45000" rIns="90000" bIns="45000" anchor="t">
            <a:spAutoFit/>
          </a:bodyPr>
          <a:p>
            <a:r>
              <a:rPr lang="en-US" sz="1300" b="1" u="none" strike="noStrike">
                <a:solidFill>
                  <a:srgbClr val="00B4D8"/>
                </a:solidFill>
                <a:effectLst/>
                <a:uFillTx/>
                <a:latin typeface="Calibri-Bold"/>
                <a:ea typeface="Calibri-Bold"/>
              </a:rPr>
              <a:t>Ce qu'on nous donne</a:t>
            </a:r>
            <a:endParaRPr lang="en-US" sz="1300" b="0" u="none" strike="noStrike">
              <a:solidFill>
                <a:srgbClr val="000000"/>
              </a:solidFill>
              <a:effectLst/>
              <a:uFillTx/>
              <a:latin typeface="Arial"/>
            </a:endParaRPr>
          </a:p>
        </p:txBody>
      </p:sp>
      <p:sp>
        <p:nvSpPr>
          <p:cNvPr id="62" name=""/>
          <p:cNvSpPr txBox="1"/>
          <p:nvPr/>
        </p:nvSpPr>
        <p:spPr>
          <a:xfrm>
            <a:off x="548640" y="2743200"/>
            <a:ext cx="5303520" cy="292608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Carte du réseau : villes (bus) et lignes électriques</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Pour chaque centrale : puissance min et max, coût par MWh</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Demande à satisfaire dans chaque ville (en MW)</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Réserve obligatoire : 10% de capacité toujours disponible</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 → </a:t>
            </a:r>
            <a:r>
              <a:rPr lang="en-US" sz="1300" b="0" u="none" strike="noStrike">
                <a:solidFill>
                  <a:srgbClr val="FFFFFF"/>
                </a:solidFill>
                <a:effectLst/>
                <a:uFillTx/>
                <a:latin typeface="Calibri"/>
                <a:ea typeface="Calibri"/>
              </a:rPr>
              <a:t>pour absorber une panne imprévue</a:t>
            </a:r>
            <a:endParaRPr lang="en-US" sz="1300" b="0" u="none" strike="noStrike">
              <a:solidFill>
                <a:srgbClr val="000000"/>
              </a:solidFill>
              <a:effectLst/>
              <a:uFillTx/>
              <a:latin typeface="Arial"/>
            </a:endParaRPr>
          </a:p>
        </p:txBody>
      </p:sp>
      <p:sp>
        <p:nvSpPr>
          <p:cNvPr id="63" name=""/>
          <p:cNvSpPr/>
          <p:nvPr/>
        </p:nvSpPr>
        <p:spPr>
          <a:xfrm>
            <a:off x="6217920" y="2331720"/>
            <a:ext cx="5578200" cy="3429360"/>
          </a:xfrm>
          <a:custGeom>
            <a:avLst/>
            <a:gdLst/>
            <a:ahLst/>
            <a:rect l="0" t="0" r="r" b="b"/>
            <a:pathLst>
              <a:path w="15495" h="9526">
                <a:moveTo>
                  <a:pt x="0" y="0"/>
                </a:moveTo>
                <a:lnTo>
                  <a:pt x="15495" y="0"/>
                </a:lnTo>
                <a:lnTo>
                  <a:pt x="15495" y="9526"/>
                </a:lnTo>
                <a:lnTo>
                  <a:pt x="0" y="9526"/>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64" name=""/>
          <p:cNvSpPr/>
          <p:nvPr/>
        </p:nvSpPr>
        <p:spPr>
          <a:xfrm>
            <a:off x="6217920" y="2331720"/>
            <a:ext cx="64440" cy="3429360"/>
          </a:xfrm>
          <a:custGeom>
            <a:avLst/>
            <a:gdLst/>
            <a:ahLst/>
            <a:rect l="0" t="0" r="r" b="b"/>
            <a:pathLst>
              <a:path w="179" h="9526">
                <a:moveTo>
                  <a:pt x="0" y="0"/>
                </a:moveTo>
                <a:lnTo>
                  <a:pt x="179" y="0"/>
                </a:lnTo>
                <a:lnTo>
                  <a:pt x="179" y="9526"/>
                </a:lnTo>
                <a:lnTo>
                  <a:pt x="0" y="9526"/>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65" name=""/>
          <p:cNvSpPr txBox="1"/>
          <p:nvPr/>
        </p:nvSpPr>
        <p:spPr>
          <a:xfrm>
            <a:off x="6400800" y="2404800"/>
            <a:ext cx="5303520" cy="320040"/>
          </a:xfrm>
          <a:prstGeom prst="rect">
            <a:avLst/>
          </a:prstGeom>
          <a:noFill/>
          <a:ln w="0">
            <a:noFill/>
          </a:ln>
        </p:spPr>
        <p:txBody>
          <a:bodyPr lIns="90000" tIns="45000" rIns="90000" bIns="45000" anchor="t">
            <a:spAutoFit/>
          </a:bodyPr>
          <a:p>
            <a:r>
              <a:rPr lang="en-US" sz="1300" b="1" u="none" strike="noStrike">
                <a:solidFill>
                  <a:srgbClr val="E86916"/>
                </a:solidFill>
                <a:effectLst/>
                <a:uFillTx/>
                <a:latin typeface="Calibri-Bold"/>
                <a:ea typeface="Calibri-Bold"/>
              </a:rPr>
              <a:t>Ce qu'on doit décider</a:t>
            </a:r>
            <a:endParaRPr lang="en-US" sz="1300" b="0" u="none" strike="noStrike">
              <a:solidFill>
                <a:srgbClr val="000000"/>
              </a:solidFill>
              <a:effectLst/>
              <a:uFillTx/>
              <a:latin typeface="Arial"/>
            </a:endParaRPr>
          </a:p>
        </p:txBody>
      </p:sp>
      <p:sp>
        <p:nvSpPr>
          <p:cNvPr id="66" name=""/>
          <p:cNvSpPr txBox="1"/>
          <p:nvPr/>
        </p:nvSpPr>
        <p:spPr>
          <a:xfrm>
            <a:off x="6400800" y="2743200"/>
            <a:ext cx="5303520" cy="292608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Quelle puissance produit chaque centrale ? (en MW)</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Quelle centrale allume-t-on ou éteint-on</a:t>
            </a:r>
            <a:r>
              <a:rPr lang="en-US" sz="1300" b="0" u="none" strike="noStrike">
                <a:solidFill>
                  <a:srgbClr val="FFFFFF"/>
                </a:solidFill>
                <a:effectLst/>
                <a:uFillTx/>
                <a:latin typeface="Calibri"/>
                <a:ea typeface="Calibri"/>
              </a:rPr>
              <a:t> ?</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Quel est le flux d'électricité sur chaque ligne</a:t>
            </a:r>
            <a:r>
              <a:rPr lang="en-US" sz="1300" b="0" u="none" strike="noStrike">
                <a:solidFill>
                  <a:srgbClr val="FFFFFF"/>
                </a:solidFill>
                <a:effectLst/>
                <a:uFillTx/>
                <a:latin typeface="Calibri"/>
                <a:ea typeface="Calibri"/>
              </a:rPr>
              <a:t> ?</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Objectif : minimiser le coût total en euros</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tout en respectant les lois physiques du réseau</a:t>
            </a:r>
            <a:endParaRPr lang="en-US" sz="1300" b="0" u="none" strike="noStrike">
              <a:solidFill>
                <a:srgbClr val="000000"/>
              </a:solidFill>
              <a:effectLst/>
              <a:uFillTx/>
              <a:latin typeface="Arial"/>
            </a:endParaRPr>
          </a:p>
        </p:txBody>
      </p:sp>
      <p:sp>
        <p:nvSpPr>
          <p:cNvPr id="67" name=""/>
          <p:cNvSpPr/>
          <p:nvPr/>
        </p:nvSpPr>
        <p:spPr>
          <a:xfrm>
            <a:off x="365760" y="5870520"/>
            <a:ext cx="11430360" cy="530640"/>
          </a:xfrm>
          <a:custGeom>
            <a:avLst/>
            <a:gdLst/>
            <a:ahLst/>
            <a:rect l="0" t="0" r="r" b="b"/>
            <a:pathLst>
              <a:path w="31751" h="1474">
                <a:moveTo>
                  <a:pt x="0" y="0"/>
                </a:moveTo>
                <a:lnTo>
                  <a:pt x="31751" y="0"/>
                </a:lnTo>
                <a:lnTo>
                  <a:pt x="31751" y="1474"/>
                </a:lnTo>
                <a:lnTo>
                  <a:pt x="0" y="147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68" name=""/>
          <p:cNvSpPr txBox="1"/>
          <p:nvPr/>
        </p:nvSpPr>
        <p:spPr>
          <a:xfrm>
            <a:off x="594360" y="5897880"/>
            <a:ext cx="11064240" cy="475560"/>
          </a:xfrm>
          <a:prstGeom prst="rect">
            <a:avLst/>
          </a:prstGeom>
          <a:noFill/>
          <a:ln w="0">
            <a:noFill/>
          </a:ln>
        </p:spPr>
        <p:txBody>
          <a:bodyPr lIns="90000" tIns="45000" rIns="90000" bIns="45000" anchor="t">
            <a:spAutoFit/>
          </a:bodyPr>
          <a:p>
            <a:pPr algn="ctr" rtl="1"/>
            <a:r>
              <a:rPr lang="en-US" sz="1400" b="1" u="none" strike="noStrike">
                <a:solidFill>
                  <a:srgbClr val="FFFFFF"/>
                </a:solidFill>
                <a:effectLst/>
                <a:uFillTx/>
                <a:latin typeface="Calibri-Bold"/>
                <a:ea typeface="Calibri-Bold"/>
              </a:rPr>
              <a:t>En réalité : RTE France dispatche ~500 TWh/an.  Gagner 1% d'efficacité = économiser des centaines de millions d'euros</a:t>
            </a:r>
            <a:r>
              <a:rPr lang="en-US" sz="1400" b="1" u="none" strike="noStrike">
                <a:solidFill>
                  <a:srgbClr val="FFFFFF"/>
                </a:solidFill>
                <a:effectLst/>
                <a:uFillTx/>
                <a:latin typeface="Calibri-Bold"/>
                <a:ea typeface="Calibri-Bold"/>
              </a:rPr>
              <a:t>.</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70"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71"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72" name=""/>
          <p:cNvSpPr/>
          <p:nvPr/>
        </p:nvSpPr>
        <p:spPr>
          <a:xfrm>
            <a:off x="457200" y="155520"/>
            <a:ext cx="2926440" cy="293040"/>
          </a:xfrm>
          <a:custGeom>
            <a:avLst/>
            <a:gdLst/>
            <a:ahLst/>
            <a:rect l="0" t="0" r="r" b="b"/>
            <a:pathLst>
              <a:path w="8129" h="814">
                <a:moveTo>
                  <a:pt x="0" y="0"/>
                </a:moveTo>
                <a:lnTo>
                  <a:pt x="8129" y="0"/>
                </a:lnTo>
                <a:lnTo>
                  <a:pt x="8129" y="814"/>
                </a:lnTo>
                <a:lnTo>
                  <a:pt x="0" y="81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73" name=""/>
          <p:cNvSpPr txBox="1"/>
          <p:nvPr/>
        </p:nvSpPr>
        <p:spPr>
          <a:xfrm>
            <a:off x="502920" y="155520"/>
            <a:ext cx="2834640" cy="292680"/>
          </a:xfrm>
          <a:prstGeom prst="rect">
            <a:avLst/>
          </a:prstGeom>
          <a:noFill/>
          <a:ln w="0">
            <a:noFill/>
          </a:ln>
        </p:spPr>
        <p:txBody>
          <a:bodyPr lIns="90000" tIns="45000" rIns="90000" bIns="45000" anchor="t">
            <a:spAutoFit/>
          </a:bodyPr>
          <a:p>
            <a:pPr algn="ctr" rtl="1"/>
            <a:r>
              <a:rPr lang="en-US" sz="1000" b="1" u="none" strike="noStrike">
                <a:solidFill>
                  <a:srgbClr val="FFFFFF"/>
                </a:solidFill>
                <a:effectLst/>
                <a:uFillTx/>
                <a:latin typeface="Calibri-Bold"/>
                <a:ea typeface="Calibri-Bold"/>
              </a:rPr>
              <a:t>01</a:t>
            </a:r>
            <a:r>
              <a:rPr lang="en-US" sz="1000" b="1" u="none" strike="noStrike">
                <a:solidFill>
                  <a:srgbClr val="FFFFFF"/>
                </a:solidFill>
                <a:effectLst/>
                <a:uFillTx/>
                <a:latin typeface="Calibri-Bold"/>
                <a:ea typeface="Calibri-Bold"/>
              </a:rPr>
              <a:t> · </a:t>
            </a:r>
            <a:r>
              <a:rPr lang="en-US" sz="1000" b="1" u="none" strike="noStrike">
                <a:solidFill>
                  <a:srgbClr val="FFFFFF"/>
                </a:solidFill>
                <a:effectLst/>
                <a:uFillTx/>
                <a:latin typeface="Calibri-Bold"/>
                <a:ea typeface="Calibri-Bold"/>
              </a:rPr>
              <a:t>POURQUOI C'EST DIFFICILE</a:t>
            </a:r>
            <a:r>
              <a:rPr lang="en-US" sz="1000" b="1" u="none" strike="noStrike">
                <a:solidFill>
                  <a:srgbClr val="FFFFFF"/>
                </a:solidFill>
                <a:effectLst/>
                <a:uFillTx/>
                <a:latin typeface="Calibri-Bold"/>
                <a:ea typeface="Calibri-Bold"/>
              </a:rPr>
              <a:t> ?</a:t>
            </a:r>
            <a:endParaRPr lang="en-US" sz="1000" b="0" u="none" strike="noStrike">
              <a:solidFill>
                <a:srgbClr val="000000"/>
              </a:solidFill>
              <a:effectLst/>
              <a:uFillTx/>
              <a:latin typeface="Arial"/>
            </a:endParaRPr>
          </a:p>
        </p:txBody>
      </p:sp>
      <p:sp>
        <p:nvSpPr>
          <p:cNvPr id="74" name=""/>
          <p:cNvSpPr txBox="1"/>
          <p:nvPr/>
        </p:nvSpPr>
        <p:spPr>
          <a:xfrm>
            <a:off x="502920" y="530280"/>
            <a:ext cx="11612880" cy="594360"/>
          </a:xfrm>
          <a:prstGeom prst="rect">
            <a:avLst/>
          </a:prstGeom>
          <a:noFill/>
          <a:ln w="0">
            <a:noFill/>
          </a:ln>
        </p:spPr>
        <p:txBody>
          <a:bodyPr lIns="90000" tIns="45000" rIns="90000" bIns="45000" anchor="t">
            <a:spAutoFit/>
          </a:bodyPr>
          <a:p>
            <a:r>
              <a:rPr lang="en-US" sz="2600" b="1" u="none" strike="noStrike">
                <a:solidFill>
                  <a:srgbClr val="FFFFFF"/>
                </a:solidFill>
                <a:effectLst/>
                <a:uFillTx/>
                <a:latin typeface="Calibri-Bold"/>
                <a:ea typeface="Calibri-Bold"/>
              </a:rPr>
              <a:t>Pas de solution évidente : 4 raisons</a:t>
            </a:r>
            <a:endParaRPr lang="en-US" sz="2600" b="0" u="none" strike="noStrike">
              <a:solidFill>
                <a:srgbClr val="000000"/>
              </a:solidFill>
              <a:effectLst/>
              <a:uFillTx/>
              <a:latin typeface="Arial"/>
            </a:endParaRPr>
          </a:p>
        </p:txBody>
      </p:sp>
      <p:sp>
        <p:nvSpPr>
          <p:cNvPr id="75" name=""/>
          <p:cNvSpPr/>
          <p:nvPr/>
        </p:nvSpPr>
        <p:spPr>
          <a:xfrm>
            <a:off x="365760" y="1188720"/>
            <a:ext cx="11430360" cy="1097640"/>
          </a:xfrm>
          <a:custGeom>
            <a:avLst/>
            <a:gdLst/>
            <a:ahLst/>
            <a:rect l="0" t="0" r="r" b="b"/>
            <a:pathLst>
              <a:path w="31751" h="3049">
                <a:moveTo>
                  <a:pt x="0" y="0"/>
                </a:moveTo>
                <a:lnTo>
                  <a:pt x="31751" y="0"/>
                </a:lnTo>
                <a:lnTo>
                  <a:pt x="31751" y="3049"/>
                </a:lnTo>
                <a:lnTo>
                  <a:pt x="0" y="304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76" name=""/>
          <p:cNvSpPr/>
          <p:nvPr/>
        </p:nvSpPr>
        <p:spPr>
          <a:xfrm>
            <a:off x="365760" y="1188720"/>
            <a:ext cx="64440" cy="1097640"/>
          </a:xfrm>
          <a:custGeom>
            <a:avLst/>
            <a:gdLst/>
            <a:ahLst/>
            <a:rect l="0" t="0" r="r" b="b"/>
            <a:pathLst>
              <a:path w="179" h="3049">
                <a:moveTo>
                  <a:pt x="0" y="0"/>
                </a:moveTo>
                <a:lnTo>
                  <a:pt x="179" y="0"/>
                </a:lnTo>
                <a:lnTo>
                  <a:pt x="179" y="3049"/>
                </a:lnTo>
                <a:lnTo>
                  <a:pt x="0" y="3049"/>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77" name=""/>
          <p:cNvSpPr/>
          <p:nvPr/>
        </p:nvSpPr>
        <p:spPr>
          <a:xfrm>
            <a:off x="365760" y="118872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78" name=""/>
          <p:cNvSpPr txBox="1"/>
          <p:nvPr/>
        </p:nvSpPr>
        <p:spPr>
          <a:xfrm>
            <a:off x="411480" y="1225440"/>
            <a:ext cx="411480" cy="471600"/>
          </a:xfrm>
          <a:prstGeom prst="rect">
            <a:avLst/>
          </a:prstGeom>
          <a:noFill/>
          <a:ln w="0">
            <a:noFill/>
          </a:ln>
        </p:spPr>
        <p:txBody>
          <a:bodyPr lIns="90000" tIns="45000" rIns="90000" bIns="45000" anchor="t">
            <a:spAutoFit/>
          </a:bodyPr>
          <a:p>
            <a:pPr algn="ctr" rtl="1"/>
            <a:r>
              <a:rPr lang="en-US" sz="2200" b="1" u="none" strike="noStrike">
                <a:solidFill>
                  <a:srgbClr val="FFFFFF"/>
                </a:solidFill>
                <a:effectLst/>
                <a:uFillTx/>
                <a:latin typeface="Calibri-Bold"/>
                <a:ea typeface="Calibri-Bold"/>
              </a:rPr>
              <a:t>1</a:t>
            </a:r>
            <a:endParaRPr lang="en-US" sz="2200" b="0" u="none" strike="noStrike">
              <a:solidFill>
                <a:srgbClr val="000000"/>
              </a:solidFill>
              <a:effectLst/>
              <a:uFillTx/>
              <a:latin typeface="Arial"/>
            </a:endParaRPr>
          </a:p>
        </p:txBody>
      </p:sp>
      <p:sp>
        <p:nvSpPr>
          <p:cNvPr id="79" name=""/>
          <p:cNvSpPr txBox="1"/>
          <p:nvPr/>
        </p:nvSpPr>
        <p:spPr>
          <a:xfrm>
            <a:off x="1051560" y="1243440"/>
            <a:ext cx="10515600" cy="347400"/>
          </a:xfrm>
          <a:prstGeom prst="rect">
            <a:avLst/>
          </a:prstGeom>
          <a:noFill/>
          <a:ln w="0">
            <a:noFill/>
          </a:ln>
        </p:spPr>
        <p:txBody>
          <a:bodyPr lIns="90000" tIns="45000" rIns="90000" bIns="45000" anchor="t">
            <a:spAutoFit/>
          </a:bodyPr>
          <a:p>
            <a:r>
              <a:rPr lang="en-US" sz="1500" b="1" u="none" strike="noStrike">
                <a:solidFill>
                  <a:srgbClr val="E86916"/>
                </a:solidFill>
                <a:effectLst/>
                <a:uFillTx/>
                <a:latin typeface="Calibri-Bold"/>
                <a:ea typeface="Calibri-Bold"/>
              </a:rPr>
              <a:t>Les coûts ne sont pas linéaires</a:t>
            </a:r>
            <a:endParaRPr lang="en-US" sz="1500" b="0" u="none" strike="noStrike">
              <a:solidFill>
                <a:srgbClr val="000000"/>
              </a:solidFill>
              <a:effectLst/>
              <a:uFillTx/>
              <a:latin typeface="Arial"/>
            </a:endParaRPr>
          </a:p>
        </p:txBody>
      </p:sp>
      <p:sp>
        <p:nvSpPr>
          <p:cNvPr id="80" name=""/>
          <p:cNvSpPr txBox="1"/>
          <p:nvPr/>
        </p:nvSpPr>
        <p:spPr>
          <a:xfrm>
            <a:off x="1051560" y="1609200"/>
            <a:ext cx="10515600" cy="59436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Plus une centrale produit, plus le coût marginal augmente (courbe quadratique). On ne peut pas juste choisir "la moins chère" : le prix dépend de la quantité</a:t>
            </a:r>
            <a:r>
              <a:rPr lang="en-US" sz="1300" b="0" u="none" strike="noStrike">
                <a:solidFill>
                  <a:srgbClr val="CCCCCC"/>
                </a:solidFill>
                <a:effectLst/>
                <a:uFillTx/>
                <a:latin typeface="Calibri"/>
                <a:ea typeface="Calibri"/>
              </a:rPr>
              <a:t>.</a:t>
            </a:r>
            <a:endParaRPr lang="en-US" sz="1300" b="0" u="none" strike="noStrike">
              <a:solidFill>
                <a:srgbClr val="000000"/>
              </a:solidFill>
              <a:effectLst/>
              <a:uFillTx/>
              <a:latin typeface="Arial"/>
            </a:endParaRPr>
          </a:p>
        </p:txBody>
      </p:sp>
      <p:sp>
        <p:nvSpPr>
          <p:cNvPr id="81" name=""/>
          <p:cNvSpPr/>
          <p:nvPr/>
        </p:nvSpPr>
        <p:spPr>
          <a:xfrm>
            <a:off x="365760" y="2423160"/>
            <a:ext cx="11430360" cy="1097640"/>
          </a:xfrm>
          <a:custGeom>
            <a:avLst/>
            <a:gdLst/>
            <a:ahLst/>
            <a:rect l="0" t="0" r="r" b="b"/>
            <a:pathLst>
              <a:path w="31751" h="3049">
                <a:moveTo>
                  <a:pt x="0" y="0"/>
                </a:moveTo>
                <a:lnTo>
                  <a:pt x="31751" y="0"/>
                </a:lnTo>
                <a:lnTo>
                  <a:pt x="31751" y="3049"/>
                </a:lnTo>
                <a:lnTo>
                  <a:pt x="0" y="304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82" name=""/>
          <p:cNvSpPr/>
          <p:nvPr/>
        </p:nvSpPr>
        <p:spPr>
          <a:xfrm>
            <a:off x="365760" y="2423160"/>
            <a:ext cx="64440" cy="1097640"/>
          </a:xfrm>
          <a:custGeom>
            <a:avLst/>
            <a:gdLst/>
            <a:ahLst/>
            <a:rect l="0" t="0" r="r" b="b"/>
            <a:pathLst>
              <a:path w="179" h="3049">
                <a:moveTo>
                  <a:pt x="0" y="0"/>
                </a:moveTo>
                <a:lnTo>
                  <a:pt x="179" y="0"/>
                </a:lnTo>
                <a:lnTo>
                  <a:pt x="179" y="3049"/>
                </a:lnTo>
                <a:lnTo>
                  <a:pt x="0" y="3049"/>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83" name=""/>
          <p:cNvSpPr/>
          <p:nvPr/>
        </p:nvSpPr>
        <p:spPr>
          <a:xfrm>
            <a:off x="365760" y="242316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84" name=""/>
          <p:cNvSpPr txBox="1"/>
          <p:nvPr/>
        </p:nvSpPr>
        <p:spPr>
          <a:xfrm>
            <a:off x="411480" y="2459880"/>
            <a:ext cx="411480" cy="471600"/>
          </a:xfrm>
          <a:prstGeom prst="rect">
            <a:avLst/>
          </a:prstGeom>
          <a:noFill/>
          <a:ln w="0">
            <a:noFill/>
          </a:ln>
        </p:spPr>
        <p:txBody>
          <a:bodyPr lIns="90000" tIns="45000" rIns="90000" bIns="45000" anchor="t">
            <a:spAutoFit/>
          </a:bodyPr>
          <a:p>
            <a:pPr algn="ctr" rtl="1"/>
            <a:r>
              <a:rPr lang="en-US" sz="2200" b="1" u="none" strike="noStrike">
                <a:solidFill>
                  <a:srgbClr val="FFFFFF"/>
                </a:solidFill>
                <a:effectLst/>
                <a:uFillTx/>
                <a:latin typeface="Calibri-Bold"/>
                <a:ea typeface="Calibri-Bold"/>
              </a:rPr>
              <a:t>2</a:t>
            </a:r>
            <a:endParaRPr lang="en-US" sz="2200" b="0" u="none" strike="noStrike">
              <a:solidFill>
                <a:srgbClr val="000000"/>
              </a:solidFill>
              <a:effectLst/>
              <a:uFillTx/>
              <a:latin typeface="Arial"/>
            </a:endParaRPr>
          </a:p>
        </p:txBody>
      </p:sp>
      <p:sp>
        <p:nvSpPr>
          <p:cNvPr id="85" name=""/>
          <p:cNvSpPr txBox="1"/>
          <p:nvPr/>
        </p:nvSpPr>
        <p:spPr>
          <a:xfrm>
            <a:off x="1051560" y="2477880"/>
            <a:ext cx="10515600" cy="347400"/>
          </a:xfrm>
          <a:prstGeom prst="rect">
            <a:avLst/>
          </a:prstGeom>
          <a:noFill/>
          <a:ln w="0">
            <a:noFill/>
          </a:ln>
        </p:spPr>
        <p:txBody>
          <a:bodyPr lIns="90000" tIns="45000" rIns="90000" bIns="45000" anchor="t">
            <a:spAutoFit/>
          </a:bodyPr>
          <a:p>
            <a:r>
              <a:rPr lang="en-US" sz="1500" b="1" u="none" strike="noStrike">
                <a:solidFill>
                  <a:srgbClr val="00B4D8"/>
                </a:solidFill>
                <a:effectLst/>
                <a:uFillTx/>
                <a:latin typeface="Calibri-Bold"/>
                <a:ea typeface="Calibri-Bold"/>
              </a:rPr>
              <a:t>Le réseau a des contraintes physiques</a:t>
            </a:r>
            <a:endParaRPr lang="en-US" sz="1500" b="0" u="none" strike="noStrike">
              <a:solidFill>
                <a:srgbClr val="000000"/>
              </a:solidFill>
              <a:effectLst/>
              <a:uFillTx/>
              <a:latin typeface="Arial"/>
            </a:endParaRPr>
          </a:p>
        </p:txBody>
      </p:sp>
      <p:sp>
        <p:nvSpPr>
          <p:cNvPr id="86" name=""/>
          <p:cNvSpPr txBox="1"/>
          <p:nvPr/>
        </p:nvSpPr>
        <p:spPr>
          <a:xfrm>
            <a:off x="1051560" y="2843640"/>
            <a:ext cx="10515600" cy="59436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Chaque ligne a une capacité maximale. Si une ligne est saturée, l'électricité doit passer par un chemin plus long, ce qui peut forcer une centrale plus chère</a:t>
            </a:r>
            <a:r>
              <a:rPr lang="en-US" sz="1300" b="0" u="none" strike="noStrike">
                <a:solidFill>
                  <a:srgbClr val="CCCCCC"/>
                </a:solidFill>
                <a:effectLst/>
                <a:uFillTx/>
                <a:latin typeface="Calibri"/>
                <a:ea typeface="Calibri"/>
              </a:rPr>
              <a:t>.</a:t>
            </a:r>
            <a:endParaRPr lang="en-US" sz="1300" b="0" u="none" strike="noStrike">
              <a:solidFill>
                <a:srgbClr val="000000"/>
              </a:solidFill>
              <a:effectLst/>
              <a:uFillTx/>
              <a:latin typeface="Arial"/>
            </a:endParaRPr>
          </a:p>
        </p:txBody>
      </p:sp>
      <p:sp>
        <p:nvSpPr>
          <p:cNvPr id="87" name=""/>
          <p:cNvSpPr/>
          <p:nvPr/>
        </p:nvSpPr>
        <p:spPr>
          <a:xfrm>
            <a:off x="365760" y="3657600"/>
            <a:ext cx="11430360" cy="1097640"/>
          </a:xfrm>
          <a:custGeom>
            <a:avLst/>
            <a:gdLst/>
            <a:ahLst/>
            <a:rect l="0" t="0" r="r" b="b"/>
            <a:pathLst>
              <a:path w="31751" h="3049">
                <a:moveTo>
                  <a:pt x="0" y="0"/>
                </a:moveTo>
                <a:lnTo>
                  <a:pt x="31751" y="0"/>
                </a:lnTo>
                <a:lnTo>
                  <a:pt x="31751" y="3049"/>
                </a:lnTo>
                <a:lnTo>
                  <a:pt x="0" y="304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88" name=""/>
          <p:cNvSpPr/>
          <p:nvPr/>
        </p:nvSpPr>
        <p:spPr>
          <a:xfrm>
            <a:off x="365760" y="3657600"/>
            <a:ext cx="64440" cy="1097640"/>
          </a:xfrm>
          <a:custGeom>
            <a:avLst/>
            <a:gdLst/>
            <a:ahLst/>
            <a:rect l="0" t="0" r="r" b="b"/>
            <a:pathLst>
              <a:path w="179" h="3049">
                <a:moveTo>
                  <a:pt x="0" y="0"/>
                </a:moveTo>
                <a:lnTo>
                  <a:pt x="179" y="0"/>
                </a:lnTo>
                <a:lnTo>
                  <a:pt x="179" y="3049"/>
                </a:lnTo>
                <a:lnTo>
                  <a:pt x="0" y="3049"/>
                </a:lnTo>
                <a:lnTo>
                  <a:pt x="0" y="0"/>
                </a:lnTo>
                <a:close/>
              </a:path>
            </a:pathLst>
          </a:custGeom>
          <a:solidFill>
            <a:srgbClr val="F39C11"/>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89" name=""/>
          <p:cNvSpPr/>
          <p:nvPr/>
        </p:nvSpPr>
        <p:spPr>
          <a:xfrm>
            <a:off x="365760" y="365760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F39C11"/>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90" name=""/>
          <p:cNvSpPr txBox="1"/>
          <p:nvPr/>
        </p:nvSpPr>
        <p:spPr>
          <a:xfrm>
            <a:off x="411480" y="3694320"/>
            <a:ext cx="411480" cy="471600"/>
          </a:xfrm>
          <a:prstGeom prst="rect">
            <a:avLst/>
          </a:prstGeom>
          <a:noFill/>
          <a:ln w="0">
            <a:noFill/>
          </a:ln>
        </p:spPr>
        <p:txBody>
          <a:bodyPr lIns="90000" tIns="45000" rIns="90000" bIns="45000" anchor="t">
            <a:spAutoFit/>
          </a:bodyPr>
          <a:p>
            <a:pPr algn="ctr" rtl="1"/>
            <a:r>
              <a:rPr lang="en-US" sz="2200" b="1" u="none" strike="noStrike">
                <a:solidFill>
                  <a:srgbClr val="FFFFFF"/>
                </a:solidFill>
                <a:effectLst/>
                <a:uFillTx/>
                <a:latin typeface="Calibri-Bold"/>
                <a:ea typeface="Calibri-Bold"/>
              </a:rPr>
              <a:t>3</a:t>
            </a:r>
            <a:endParaRPr lang="en-US" sz="2200" b="0" u="none" strike="noStrike">
              <a:solidFill>
                <a:srgbClr val="000000"/>
              </a:solidFill>
              <a:effectLst/>
              <a:uFillTx/>
              <a:latin typeface="Arial"/>
            </a:endParaRPr>
          </a:p>
        </p:txBody>
      </p:sp>
      <p:sp>
        <p:nvSpPr>
          <p:cNvPr id="91" name=""/>
          <p:cNvSpPr txBox="1"/>
          <p:nvPr/>
        </p:nvSpPr>
        <p:spPr>
          <a:xfrm>
            <a:off x="1051560" y="3712320"/>
            <a:ext cx="10515600" cy="347400"/>
          </a:xfrm>
          <a:prstGeom prst="rect">
            <a:avLst/>
          </a:prstGeom>
          <a:noFill/>
          <a:ln w="0">
            <a:noFill/>
          </a:ln>
        </p:spPr>
        <p:txBody>
          <a:bodyPr lIns="90000" tIns="45000" rIns="90000" bIns="45000" anchor="t">
            <a:spAutoFit/>
          </a:bodyPr>
          <a:p>
            <a:r>
              <a:rPr lang="en-US" sz="1500" b="1" u="none" strike="noStrike">
                <a:solidFill>
                  <a:srgbClr val="F39C11"/>
                </a:solidFill>
                <a:effectLst/>
                <a:uFillTx/>
                <a:latin typeface="Calibri-Bold"/>
                <a:ea typeface="Calibri-Bold"/>
              </a:rPr>
              <a:t>Les générateurs ne répondent pas instantanément</a:t>
            </a:r>
            <a:endParaRPr lang="en-US" sz="1500" b="0" u="none" strike="noStrike">
              <a:solidFill>
                <a:srgbClr val="000000"/>
              </a:solidFill>
              <a:effectLst/>
              <a:uFillTx/>
              <a:latin typeface="Arial"/>
            </a:endParaRPr>
          </a:p>
        </p:txBody>
      </p:sp>
      <p:sp>
        <p:nvSpPr>
          <p:cNvPr id="92" name=""/>
          <p:cNvSpPr txBox="1"/>
          <p:nvPr/>
        </p:nvSpPr>
        <p:spPr>
          <a:xfrm>
            <a:off x="1051560" y="4078080"/>
            <a:ext cx="10515600" cy="59436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Une centrale à charbon ne s'allume pas en 1 heure. Elle doit respecter des durées minimales d'allumage et d'arrêt, et des vitesses de montée en puissance</a:t>
            </a:r>
            <a:r>
              <a:rPr lang="en-US" sz="1300" b="0" u="none" strike="noStrike">
                <a:solidFill>
                  <a:srgbClr val="CCCCCC"/>
                </a:solidFill>
                <a:effectLst/>
                <a:uFillTx/>
                <a:latin typeface="Calibri"/>
                <a:ea typeface="Calibri"/>
              </a:rPr>
              <a:t>.</a:t>
            </a:r>
            <a:endParaRPr lang="en-US" sz="1300" b="0" u="none" strike="noStrike">
              <a:solidFill>
                <a:srgbClr val="000000"/>
              </a:solidFill>
              <a:effectLst/>
              <a:uFillTx/>
              <a:latin typeface="Arial"/>
            </a:endParaRPr>
          </a:p>
        </p:txBody>
      </p:sp>
      <p:sp>
        <p:nvSpPr>
          <p:cNvPr id="93" name=""/>
          <p:cNvSpPr/>
          <p:nvPr/>
        </p:nvSpPr>
        <p:spPr>
          <a:xfrm>
            <a:off x="365760" y="4892040"/>
            <a:ext cx="11430360" cy="1097640"/>
          </a:xfrm>
          <a:custGeom>
            <a:avLst/>
            <a:gdLst/>
            <a:ahLst/>
            <a:rect l="0" t="0" r="r" b="b"/>
            <a:pathLst>
              <a:path w="31751" h="3049">
                <a:moveTo>
                  <a:pt x="0" y="0"/>
                </a:moveTo>
                <a:lnTo>
                  <a:pt x="31751" y="0"/>
                </a:lnTo>
                <a:lnTo>
                  <a:pt x="31751" y="3049"/>
                </a:lnTo>
                <a:lnTo>
                  <a:pt x="0" y="304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94" name=""/>
          <p:cNvSpPr/>
          <p:nvPr/>
        </p:nvSpPr>
        <p:spPr>
          <a:xfrm>
            <a:off x="365760" y="4892040"/>
            <a:ext cx="64440" cy="1097640"/>
          </a:xfrm>
          <a:custGeom>
            <a:avLst/>
            <a:gdLst/>
            <a:ahLst/>
            <a:rect l="0" t="0" r="r" b="b"/>
            <a:pathLst>
              <a:path w="179" h="3049">
                <a:moveTo>
                  <a:pt x="0" y="0"/>
                </a:moveTo>
                <a:lnTo>
                  <a:pt x="179" y="0"/>
                </a:lnTo>
                <a:lnTo>
                  <a:pt x="179" y="3049"/>
                </a:lnTo>
                <a:lnTo>
                  <a:pt x="0" y="3049"/>
                </a:lnTo>
                <a:lnTo>
                  <a:pt x="0" y="0"/>
                </a:lnTo>
                <a:close/>
              </a:path>
            </a:pathLst>
          </a:custGeom>
          <a:solidFill>
            <a:srgbClr val="E74B3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95" name=""/>
          <p:cNvSpPr/>
          <p:nvPr/>
        </p:nvSpPr>
        <p:spPr>
          <a:xfrm>
            <a:off x="365760" y="489204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E74B3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96" name=""/>
          <p:cNvSpPr txBox="1"/>
          <p:nvPr/>
        </p:nvSpPr>
        <p:spPr>
          <a:xfrm>
            <a:off x="411480" y="4928760"/>
            <a:ext cx="411480" cy="471600"/>
          </a:xfrm>
          <a:prstGeom prst="rect">
            <a:avLst/>
          </a:prstGeom>
          <a:noFill/>
          <a:ln w="0">
            <a:noFill/>
          </a:ln>
        </p:spPr>
        <p:txBody>
          <a:bodyPr lIns="90000" tIns="45000" rIns="90000" bIns="45000" anchor="t">
            <a:spAutoFit/>
          </a:bodyPr>
          <a:p>
            <a:pPr algn="ctr" rtl="1"/>
            <a:r>
              <a:rPr lang="en-US" sz="2200" b="1" u="none" strike="noStrike">
                <a:solidFill>
                  <a:srgbClr val="FFFFFF"/>
                </a:solidFill>
                <a:effectLst/>
                <a:uFillTx/>
                <a:latin typeface="Calibri-Bold"/>
                <a:ea typeface="Calibri-Bold"/>
              </a:rPr>
              <a:t>4</a:t>
            </a:r>
            <a:endParaRPr lang="en-US" sz="2200" b="0" u="none" strike="noStrike">
              <a:solidFill>
                <a:srgbClr val="000000"/>
              </a:solidFill>
              <a:effectLst/>
              <a:uFillTx/>
              <a:latin typeface="Arial"/>
            </a:endParaRPr>
          </a:p>
        </p:txBody>
      </p:sp>
      <p:sp>
        <p:nvSpPr>
          <p:cNvPr id="97" name=""/>
          <p:cNvSpPr txBox="1"/>
          <p:nvPr/>
        </p:nvSpPr>
        <p:spPr>
          <a:xfrm>
            <a:off x="1051560" y="4946760"/>
            <a:ext cx="10515600" cy="347400"/>
          </a:xfrm>
          <a:prstGeom prst="rect">
            <a:avLst/>
          </a:prstGeom>
          <a:noFill/>
          <a:ln w="0">
            <a:noFill/>
          </a:ln>
        </p:spPr>
        <p:txBody>
          <a:bodyPr lIns="90000" tIns="45000" rIns="90000" bIns="45000" anchor="t">
            <a:spAutoFit/>
          </a:bodyPr>
          <a:p>
            <a:r>
              <a:rPr lang="en-US" sz="1500" b="1" u="none" strike="noStrike">
                <a:solidFill>
                  <a:srgbClr val="E74B3B"/>
                </a:solidFill>
                <a:effectLst/>
                <a:uFillTx/>
                <a:latin typeface="Calibri-Bold"/>
                <a:ea typeface="Calibri-Bold"/>
              </a:rPr>
              <a:t>L'avenir est incertain</a:t>
            </a:r>
            <a:endParaRPr lang="en-US" sz="1500" b="0" u="none" strike="noStrike">
              <a:solidFill>
                <a:srgbClr val="000000"/>
              </a:solidFill>
              <a:effectLst/>
              <a:uFillTx/>
              <a:latin typeface="Arial"/>
            </a:endParaRPr>
          </a:p>
        </p:txBody>
      </p:sp>
      <p:sp>
        <p:nvSpPr>
          <p:cNvPr id="98" name=""/>
          <p:cNvSpPr txBox="1"/>
          <p:nvPr/>
        </p:nvSpPr>
        <p:spPr>
          <a:xfrm>
            <a:off x="1051560" y="5312520"/>
            <a:ext cx="10515600" cy="59436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Un parc éolien ne produit que si le vent souffle. On doit planifier à l'avance sans savoir exactement combien de vent il y aura demain</a:t>
            </a:r>
            <a:r>
              <a:rPr lang="en-US" sz="1300" b="0" u="none" strike="noStrike">
                <a:solidFill>
                  <a:srgbClr val="CCCCCC"/>
                </a:solidFill>
                <a:effectLst/>
                <a:uFillTx/>
                <a:latin typeface="Calibri"/>
                <a:ea typeface="Calibri"/>
              </a:rPr>
              <a:t>.</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00"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101"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102" name=""/>
          <p:cNvSpPr/>
          <p:nvPr/>
        </p:nvSpPr>
        <p:spPr>
          <a:xfrm>
            <a:off x="457200" y="155520"/>
            <a:ext cx="2926440" cy="293040"/>
          </a:xfrm>
          <a:custGeom>
            <a:avLst/>
            <a:gdLst/>
            <a:ahLst/>
            <a:rect l="0" t="0" r="r" b="b"/>
            <a:pathLst>
              <a:path w="8129" h="814">
                <a:moveTo>
                  <a:pt x="0" y="0"/>
                </a:moveTo>
                <a:lnTo>
                  <a:pt x="8129" y="0"/>
                </a:lnTo>
                <a:lnTo>
                  <a:pt x="8129" y="814"/>
                </a:lnTo>
                <a:lnTo>
                  <a:pt x="0" y="81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03" name=""/>
          <p:cNvSpPr txBox="1"/>
          <p:nvPr/>
        </p:nvSpPr>
        <p:spPr>
          <a:xfrm>
            <a:off x="502920" y="155520"/>
            <a:ext cx="2834640" cy="292680"/>
          </a:xfrm>
          <a:prstGeom prst="rect">
            <a:avLst/>
          </a:prstGeom>
          <a:noFill/>
          <a:ln w="0">
            <a:noFill/>
          </a:ln>
        </p:spPr>
        <p:txBody>
          <a:bodyPr lIns="90000" tIns="45000" rIns="90000" bIns="45000" anchor="t">
            <a:spAutoFit/>
          </a:bodyPr>
          <a:p>
            <a:pPr algn="ctr" rtl="1"/>
            <a:r>
              <a:rPr lang="en-US" sz="1000" b="1" u="none" strike="noStrike">
                <a:solidFill>
                  <a:srgbClr val="FFFFFF"/>
                </a:solidFill>
                <a:effectLst/>
                <a:uFillTx/>
                <a:latin typeface="Calibri-Bold"/>
                <a:ea typeface="Calibri-Bold"/>
              </a:rPr>
              <a:t>02</a:t>
            </a:r>
            <a:r>
              <a:rPr lang="en-US" sz="1000" b="1" u="none" strike="noStrike">
                <a:solidFill>
                  <a:srgbClr val="FFFFFF"/>
                </a:solidFill>
                <a:effectLst/>
                <a:uFillTx/>
                <a:latin typeface="Calibri-Bold"/>
                <a:ea typeface="Calibri-Bold"/>
              </a:rPr>
              <a:t> · </a:t>
            </a:r>
            <a:r>
              <a:rPr lang="en-US" sz="1000" b="1" u="none" strike="noStrike">
                <a:solidFill>
                  <a:srgbClr val="FFFFFF"/>
                </a:solidFill>
                <a:effectLst/>
                <a:uFillTx/>
                <a:latin typeface="Calibri-Bold"/>
                <a:ea typeface="Calibri-Bold"/>
              </a:rPr>
              <a:t>LES 3 NIVEAUX</a:t>
            </a:r>
            <a:endParaRPr lang="en-US" sz="1000" b="0" u="none" strike="noStrike">
              <a:solidFill>
                <a:srgbClr val="000000"/>
              </a:solidFill>
              <a:effectLst/>
              <a:uFillTx/>
              <a:latin typeface="Arial"/>
            </a:endParaRPr>
          </a:p>
        </p:txBody>
      </p:sp>
      <p:sp>
        <p:nvSpPr>
          <p:cNvPr id="104" name=""/>
          <p:cNvSpPr txBox="1"/>
          <p:nvPr/>
        </p:nvSpPr>
        <p:spPr>
          <a:xfrm>
            <a:off x="502920" y="530280"/>
            <a:ext cx="11612880" cy="594360"/>
          </a:xfrm>
          <a:prstGeom prst="rect">
            <a:avLst/>
          </a:prstGeom>
          <a:noFill/>
          <a:ln w="0">
            <a:noFill/>
          </a:ln>
        </p:spPr>
        <p:txBody>
          <a:bodyPr lIns="90000" tIns="45000" rIns="90000" bIns="45000" anchor="t">
            <a:spAutoFit/>
          </a:bodyPr>
          <a:p>
            <a:r>
              <a:rPr lang="en-US" sz="2400" b="1" u="none" strike="noStrike">
                <a:solidFill>
                  <a:srgbClr val="FFFFFF"/>
                </a:solidFill>
                <a:effectLst/>
                <a:uFillTx/>
                <a:latin typeface="Calibri-Bold"/>
                <a:ea typeface="Calibri-Bold"/>
              </a:rPr>
              <a:t>On résout 3 versions du problème, du plus simple au plus réaliste</a:t>
            </a:r>
            <a:endParaRPr lang="en-US" sz="2400" b="0" u="none" strike="noStrike">
              <a:solidFill>
                <a:srgbClr val="000000"/>
              </a:solidFill>
              <a:effectLst/>
              <a:uFillTx/>
              <a:latin typeface="Arial"/>
            </a:endParaRPr>
          </a:p>
        </p:txBody>
      </p:sp>
      <p:sp>
        <p:nvSpPr>
          <p:cNvPr id="105" name=""/>
          <p:cNvSpPr/>
          <p:nvPr/>
        </p:nvSpPr>
        <p:spPr>
          <a:xfrm>
            <a:off x="365760" y="1188720"/>
            <a:ext cx="3749400" cy="567360"/>
          </a:xfrm>
          <a:custGeom>
            <a:avLst/>
            <a:gdLst/>
            <a:ahLst/>
            <a:rect l="0" t="0" r="r" b="b"/>
            <a:pathLst>
              <a:path w="10415" h="1576">
                <a:moveTo>
                  <a:pt x="0" y="0"/>
                </a:moveTo>
                <a:lnTo>
                  <a:pt x="10415" y="0"/>
                </a:lnTo>
                <a:lnTo>
                  <a:pt x="10415" y="1576"/>
                </a:lnTo>
                <a:lnTo>
                  <a:pt x="0" y="1576"/>
                </a:lnTo>
                <a:lnTo>
                  <a:pt x="0" y="0"/>
                </a:lnTo>
                <a:close/>
              </a:path>
            </a:pathLst>
          </a:custGeom>
          <a:solidFill>
            <a:srgbClr val="2DCC7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106" name=""/>
          <p:cNvSpPr txBox="1"/>
          <p:nvPr/>
        </p:nvSpPr>
        <p:spPr>
          <a:xfrm>
            <a:off x="502920" y="1197720"/>
            <a:ext cx="822960" cy="459360"/>
          </a:xfrm>
          <a:prstGeom prst="rect">
            <a:avLst/>
          </a:prstGeom>
          <a:noFill/>
          <a:ln w="0">
            <a:noFill/>
          </a:ln>
        </p:spPr>
        <p:txBody>
          <a:bodyPr lIns="90000" tIns="45000" rIns="90000" bIns="45000" anchor="t">
            <a:spAutoFit/>
          </a:bodyPr>
          <a:p>
            <a:r>
              <a:rPr lang="en-US" sz="2600" b="1" u="none" strike="noStrike">
                <a:solidFill>
                  <a:srgbClr val="FFFFFF"/>
                </a:solidFill>
                <a:effectLst/>
                <a:uFillTx/>
                <a:latin typeface="Calibri-Bold"/>
                <a:ea typeface="Calibri-Bold"/>
              </a:rPr>
              <a:t>ED</a:t>
            </a:r>
            <a:endParaRPr lang="en-US" sz="2600" b="0" u="none" strike="noStrike">
              <a:solidFill>
                <a:srgbClr val="000000"/>
              </a:solidFill>
              <a:effectLst/>
              <a:uFillTx/>
              <a:latin typeface="Arial"/>
            </a:endParaRPr>
          </a:p>
        </p:txBody>
      </p:sp>
      <p:sp>
        <p:nvSpPr>
          <p:cNvPr id="107" name=""/>
          <p:cNvSpPr txBox="1"/>
          <p:nvPr/>
        </p:nvSpPr>
        <p:spPr>
          <a:xfrm>
            <a:off x="1417320" y="1197720"/>
            <a:ext cx="2560320" cy="255960"/>
          </a:xfrm>
          <a:prstGeom prst="rect">
            <a:avLst/>
          </a:prstGeom>
          <a:noFill/>
          <a:ln w="0">
            <a:noFill/>
          </a:ln>
        </p:spPr>
        <p:txBody>
          <a:bodyPr lIns="90000" tIns="45000" rIns="90000" bIns="45000" anchor="t">
            <a:spAutoFit/>
          </a:bodyPr>
          <a:p>
            <a:r>
              <a:rPr lang="en-US" sz="1100" b="1" u="none" strike="noStrike">
                <a:solidFill>
                  <a:srgbClr val="FFFFFF"/>
                </a:solidFill>
                <a:effectLst/>
                <a:uFillTx/>
                <a:latin typeface="Calibri-Bold"/>
                <a:ea typeface="Calibri-Bold"/>
              </a:rPr>
              <a:t>Economic Dispatch</a:t>
            </a:r>
            <a:endParaRPr lang="en-US" sz="1100" b="0" u="none" strike="noStrike">
              <a:solidFill>
                <a:srgbClr val="000000"/>
              </a:solidFill>
              <a:effectLst/>
              <a:uFillTx/>
              <a:latin typeface="Arial"/>
            </a:endParaRPr>
          </a:p>
        </p:txBody>
      </p:sp>
      <p:sp>
        <p:nvSpPr>
          <p:cNvPr id="108" name=""/>
          <p:cNvSpPr txBox="1"/>
          <p:nvPr/>
        </p:nvSpPr>
        <p:spPr>
          <a:xfrm>
            <a:off x="1417320" y="1426320"/>
            <a:ext cx="2560320" cy="232200"/>
          </a:xfrm>
          <a:prstGeom prst="rect">
            <a:avLst/>
          </a:prstGeom>
          <a:noFill/>
          <a:ln w="0">
            <a:noFill/>
          </a:ln>
        </p:spPr>
        <p:txBody>
          <a:bodyPr lIns="90000" tIns="45000" rIns="90000" bIns="45000" anchor="t">
            <a:spAutoFit/>
          </a:bodyPr>
          <a:p>
            <a:r>
              <a:rPr lang="en-US" sz="1000" b="0" i="1" u="none" strike="noStrike">
                <a:solidFill>
                  <a:srgbClr val="19192D"/>
                </a:solidFill>
                <a:effectLst/>
                <a:uFillTx/>
                <a:latin typeface="Calibri-Italic"/>
                <a:ea typeface="Calibri-Italic"/>
              </a:rPr>
              <a:t>Niveau 1 - Snapshot</a:t>
            </a:r>
            <a:endParaRPr lang="en-US" sz="1000" b="0" u="none" strike="noStrike">
              <a:solidFill>
                <a:srgbClr val="000000"/>
              </a:solidFill>
              <a:effectLst/>
              <a:uFillTx/>
              <a:latin typeface="Arial"/>
            </a:endParaRPr>
          </a:p>
        </p:txBody>
      </p:sp>
      <p:sp>
        <p:nvSpPr>
          <p:cNvPr id="109" name=""/>
          <p:cNvSpPr/>
          <p:nvPr/>
        </p:nvSpPr>
        <p:spPr>
          <a:xfrm>
            <a:off x="365760" y="1764720"/>
            <a:ext cx="3749400" cy="4919760"/>
          </a:xfrm>
          <a:custGeom>
            <a:avLst/>
            <a:gdLst/>
            <a:ahLst/>
            <a:rect l="0" t="0" r="r" b="b"/>
            <a:pathLst>
              <a:path w="10415" h="13666">
                <a:moveTo>
                  <a:pt x="0" y="0"/>
                </a:moveTo>
                <a:lnTo>
                  <a:pt x="10415" y="0"/>
                </a:lnTo>
                <a:lnTo>
                  <a:pt x="10415" y="13666"/>
                </a:lnTo>
                <a:lnTo>
                  <a:pt x="0" y="13666"/>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10" name=""/>
          <p:cNvSpPr/>
          <p:nvPr/>
        </p:nvSpPr>
        <p:spPr>
          <a:xfrm>
            <a:off x="365760" y="1764720"/>
            <a:ext cx="3749400" cy="37080"/>
          </a:xfrm>
          <a:custGeom>
            <a:avLst/>
            <a:gdLst/>
            <a:ahLst/>
            <a:rect l="0" t="0" r="r" b="b"/>
            <a:pathLst>
              <a:path w="10415" h="103">
                <a:moveTo>
                  <a:pt x="0" y="0"/>
                </a:moveTo>
                <a:lnTo>
                  <a:pt x="10415" y="0"/>
                </a:lnTo>
                <a:lnTo>
                  <a:pt x="10415" y="103"/>
                </a:lnTo>
                <a:lnTo>
                  <a:pt x="0" y="103"/>
                </a:lnTo>
                <a:lnTo>
                  <a:pt x="0" y="0"/>
                </a:lnTo>
                <a:close/>
              </a:path>
            </a:pathLst>
          </a:custGeom>
          <a:solidFill>
            <a:srgbClr val="2DCC70"/>
          </a:solidFill>
          <a:ln w="0">
            <a:noFill/>
          </a:ln>
        </p:spPr>
        <p:txBody>
          <a:bodyPr lIns="90000" tIns="-7920" rIns="90000" bIns="-7920" anchor="t">
            <a:noAutofit/>
          </a:bodyPr>
          <a:p>
            <a:endParaRPr lang="en-US" sz="1800" b="0" u="none" strike="noStrike">
              <a:solidFill>
                <a:srgbClr val="000000"/>
              </a:solidFill>
              <a:effectLst/>
              <a:uFillTx/>
              <a:latin typeface="Arial"/>
            </a:endParaRPr>
          </a:p>
        </p:txBody>
      </p:sp>
      <p:sp>
        <p:nvSpPr>
          <p:cNvPr id="111" name=""/>
          <p:cNvSpPr txBox="1"/>
          <p:nvPr/>
        </p:nvSpPr>
        <p:spPr>
          <a:xfrm>
            <a:off x="521280" y="1801440"/>
            <a:ext cx="3474720" cy="804600"/>
          </a:xfrm>
          <a:prstGeom prst="rect">
            <a:avLst/>
          </a:prstGeom>
          <a:noFill/>
          <a:ln w="0">
            <a:noFill/>
          </a:ln>
        </p:spPr>
        <p:txBody>
          <a:bodyPr lIns="90000" tIns="45000" rIns="90000" bIns="45000" anchor="t">
            <a:spAutoFit/>
          </a:bodyPr>
          <a:p>
            <a:r>
              <a:rPr lang="en-US" sz="1200" b="0" i="1" u="none" strike="noStrike">
                <a:solidFill>
                  <a:srgbClr val="F39C11"/>
                </a:solidFill>
                <a:effectLst/>
                <a:uFillTx/>
                <a:latin typeface="Calibri-Italic"/>
                <a:ea typeface="Calibri-Italic"/>
              </a:rPr>
              <a:t>Question : si tout le monde est allumé</a:t>
            </a:r>
            <a:r>
              <a:rPr lang="en-US" sz="1200" b="0" i="1" u="none" strike="noStrike">
                <a:solidFill>
                  <a:srgbClr val="F39C11"/>
                </a:solidFill>
                <a:effectLst/>
                <a:uFillTx/>
                <a:latin typeface="Calibri-Italic"/>
                <a:ea typeface="Calibri-Italic"/>
              </a:rPr>
              <a:t>,</a:t>
            </a:r>
            <a:endParaRPr lang="en-US" sz="1200" b="0" u="none" strike="noStrike">
              <a:solidFill>
                <a:srgbClr val="000000"/>
              </a:solidFill>
              <a:effectLst/>
              <a:uFillTx/>
              <a:latin typeface="Arial"/>
            </a:endParaRPr>
          </a:p>
          <a:p>
            <a:r>
              <a:rPr lang="en-US" sz="1200" b="0" i="1" u="none" strike="noStrike">
                <a:solidFill>
                  <a:srgbClr val="F39C11"/>
                </a:solidFill>
                <a:effectLst/>
                <a:uFillTx/>
                <a:latin typeface="Calibri-Italic"/>
                <a:ea typeface="Calibri-Italic"/>
              </a:rPr>
              <a:t>quelle puissance allouer à chaque centrale</a:t>
            </a:r>
            <a:endParaRPr lang="en-US" sz="1200" b="0" u="none" strike="noStrike">
              <a:solidFill>
                <a:srgbClr val="000000"/>
              </a:solidFill>
              <a:effectLst/>
              <a:uFillTx/>
              <a:latin typeface="Arial"/>
            </a:endParaRPr>
          </a:p>
          <a:p>
            <a:r>
              <a:rPr lang="en-US" sz="1200" b="0" i="1" u="none" strike="noStrike">
                <a:solidFill>
                  <a:srgbClr val="F39C11"/>
                </a:solidFill>
                <a:effectLst/>
                <a:uFillTx/>
                <a:latin typeface="Calibri-Italic"/>
                <a:ea typeface="Calibri-Italic"/>
              </a:rPr>
              <a:t>pour satisfaire la demande MAINTENANT</a:t>
            </a:r>
            <a:r>
              <a:rPr lang="en-US" sz="1200" b="0" i="1" u="none" strike="noStrike">
                <a:solidFill>
                  <a:srgbClr val="F39C11"/>
                </a:solidFill>
                <a:effectLst/>
                <a:uFillTx/>
                <a:latin typeface="Calibri-Italic"/>
                <a:ea typeface="Calibri-Italic"/>
              </a:rPr>
              <a:t> ?</a:t>
            </a:r>
            <a:endParaRPr lang="en-US" sz="1200" b="0" u="none" strike="noStrike">
              <a:solidFill>
                <a:srgbClr val="000000"/>
              </a:solidFill>
              <a:effectLst/>
              <a:uFillTx/>
              <a:latin typeface="Arial"/>
            </a:endParaRPr>
          </a:p>
        </p:txBody>
      </p:sp>
      <p:sp>
        <p:nvSpPr>
          <p:cNvPr id="112" name=""/>
          <p:cNvSpPr/>
          <p:nvPr/>
        </p:nvSpPr>
        <p:spPr>
          <a:xfrm>
            <a:off x="457200" y="2633400"/>
            <a:ext cx="3566520" cy="18720"/>
          </a:xfrm>
          <a:custGeom>
            <a:avLst/>
            <a:gdLst/>
            <a:ahLst/>
            <a:rect l="0" t="0" r="r" b="b"/>
            <a:pathLst>
              <a:path w="9907" h="52">
                <a:moveTo>
                  <a:pt x="0" y="0"/>
                </a:moveTo>
                <a:lnTo>
                  <a:pt x="9907" y="0"/>
                </a:lnTo>
                <a:lnTo>
                  <a:pt x="9907" y="52"/>
                </a:lnTo>
                <a:lnTo>
                  <a:pt x="0" y="52"/>
                </a:lnTo>
                <a:lnTo>
                  <a:pt x="0" y="0"/>
                </a:lnTo>
                <a:close/>
              </a:path>
            </a:pathLst>
          </a:custGeom>
          <a:solidFill>
            <a:srgbClr val="0E3B77"/>
          </a:solidFill>
          <a:ln w="0">
            <a:noFill/>
          </a:ln>
        </p:spPr>
        <p:txBody>
          <a:bodyPr lIns="90000" tIns="-26280" rIns="90000" bIns="-26280" anchor="t">
            <a:noAutofit/>
          </a:bodyPr>
          <a:p>
            <a:endParaRPr lang="en-US" sz="1800" b="0" u="none" strike="noStrike">
              <a:solidFill>
                <a:srgbClr val="FFFFFF"/>
              </a:solidFill>
              <a:effectLst/>
              <a:uFillTx/>
              <a:latin typeface="Arial"/>
            </a:endParaRPr>
          </a:p>
        </p:txBody>
      </p:sp>
      <p:sp>
        <p:nvSpPr>
          <p:cNvPr id="113" name=""/>
          <p:cNvSpPr txBox="1"/>
          <p:nvPr/>
        </p:nvSpPr>
        <p:spPr>
          <a:xfrm>
            <a:off x="521280" y="2679120"/>
            <a:ext cx="3474720" cy="164592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1</a:t>
            </a:r>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seul instant dans le temps</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Décision : puissance de chaque centrale</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Contraintes : physique du réseau + réserve</a:t>
            </a:r>
            <a:endParaRPr lang="en-US" sz="1200" b="0" u="none" strike="noStrike">
              <a:solidFill>
                <a:srgbClr val="000000"/>
              </a:solidFill>
              <a:effectLst/>
              <a:uFillTx/>
              <a:latin typeface="Arial"/>
            </a:endParaRPr>
          </a:p>
        </p:txBody>
      </p:sp>
      <p:sp>
        <p:nvSpPr>
          <p:cNvPr id="114" name=""/>
          <p:cNvSpPr/>
          <p:nvPr/>
        </p:nvSpPr>
        <p:spPr>
          <a:xfrm>
            <a:off x="365760" y="4434840"/>
            <a:ext cx="3749400" cy="1371960"/>
          </a:xfrm>
          <a:custGeom>
            <a:avLst/>
            <a:gdLst/>
            <a:ahLst/>
            <a:rect l="0" t="0" r="r" b="b"/>
            <a:pathLst>
              <a:path w="10415" h="3811">
                <a:moveTo>
                  <a:pt x="0" y="0"/>
                </a:moveTo>
                <a:lnTo>
                  <a:pt x="10415" y="0"/>
                </a:lnTo>
                <a:lnTo>
                  <a:pt x="10415" y="3811"/>
                </a:lnTo>
                <a:lnTo>
                  <a:pt x="0" y="3811"/>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15" name=""/>
          <p:cNvSpPr/>
          <p:nvPr/>
        </p:nvSpPr>
        <p:spPr>
          <a:xfrm>
            <a:off x="365760" y="4434840"/>
            <a:ext cx="3749400" cy="37080"/>
          </a:xfrm>
          <a:custGeom>
            <a:avLst/>
            <a:gdLst/>
            <a:ahLst/>
            <a:rect l="0" t="0" r="r" b="b"/>
            <a:pathLst>
              <a:path w="10415" h="103">
                <a:moveTo>
                  <a:pt x="0" y="0"/>
                </a:moveTo>
                <a:lnTo>
                  <a:pt x="10415" y="0"/>
                </a:lnTo>
                <a:lnTo>
                  <a:pt x="10415" y="103"/>
                </a:lnTo>
                <a:lnTo>
                  <a:pt x="0" y="103"/>
                </a:lnTo>
                <a:lnTo>
                  <a:pt x="0" y="0"/>
                </a:lnTo>
                <a:close/>
              </a:path>
            </a:pathLst>
          </a:custGeom>
          <a:solidFill>
            <a:srgbClr val="2DCC70"/>
          </a:solidFill>
          <a:ln w="0">
            <a:noFill/>
          </a:ln>
        </p:spPr>
        <p:txBody>
          <a:bodyPr lIns="90000" tIns="-7920" rIns="90000" bIns="-7920" anchor="t">
            <a:noAutofit/>
          </a:bodyPr>
          <a:p>
            <a:endParaRPr lang="en-US" sz="1800" b="0" u="none" strike="noStrike">
              <a:solidFill>
                <a:srgbClr val="000000"/>
              </a:solidFill>
              <a:effectLst/>
              <a:uFillTx/>
              <a:latin typeface="Arial"/>
            </a:endParaRPr>
          </a:p>
        </p:txBody>
      </p:sp>
      <p:sp>
        <p:nvSpPr>
          <p:cNvPr id="116" name=""/>
          <p:cNvSpPr txBox="1"/>
          <p:nvPr/>
        </p:nvSpPr>
        <p:spPr>
          <a:xfrm>
            <a:off x="521280" y="4471560"/>
            <a:ext cx="3474720" cy="255960"/>
          </a:xfrm>
          <a:prstGeom prst="rect">
            <a:avLst/>
          </a:prstGeom>
          <a:noFill/>
          <a:ln w="0">
            <a:noFill/>
          </a:ln>
        </p:spPr>
        <p:txBody>
          <a:bodyPr lIns="90000" tIns="45000" rIns="90000" bIns="45000" anchor="t">
            <a:spAutoFit/>
          </a:bodyPr>
          <a:p>
            <a:r>
              <a:rPr lang="en-US" sz="1000" b="1" u="none" strike="noStrike">
                <a:solidFill>
                  <a:srgbClr val="2DCC70"/>
                </a:solidFill>
                <a:effectLst/>
                <a:uFillTx/>
                <a:latin typeface="Calibri-Bold"/>
                <a:ea typeface="Calibri-Bold"/>
              </a:rPr>
              <a:t>Analogie</a:t>
            </a:r>
            <a:endParaRPr lang="en-US" sz="1000" b="0" u="none" strike="noStrike">
              <a:solidFill>
                <a:srgbClr val="000000"/>
              </a:solidFill>
              <a:effectLst/>
              <a:uFillTx/>
              <a:latin typeface="Arial"/>
            </a:endParaRPr>
          </a:p>
        </p:txBody>
      </p:sp>
      <p:sp>
        <p:nvSpPr>
          <p:cNvPr id="117" name=""/>
          <p:cNvSpPr txBox="1"/>
          <p:nvPr/>
        </p:nvSpPr>
        <p:spPr>
          <a:xfrm>
            <a:off x="521280" y="4709160"/>
            <a:ext cx="3474720" cy="1005840"/>
          </a:xfrm>
          <a:prstGeom prst="rect">
            <a:avLst/>
          </a:prstGeom>
          <a:noFill/>
          <a:ln w="0">
            <a:noFill/>
          </a:ln>
        </p:spPr>
        <p:txBody>
          <a:bodyPr lIns="90000" tIns="45000" rIns="90000" bIns="45000" anchor="t">
            <a:spAutoFit/>
          </a:bodyPr>
          <a:p>
            <a:r>
              <a:rPr lang="en-US" sz="1100" b="0" i="1" u="none" strike="noStrike">
                <a:solidFill>
                  <a:srgbClr val="CCCCCC"/>
                </a:solidFill>
                <a:effectLst/>
                <a:uFillTx/>
                <a:latin typeface="Calibri-Italic"/>
                <a:ea typeface="Calibri-Italic"/>
              </a:rPr>
              <a:t>Comme décider quels cuisiniers travaillent</a:t>
            </a:r>
            <a:endParaRPr lang="en-US" sz="1100" b="0" u="none" strike="noStrike">
              <a:solidFill>
                <a:srgbClr val="000000"/>
              </a:solidFill>
              <a:effectLst/>
              <a:uFillTx/>
              <a:latin typeface="Arial"/>
            </a:endParaRPr>
          </a:p>
          <a:p>
            <a:r>
              <a:rPr lang="en-US" sz="1100" b="0" i="1" u="none" strike="noStrike">
                <a:solidFill>
                  <a:srgbClr val="CCCCCC"/>
                </a:solidFill>
                <a:effectLst/>
                <a:uFillTx/>
                <a:latin typeface="Calibri-Italic"/>
                <a:ea typeface="Calibri-Italic"/>
              </a:rPr>
              <a:t>ce midi, sans penser à demain</a:t>
            </a:r>
            <a:r>
              <a:rPr lang="en-US" sz="1100" b="0" i="1" u="none" strike="noStrike">
                <a:solidFill>
                  <a:srgbClr val="CCCCCC"/>
                </a:solidFill>
                <a:effectLst/>
                <a:uFillTx/>
                <a:latin typeface="Calibri-Italic"/>
                <a:ea typeface="Calibri-Italic"/>
              </a:rPr>
              <a:t>.</a:t>
            </a:r>
            <a:endParaRPr lang="en-US" sz="1100" b="0" u="none" strike="noStrike">
              <a:solidFill>
                <a:srgbClr val="000000"/>
              </a:solidFill>
              <a:effectLst/>
              <a:uFillTx/>
              <a:latin typeface="Arial"/>
            </a:endParaRPr>
          </a:p>
        </p:txBody>
      </p:sp>
      <p:sp>
        <p:nvSpPr>
          <p:cNvPr id="118" name=""/>
          <p:cNvSpPr/>
          <p:nvPr/>
        </p:nvSpPr>
        <p:spPr>
          <a:xfrm>
            <a:off x="4316040" y="1188720"/>
            <a:ext cx="3749400" cy="567360"/>
          </a:xfrm>
          <a:custGeom>
            <a:avLst/>
            <a:gdLst/>
            <a:ahLst/>
            <a:rect l="0" t="0" r="r" b="b"/>
            <a:pathLst>
              <a:path w="10415" h="1576">
                <a:moveTo>
                  <a:pt x="0" y="0"/>
                </a:moveTo>
                <a:lnTo>
                  <a:pt x="10415" y="0"/>
                </a:lnTo>
                <a:lnTo>
                  <a:pt x="10415" y="1576"/>
                </a:lnTo>
                <a:lnTo>
                  <a:pt x="0" y="1576"/>
                </a:lnTo>
                <a:lnTo>
                  <a:pt x="0" y="0"/>
                </a:lnTo>
                <a:close/>
              </a:path>
            </a:pathLst>
          </a:custGeom>
          <a:solidFill>
            <a:srgbClr val="F39C11"/>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119" name=""/>
          <p:cNvSpPr txBox="1"/>
          <p:nvPr/>
        </p:nvSpPr>
        <p:spPr>
          <a:xfrm>
            <a:off x="4453200" y="1197720"/>
            <a:ext cx="822960" cy="459360"/>
          </a:xfrm>
          <a:prstGeom prst="rect">
            <a:avLst/>
          </a:prstGeom>
          <a:noFill/>
          <a:ln w="0">
            <a:noFill/>
          </a:ln>
        </p:spPr>
        <p:txBody>
          <a:bodyPr lIns="90000" tIns="45000" rIns="90000" bIns="45000" anchor="t">
            <a:spAutoFit/>
          </a:bodyPr>
          <a:p>
            <a:r>
              <a:rPr lang="en-US" sz="2600" b="1" u="none" strike="noStrike">
                <a:solidFill>
                  <a:srgbClr val="FFFFFF"/>
                </a:solidFill>
                <a:effectLst/>
                <a:uFillTx/>
                <a:latin typeface="Calibri-Bold"/>
                <a:ea typeface="Calibri-Bold"/>
              </a:rPr>
              <a:t>UC</a:t>
            </a:r>
            <a:endParaRPr lang="en-US" sz="2600" b="0" u="none" strike="noStrike">
              <a:solidFill>
                <a:srgbClr val="000000"/>
              </a:solidFill>
              <a:effectLst/>
              <a:uFillTx/>
              <a:latin typeface="Arial"/>
            </a:endParaRPr>
          </a:p>
        </p:txBody>
      </p:sp>
      <p:sp>
        <p:nvSpPr>
          <p:cNvPr id="120" name=""/>
          <p:cNvSpPr txBox="1"/>
          <p:nvPr/>
        </p:nvSpPr>
        <p:spPr>
          <a:xfrm>
            <a:off x="5367600" y="1197720"/>
            <a:ext cx="2560320" cy="255960"/>
          </a:xfrm>
          <a:prstGeom prst="rect">
            <a:avLst/>
          </a:prstGeom>
          <a:noFill/>
          <a:ln w="0">
            <a:noFill/>
          </a:ln>
        </p:spPr>
        <p:txBody>
          <a:bodyPr lIns="90000" tIns="45000" rIns="90000" bIns="45000" anchor="t">
            <a:spAutoFit/>
          </a:bodyPr>
          <a:p>
            <a:r>
              <a:rPr lang="en-US" sz="1100" b="1" u="none" strike="noStrike">
                <a:solidFill>
                  <a:srgbClr val="FFFFFF"/>
                </a:solidFill>
                <a:effectLst/>
                <a:uFillTx/>
                <a:latin typeface="Calibri-Bold"/>
                <a:ea typeface="Calibri-Bold"/>
              </a:rPr>
              <a:t>Unit Commitment</a:t>
            </a:r>
            <a:endParaRPr lang="en-US" sz="1100" b="0" u="none" strike="noStrike">
              <a:solidFill>
                <a:srgbClr val="000000"/>
              </a:solidFill>
              <a:effectLst/>
              <a:uFillTx/>
              <a:latin typeface="Arial"/>
            </a:endParaRPr>
          </a:p>
        </p:txBody>
      </p:sp>
      <p:sp>
        <p:nvSpPr>
          <p:cNvPr id="121" name=""/>
          <p:cNvSpPr txBox="1"/>
          <p:nvPr/>
        </p:nvSpPr>
        <p:spPr>
          <a:xfrm>
            <a:off x="5367600" y="1426320"/>
            <a:ext cx="2560320" cy="232200"/>
          </a:xfrm>
          <a:prstGeom prst="rect">
            <a:avLst/>
          </a:prstGeom>
          <a:noFill/>
          <a:ln w="0">
            <a:noFill/>
          </a:ln>
        </p:spPr>
        <p:txBody>
          <a:bodyPr lIns="90000" tIns="45000" rIns="90000" bIns="45000" anchor="t">
            <a:spAutoFit/>
          </a:bodyPr>
          <a:p>
            <a:r>
              <a:rPr lang="en-US" sz="1000" b="0" i="1" u="none" strike="noStrike">
                <a:solidFill>
                  <a:srgbClr val="19192D"/>
                </a:solidFill>
                <a:effectLst/>
                <a:uFillTx/>
                <a:latin typeface="Calibri-Italic"/>
                <a:ea typeface="Calibri-Italic"/>
              </a:rPr>
              <a:t>Niveau 2 - Planning 24h</a:t>
            </a:r>
            <a:endParaRPr lang="en-US" sz="1000" b="0" u="none" strike="noStrike">
              <a:solidFill>
                <a:srgbClr val="000000"/>
              </a:solidFill>
              <a:effectLst/>
              <a:uFillTx/>
              <a:latin typeface="Arial"/>
            </a:endParaRPr>
          </a:p>
        </p:txBody>
      </p:sp>
      <p:sp>
        <p:nvSpPr>
          <p:cNvPr id="122" name=""/>
          <p:cNvSpPr/>
          <p:nvPr/>
        </p:nvSpPr>
        <p:spPr>
          <a:xfrm>
            <a:off x="4316040" y="1764720"/>
            <a:ext cx="3749400" cy="4919760"/>
          </a:xfrm>
          <a:custGeom>
            <a:avLst/>
            <a:gdLst/>
            <a:ahLst/>
            <a:rect l="0" t="0" r="r" b="b"/>
            <a:pathLst>
              <a:path w="10415" h="13666">
                <a:moveTo>
                  <a:pt x="0" y="0"/>
                </a:moveTo>
                <a:lnTo>
                  <a:pt x="10415" y="0"/>
                </a:lnTo>
                <a:lnTo>
                  <a:pt x="10415" y="13666"/>
                </a:lnTo>
                <a:lnTo>
                  <a:pt x="0" y="13666"/>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23" name=""/>
          <p:cNvSpPr/>
          <p:nvPr/>
        </p:nvSpPr>
        <p:spPr>
          <a:xfrm>
            <a:off x="4316040" y="1764720"/>
            <a:ext cx="3749400" cy="37080"/>
          </a:xfrm>
          <a:custGeom>
            <a:avLst/>
            <a:gdLst/>
            <a:ahLst/>
            <a:rect l="0" t="0" r="r" b="b"/>
            <a:pathLst>
              <a:path w="10415" h="103">
                <a:moveTo>
                  <a:pt x="0" y="0"/>
                </a:moveTo>
                <a:lnTo>
                  <a:pt x="10415" y="0"/>
                </a:lnTo>
                <a:lnTo>
                  <a:pt x="10415" y="103"/>
                </a:lnTo>
                <a:lnTo>
                  <a:pt x="0" y="103"/>
                </a:lnTo>
                <a:lnTo>
                  <a:pt x="0" y="0"/>
                </a:lnTo>
                <a:close/>
              </a:path>
            </a:pathLst>
          </a:custGeom>
          <a:solidFill>
            <a:srgbClr val="F39C11"/>
          </a:solidFill>
          <a:ln w="0">
            <a:noFill/>
          </a:ln>
        </p:spPr>
        <p:txBody>
          <a:bodyPr lIns="90000" tIns="-7920" rIns="90000" bIns="-7920" anchor="t">
            <a:noAutofit/>
          </a:bodyPr>
          <a:p>
            <a:endParaRPr lang="en-US" sz="1800" b="0" u="none" strike="noStrike">
              <a:solidFill>
                <a:srgbClr val="000000"/>
              </a:solidFill>
              <a:effectLst/>
              <a:uFillTx/>
              <a:latin typeface="Arial"/>
            </a:endParaRPr>
          </a:p>
        </p:txBody>
      </p:sp>
      <p:sp>
        <p:nvSpPr>
          <p:cNvPr id="124" name=""/>
          <p:cNvSpPr txBox="1"/>
          <p:nvPr/>
        </p:nvSpPr>
        <p:spPr>
          <a:xfrm>
            <a:off x="4471560" y="1801440"/>
            <a:ext cx="3474720" cy="804600"/>
          </a:xfrm>
          <a:prstGeom prst="rect">
            <a:avLst/>
          </a:prstGeom>
          <a:noFill/>
          <a:ln w="0">
            <a:noFill/>
          </a:ln>
        </p:spPr>
        <p:txBody>
          <a:bodyPr lIns="90000" tIns="45000" rIns="90000" bIns="45000" anchor="t">
            <a:spAutoFit/>
          </a:bodyPr>
          <a:p>
            <a:r>
              <a:rPr lang="en-US" sz="1200" b="0" i="1" u="none" strike="noStrike">
                <a:solidFill>
                  <a:srgbClr val="F39C11"/>
                </a:solidFill>
                <a:effectLst/>
                <a:uFillTx/>
                <a:latin typeface="Calibri-Italic"/>
                <a:ea typeface="Calibri-Italic"/>
              </a:rPr>
              <a:t>Question : pour chaque heure de demain</a:t>
            </a:r>
            <a:r>
              <a:rPr lang="en-US" sz="1200" b="0" i="1" u="none" strike="noStrike">
                <a:solidFill>
                  <a:srgbClr val="F39C11"/>
                </a:solidFill>
                <a:effectLst/>
                <a:uFillTx/>
                <a:latin typeface="Calibri-Italic"/>
                <a:ea typeface="Calibri-Italic"/>
              </a:rPr>
              <a:t>,</a:t>
            </a:r>
            <a:endParaRPr lang="en-US" sz="1200" b="0" u="none" strike="noStrike">
              <a:solidFill>
                <a:srgbClr val="000000"/>
              </a:solidFill>
              <a:effectLst/>
              <a:uFillTx/>
              <a:latin typeface="Arial"/>
            </a:endParaRPr>
          </a:p>
          <a:p>
            <a:r>
              <a:rPr lang="en-US" sz="1200" b="0" i="1" u="none" strike="noStrike">
                <a:solidFill>
                  <a:srgbClr val="F39C11"/>
                </a:solidFill>
                <a:effectLst/>
                <a:uFillTx/>
                <a:latin typeface="Calibri-Italic"/>
                <a:ea typeface="Calibri-Italic"/>
              </a:rPr>
              <a:t>quelle centrale allumer/éteindre</a:t>
            </a:r>
            <a:r>
              <a:rPr lang="en-US" sz="1200" b="0" i="1" u="none" strike="noStrike">
                <a:solidFill>
                  <a:srgbClr val="F39C11"/>
                </a:solidFill>
                <a:effectLst/>
                <a:uFillTx/>
                <a:latin typeface="Calibri-Italic"/>
                <a:ea typeface="Calibri-Italic"/>
              </a:rPr>
              <a:t> ?</a:t>
            </a:r>
            <a:endParaRPr lang="en-US" sz="1200" b="0" u="none" strike="noStrike">
              <a:solidFill>
                <a:srgbClr val="000000"/>
              </a:solidFill>
              <a:effectLst/>
              <a:uFillTx/>
              <a:latin typeface="Arial"/>
            </a:endParaRPr>
          </a:p>
          <a:p>
            <a:r>
              <a:rPr lang="en-US" sz="1200" b="0" i="1" u="none" strike="noStrike">
                <a:solidFill>
                  <a:srgbClr val="F39C11"/>
                </a:solidFill>
                <a:effectLst/>
                <a:uFillTx/>
                <a:latin typeface="Calibri-Italic"/>
                <a:ea typeface="Calibri-Italic"/>
              </a:rPr>
              <a:t>Et à quelle puissance</a:t>
            </a:r>
            <a:r>
              <a:rPr lang="en-US" sz="1200" b="0" i="1" u="none" strike="noStrike">
                <a:solidFill>
                  <a:srgbClr val="F39C11"/>
                </a:solidFill>
                <a:effectLst/>
                <a:uFillTx/>
                <a:latin typeface="Calibri-Italic"/>
                <a:ea typeface="Calibri-Italic"/>
              </a:rPr>
              <a:t> ?</a:t>
            </a:r>
            <a:endParaRPr lang="en-US" sz="1200" b="0" u="none" strike="noStrike">
              <a:solidFill>
                <a:srgbClr val="000000"/>
              </a:solidFill>
              <a:effectLst/>
              <a:uFillTx/>
              <a:latin typeface="Arial"/>
            </a:endParaRPr>
          </a:p>
        </p:txBody>
      </p:sp>
      <p:sp>
        <p:nvSpPr>
          <p:cNvPr id="125" name=""/>
          <p:cNvSpPr/>
          <p:nvPr/>
        </p:nvSpPr>
        <p:spPr>
          <a:xfrm>
            <a:off x="4407480" y="2633400"/>
            <a:ext cx="3566520" cy="18720"/>
          </a:xfrm>
          <a:custGeom>
            <a:avLst/>
            <a:gdLst/>
            <a:ahLst/>
            <a:rect l="0" t="0" r="r" b="b"/>
            <a:pathLst>
              <a:path w="9907" h="52">
                <a:moveTo>
                  <a:pt x="0" y="0"/>
                </a:moveTo>
                <a:lnTo>
                  <a:pt x="9907" y="0"/>
                </a:lnTo>
                <a:lnTo>
                  <a:pt x="9907" y="52"/>
                </a:lnTo>
                <a:lnTo>
                  <a:pt x="0" y="52"/>
                </a:lnTo>
                <a:lnTo>
                  <a:pt x="0" y="0"/>
                </a:lnTo>
                <a:close/>
              </a:path>
            </a:pathLst>
          </a:custGeom>
          <a:solidFill>
            <a:srgbClr val="0E3B77"/>
          </a:solidFill>
          <a:ln w="0">
            <a:noFill/>
          </a:ln>
        </p:spPr>
        <p:txBody>
          <a:bodyPr lIns="90000" tIns="-26280" rIns="90000" bIns="-26280" anchor="t">
            <a:noAutofit/>
          </a:bodyPr>
          <a:p>
            <a:endParaRPr lang="en-US" sz="1800" b="0" u="none" strike="noStrike">
              <a:solidFill>
                <a:srgbClr val="FFFFFF"/>
              </a:solidFill>
              <a:effectLst/>
              <a:uFillTx/>
              <a:latin typeface="Arial"/>
            </a:endParaRPr>
          </a:p>
        </p:txBody>
      </p:sp>
      <p:sp>
        <p:nvSpPr>
          <p:cNvPr id="126" name=""/>
          <p:cNvSpPr txBox="1"/>
          <p:nvPr/>
        </p:nvSpPr>
        <p:spPr>
          <a:xfrm>
            <a:off x="4471560" y="2679120"/>
            <a:ext cx="3474720" cy="164592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Horizon : 24 heures (1 variable par heure)</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Décision : ON/OFF + puissance à chaque heure</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Nouvelles contraintes : temps minimum allumé/éteint, vitesses de montée</a:t>
            </a:r>
            <a:endParaRPr lang="en-US" sz="1200" b="0" u="none" strike="noStrike">
              <a:solidFill>
                <a:srgbClr val="000000"/>
              </a:solidFill>
              <a:effectLst/>
              <a:uFillTx/>
              <a:latin typeface="Arial"/>
            </a:endParaRPr>
          </a:p>
        </p:txBody>
      </p:sp>
      <p:sp>
        <p:nvSpPr>
          <p:cNvPr id="127" name=""/>
          <p:cNvSpPr/>
          <p:nvPr/>
        </p:nvSpPr>
        <p:spPr>
          <a:xfrm>
            <a:off x="4316040" y="4434840"/>
            <a:ext cx="3749400" cy="1371960"/>
          </a:xfrm>
          <a:custGeom>
            <a:avLst/>
            <a:gdLst/>
            <a:ahLst/>
            <a:rect l="0" t="0" r="r" b="b"/>
            <a:pathLst>
              <a:path w="10415" h="3811">
                <a:moveTo>
                  <a:pt x="0" y="0"/>
                </a:moveTo>
                <a:lnTo>
                  <a:pt x="10415" y="0"/>
                </a:lnTo>
                <a:lnTo>
                  <a:pt x="10415" y="3811"/>
                </a:lnTo>
                <a:lnTo>
                  <a:pt x="0" y="3811"/>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28" name=""/>
          <p:cNvSpPr/>
          <p:nvPr/>
        </p:nvSpPr>
        <p:spPr>
          <a:xfrm>
            <a:off x="4316040" y="4434840"/>
            <a:ext cx="3749400" cy="37080"/>
          </a:xfrm>
          <a:custGeom>
            <a:avLst/>
            <a:gdLst/>
            <a:ahLst/>
            <a:rect l="0" t="0" r="r" b="b"/>
            <a:pathLst>
              <a:path w="10415" h="103">
                <a:moveTo>
                  <a:pt x="0" y="0"/>
                </a:moveTo>
                <a:lnTo>
                  <a:pt x="10415" y="0"/>
                </a:lnTo>
                <a:lnTo>
                  <a:pt x="10415" y="103"/>
                </a:lnTo>
                <a:lnTo>
                  <a:pt x="0" y="103"/>
                </a:lnTo>
                <a:lnTo>
                  <a:pt x="0" y="0"/>
                </a:lnTo>
                <a:close/>
              </a:path>
            </a:pathLst>
          </a:custGeom>
          <a:solidFill>
            <a:srgbClr val="F39C11"/>
          </a:solidFill>
          <a:ln w="0">
            <a:noFill/>
          </a:ln>
        </p:spPr>
        <p:txBody>
          <a:bodyPr lIns="90000" tIns="-7920" rIns="90000" bIns="-7920" anchor="t">
            <a:noAutofit/>
          </a:bodyPr>
          <a:p>
            <a:endParaRPr lang="en-US" sz="1800" b="0" u="none" strike="noStrike">
              <a:solidFill>
                <a:srgbClr val="000000"/>
              </a:solidFill>
              <a:effectLst/>
              <a:uFillTx/>
              <a:latin typeface="Arial"/>
            </a:endParaRPr>
          </a:p>
        </p:txBody>
      </p:sp>
      <p:sp>
        <p:nvSpPr>
          <p:cNvPr id="129" name=""/>
          <p:cNvSpPr txBox="1"/>
          <p:nvPr/>
        </p:nvSpPr>
        <p:spPr>
          <a:xfrm>
            <a:off x="4471560" y="4471560"/>
            <a:ext cx="3474720" cy="255960"/>
          </a:xfrm>
          <a:prstGeom prst="rect">
            <a:avLst/>
          </a:prstGeom>
          <a:noFill/>
          <a:ln w="0">
            <a:noFill/>
          </a:ln>
        </p:spPr>
        <p:txBody>
          <a:bodyPr lIns="90000" tIns="45000" rIns="90000" bIns="45000" anchor="t">
            <a:spAutoFit/>
          </a:bodyPr>
          <a:p>
            <a:r>
              <a:rPr lang="en-US" sz="1000" b="1" u="none" strike="noStrike">
                <a:solidFill>
                  <a:srgbClr val="F39C11"/>
                </a:solidFill>
                <a:effectLst/>
                <a:uFillTx/>
                <a:latin typeface="Calibri-Bold"/>
                <a:ea typeface="Calibri-Bold"/>
              </a:rPr>
              <a:t>Analogie</a:t>
            </a:r>
            <a:endParaRPr lang="en-US" sz="1000" b="0" u="none" strike="noStrike">
              <a:solidFill>
                <a:srgbClr val="000000"/>
              </a:solidFill>
              <a:effectLst/>
              <a:uFillTx/>
              <a:latin typeface="Arial"/>
            </a:endParaRPr>
          </a:p>
        </p:txBody>
      </p:sp>
      <p:sp>
        <p:nvSpPr>
          <p:cNvPr id="130" name=""/>
          <p:cNvSpPr txBox="1"/>
          <p:nvPr/>
        </p:nvSpPr>
        <p:spPr>
          <a:xfrm>
            <a:off x="4471560" y="4709160"/>
            <a:ext cx="3474720" cy="1005840"/>
          </a:xfrm>
          <a:prstGeom prst="rect">
            <a:avLst/>
          </a:prstGeom>
          <a:noFill/>
          <a:ln w="0">
            <a:noFill/>
          </a:ln>
        </p:spPr>
        <p:txBody>
          <a:bodyPr lIns="90000" tIns="45000" rIns="90000" bIns="45000" anchor="t">
            <a:spAutoFit/>
          </a:bodyPr>
          <a:p>
            <a:r>
              <a:rPr lang="en-US" sz="1100" b="0" i="1" u="none" strike="noStrike">
                <a:solidFill>
                  <a:srgbClr val="CCCCCC"/>
                </a:solidFill>
                <a:effectLst/>
                <a:uFillTx/>
                <a:latin typeface="Calibri-Italic"/>
                <a:ea typeface="Calibri-Italic"/>
              </a:rPr>
              <a:t>Comme planifier les équipes d'une semaine</a:t>
            </a:r>
            <a:r>
              <a:rPr lang="en-US" sz="1100" b="0" i="1" u="none" strike="noStrike">
                <a:solidFill>
                  <a:srgbClr val="CCCCCC"/>
                </a:solidFill>
                <a:effectLst/>
                <a:uFillTx/>
                <a:latin typeface="Calibri-Italic"/>
                <a:ea typeface="Calibri-Italic"/>
              </a:rPr>
              <a:t> :</a:t>
            </a:r>
            <a:endParaRPr lang="en-US" sz="1100" b="0" u="none" strike="noStrike">
              <a:solidFill>
                <a:srgbClr val="000000"/>
              </a:solidFill>
              <a:effectLst/>
              <a:uFillTx/>
              <a:latin typeface="Arial"/>
            </a:endParaRPr>
          </a:p>
          <a:p>
            <a:r>
              <a:rPr lang="en-US" sz="1100" b="0" i="1" u="none" strike="noStrike">
                <a:solidFill>
                  <a:srgbClr val="CCCCCC"/>
                </a:solidFill>
                <a:effectLst/>
                <a:uFillTx/>
                <a:latin typeface="Calibri-Italic"/>
                <a:ea typeface="Calibri-Italic"/>
              </a:rPr>
              <a:t>on ne peut pas appeler quelqu'un 1h à la fois</a:t>
            </a:r>
            <a:r>
              <a:rPr lang="en-US" sz="1100" b="0" i="1" u="none" strike="noStrike">
                <a:solidFill>
                  <a:srgbClr val="CCCCCC"/>
                </a:solidFill>
                <a:effectLst/>
                <a:uFillTx/>
                <a:latin typeface="Calibri-Italic"/>
                <a:ea typeface="Calibri-Italic"/>
              </a:rPr>
              <a:t>.</a:t>
            </a:r>
            <a:endParaRPr lang="en-US" sz="1100" b="0" u="none" strike="noStrike">
              <a:solidFill>
                <a:srgbClr val="000000"/>
              </a:solidFill>
              <a:effectLst/>
              <a:uFillTx/>
              <a:latin typeface="Arial"/>
            </a:endParaRPr>
          </a:p>
        </p:txBody>
      </p:sp>
      <p:sp>
        <p:nvSpPr>
          <p:cNvPr id="131" name=""/>
          <p:cNvSpPr/>
          <p:nvPr/>
        </p:nvSpPr>
        <p:spPr>
          <a:xfrm>
            <a:off x="8266320" y="1188720"/>
            <a:ext cx="3749400" cy="567360"/>
          </a:xfrm>
          <a:custGeom>
            <a:avLst/>
            <a:gdLst/>
            <a:ahLst/>
            <a:rect l="0" t="0" r="r" b="b"/>
            <a:pathLst>
              <a:path w="10415" h="1576">
                <a:moveTo>
                  <a:pt x="0" y="0"/>
                </a:moveTo>
                <a:lnTo>
                  <a:pt x="10415" y="0"/>
                </a:lnTo>
                <a:lnTo>
                  <a:pt x="10415" y="1576"/>
                </a:lnTo>
                <a:lnTo>
                  <a:pt x="0" y="1576"/>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32" name=""/>
          <p:cNvSpPr txBox="1"/>
          <p:nvPr/>
        </p:nvSpPr>
        <p:spPr>
          <a:xfrm>
            <a:off x="8403480" y="1197720"/>
            <a:ext cx="822960" cy="828360"/>
          </a:xfrm>
          <a:prstGeom prst="rect">
            <a:avLst/>
          </a:prstGeom>
          <a:noFill/>
          <a:ln w="0">
            <a:noFill/>
          </a:ln>
        </p:spPr>
        <p:txBody>
          <a:bodyPr lIns="90000" tIns="45000" rIns="90000" bIns="45000" anchor="t">
            <a:spAutoFit/>
          </a:bodyPr>
          <a:p>
            <a:r>
              <a:rPr lang="en-US" sz="2600" b="1" u="none" strike="noStrike">
                <a:solidFill>
                  <a:srgbClr val="FFFFFF"/>
                </a:solidFill>
                <a:effectLst/>
                <a:uFillTx/>
                <a:latin typeface="Calibri-Bold"/>
                <a:ea typeface="Calibri-Bold"/>
              </a:rPr>
              <a:t>SUC</a:t>
            </a:r>
            <a:endParaRPr lang="en-US" sz="2600" b="0" u="none" strike="noStrike">
              <a:solidFill>
                <a:srgbClr val="000000"/>
              </a:solidFill>
              <a:effectLst/>
              <a:uFillTx/>
              <a:latin typeface="Arial"/>
            </a:endParaRPr>
          </a:p>
        </p:txBody>
      </p:sp>
      <p:sp>
        <p:nvSpPr>
          <p:cNvPr id="133" name=""/>
          <p:cNvSpPr txBox="1"/>
          <p:nvPr/>
        </p:nvSpPr>
        <p:spPr>
          <a:xfrm>
            <a:off x="9317880" y="1197720"/>
            <a:ext cx="2560320" cy="255960"/>
          </a:xfrm>
          <a:prstGeom prst="rect">
            <a:avLst/>
          </a:prstGeom>
          <a:noFill/>
          <a:ln w="0">
            <a:noFill/>
          </a:ln>
        </p:spPr>
        <p:txBody>
          <a:bodyPr lIns="90000" tIns="45000" rIns="90000" bIns="45000" anchor="t">
            <a:spAutoFit/>
          </a:bodyPr>
          <a:p>
            <a:r>
              <a:rPr lang="en-US" sz="1100" b="1" u="none" strike="noStrike">
                <a:solidFill>
                  <a:srgbClr val="FFFFFF"/>
                </a:solidFill>
                <a:effectLst/>
                <a:uFillTx/>
                <a:latin typeface="Calibri-Bold"/>
                <a:ea typeface="Calibri-Bold"/>
              </a:rPr>
              <a:t>Stochastic UC</a:t>
            </a:r>
            <a:endParaRPr lang="en-US" sz="1100" b="0" u="none" strike="noStrike">
              <a:solidFill>
                <a:srgbClr val="000000"/>
              </a:solidFill>
              <a:effectLst/>
              <a:uFillTx/>
              <a:latin typeface="Arial"/>
            </a:endParaRPr>
          </a:p>
        </p:txBody>
      </p:sp>
      <p:sp>
        <p:nvSpPr>
          <p:cNvPr id="134" name=""/>
          <p:cNvSpPr txBox="1"/>
          <p:nvPr/>
        </p:nvSpPr>
        <p:spPr>
          <a:xfrm>
            <a:off x="9317880" y="1426320"/>
            <a:ext cx="2560320" cy="232200"/>
          </a:xfrm>
          <a:prstGeom prst="rect">
            <a:avLst/>
          </a:prstGeom>
          <a:noFill/>
          <a:ln w="0">
            <a:noFill/>
          </a:ln>
        </p:spPr>
        <p:txBody>
          <a:bodyPr lIns="90000" tIns="45000" rIns="90000" bIns="45000" anchor="t">
            <a:spAutoFit/>
          </a:bodyPr>
          <a:p>
            <a:r>
              <a:rPr lang="en-US" sz="1000" b="0" i="1" u="none" strike="noStrike">
                <a:solidFill>
                  <a:srgbClr val="19192D"/>
                </a:solidFill>
                <a:effectLst/>
                <a:uFillTx/>
                <a:latin typeface="Calibri-Italic"/>
                <a:ea typeface="Calibri-Italic"/>
              </a:rPr>
              <a:t>Niveau 3 - Avec incertitude</a:t>
            </a:r>
            <a:endParaRPr lang="en-US" sz="1000" b="0" u="none" strike="noStrike">
              <a:solidFill>
                <a:srgbClr val="000000"/>
              </a:solidFill>
              <a:effectLst/>
              <a:uFillTx/>
              <a:latin typeface="Arial"/>
            </a:endParaRPr>
          </a:p>
        </p:txBody>
      </p:sp>
      <p:sp>
        <p:nvSpPr>
          <p:cNvPr id="135" name=""/>
          <p:cNvSpPr/>
          <p:nvPr/>
        </p:nvSpPr>
        <p:spPr>
          <a:xfrm>
            <a:off x="8266320" y="1764720"/>
            <a:ext cx="3749400" cy="4919760"/>
          </a:xfrm>
          <a:custGeom>
            <a:avLst/>
            <a:gdLst/>
            <a:ahLst/>
            <a:rect l="0" t="0" r="r" b="b"/>
            <a:pathLst>
              <a:path w="10415" h="13666">
                <a:moveTo>
                  <a:pt x="0" y="0"/>
                </a:moveTo>
                <a:lnTo>
                  <a:pt x="10415" y="0"/>
                </a:lnTo>
                <a:lnTo>
                  <a:pt x="10415" y="13666"/>
                </a:lnTo>
                <a:lnTo>
                  <a:pt x="0" y="13666"/>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36" name=""/>
          <p:cNvSpPr/>
          <p:nvPr/>
        </p:nvSpPr>
        <p:spPr>
          <a:xfrm>
            <a:off x="8266320" y="1764720"/>
            <a:ext cx="3749400" cy="37080"/>
          </a:xfrm>
          <a:custGeom>
            <a:avLst/>
            <a:gdLst/>
            <a:ahLst/>
            <a:rect l="0" t="0" r="r" b="b"/>
            <a:pathLst>
              <a:path w="10415" h="103">
                <a:moveTo>
                  <a:pt x="0" y="0"/>
                </a:moveTo>
                <a:lnTo>
                  <a:pt x="10415" y="0"/>
                </a:lnTo>
                <a:lnTo>
                  <a:pt x="10415" y="103"/>
                </a:lnTo>
                <a:lnTo>
                  <a:pt x="0" y="103"/>
                </a:lnTo>
                <a:lnTo>
                  <a:pt x="0" y="0"/>
                </a:lnTo>
                <a:close/>
              </a:path>
            </a:pathLst>
          </a:custGeom>
          <a:solidFill>
            <a:srgbClr val="E86916"/>
          </a:solidFill>
          <a:ln w="0">
            <a:noFill/>
          </a:ln>
        </p:spPr>
        <p:txBody>
          <a:bodyPr lIns="90000" tIns="-7920" rIns="90000" bIns="-7920" anchor="t">
            <a:noAutofit/>
          </a:bodyPr>
          <a:p>
            <a:endParaRPr lang="en-US" sz="1800" b="0" u="none" strike="noStrike">
              <a:solidFill>
                <a:srgbClr val="FFFFFF"/>
              </a:solidFill>
              <a:effectLst/>
              <a:uFillTx/>
              <a:latin typeface="Arial"/>
            </a:endParaRPr>
          </a:p>
        </p:txBody>
      </p:sp>
      <p:sp>
        <p:nvSpPr>
          <p:cNvPr id="137" name=""/>
          <p:cNvSpPr txBox="1"/>
          <p:nvPr/>
        </p:nvSpPr>
        <p:spPr>
          <a:xfrm>
            <a:off x="8421480" y="1801440"/>
            <a:ext cx="3474720" cy="804600"/>
          </a:xfrm>
          <a:prstGeom prst="rect">
            <a:avLst/>
          </a:prstGeom>
          <a:noFill/>
          <a:ln w="0">
            <a:noFill/>
          </a:ln>
        </p:spPr>
        <p:txBody>
          <a:bodyPr lIns="90000" tIns="45000" rIns="90000" bIns="45000" anchor="t">
            <a:spAutoFit/>
          </a:bodyPr>
          <a:p>
            <a:r>
              <a:rPr lang="en-US" sz="1200" b="0" i="1" u="none" strike="noStrike">
                <a:solidFill>
                  <a:srgbClr val="F39C11"/>
                </a:solidFill>
                <a:effectLst/>
                <a:uFillTx/>
                <a:latin typeface="Calibri-Italic"/>
                <a:ea typeface="Calibri-Italic"/>
              </a:rPr>
              <a:t>Question : même chose, mais on ne sait</a:t>
            </a:r>
            <a:endParaRPr lang="en-US" sz="1200" b="0" u="none" strike="noStrike">
              <a:solidFill>
                <a:srgbClr val="000000"/>
              </a:solidFill>
              <a:effectLst/>
              <a:uFillTx/>
              <a:latin typeface="Arial"/>
            </a:endParaRPr>
          </a:p>
          <a:p>
            <a:r>
              <a:rPr lang="en-US" sz="1200" b="0" i="1" u="none" strike="noStrike">
                <a:solidFill>
                  <a:srgbClr val="F39C11"/>
                </a:solidFill>
                <a:effectLst/>
                <a:uFillTx/>
                <a:latin typeface="Calibri-Italic"/>
                <a:ea typeface="Calibri-Italic"/>
              </a:rPr>
              <a:t>pas exactement combien produira</a:t>
            </a:r>
            <a:endParaRPr lang="en-US" sz="1200" b="0" u="none" strike="noStrike">
              <a:solidFill>
                <a:srgbClr val="000000"/>
              </a:solidFill>
              <a:effectLst/>
              <a:uFillTx/>
              <a:latin typeface="Arial"/>
            </a:endParaRPr>
          </a:p>
          <a:p>
            <a:r>
              <a:rPr lang="en-US" sz="1200" b="0" i="1" u="none" strike="noStrike">
                <a:solidFill>
                  <a:srgbClr val="F39C11"/>
                </a:solidFill>
                <a:effectLst/>
                <a:uFillTx/>
                <a:latin typeface="Calibri-Italic"/>
                <a:ea typeface="Calibri-Italic"/>
              </a:rPr>
              <a:t>l'éolien/solaire demain</a:t>
            </a:r>
            <a:r>
              <a:rPr lang="en-US" sz="1200" b="0" i="1" u="none" strike="noStrike">
                <a:solidFill>
                  <a:srgbClr val="F39C11"/>
                </a:solidFill>
                <a:effectLst/>
                <a:uFillTx/>
                <a:latin typeface="Calibri-Italic"/>
                <a:ea typeface="Calibri-Italic"/>
              </a:rPr>
              <a:t>.</a:t>
            </a:r>
            <a:endParaRPr lang="en-US" sz="1200" b="0" u="none" strike="noStrike">
              <a:solidFill>
                <a:srgbClr val="000000"/>
              </a:solidFill>
              <a:effectLst/>
              <a:uFillTx/>
              <a:latin typeface="Arial"/>
            </a:endParaRPr>
          </a:p>
        </p:txBody>
      </p:sp>
      <p:sp>
        <p:nvSpPr>
          <p:cNvPr id="138" name=""/>
          <p:cNvSpPr/>
          <p:nvPr/>
        </p:nvSpPr>
        <p:spPr>
          <a:xfrm>
            <a:off x="8357760" y="2633400"/>
            <a:ext cx="3566520" cy="18720"/>
          </a:xfrm>
          <a:custGeom>
            <a:avLst/>
            <a:gdLst/>
            <a:ahLst/>
            <a:rect l="0" t="0" r="r" b="b"/>
            <a:pathLst>
              <a:path w="9907" h="52">
                <a:moveTo>
                  <a:pt x="0" y="0"/>
                </a:moveTo>
                <a:lnTo>
                  <a:pt x="9907" y="0"/>
                </a:lnTo>
                <a:lnTo>
                  <a:pt x="9907" y="52"/>
                </a:lnTo>
                <a:lnTo>
                  <a:pt x="0" y="52"/>
                </a:lnTo>
                <a:lnTo>
                  <a:pt x="0" y="0"/>
                </a:lnTo>
                <a:close/>
              </a:path>
            </a:pathLst>
          </a:custGeom>
          <a:solidFill>
            <a:srgbClr val="0E3B77"/>
          </a:solidFill>
          <a:ln w="0">
            <a:noFill/>
          </a:ln>
        </p:spPr>
        <p:txBody>
          <a:bodyPr lIns="90000" tIns="-26280" rIns="90000" bIns="-26280" anchor="t">
            <a:noAutofit/>
          </a:bodyPr>
          <a:p>
            <a:endParaRPr lang="en-US" sz="1800" b="0" u="none" strike="noStrike">
              <a:solidFill>
                <a:srgbClr val="FFFFFF"/>
              </a:solidFill>
              <a:effectLst/>
              <a:uFillTx/>
              <a:latin typeface="Arial"/>
            </a:endParaRPr>
          </a:p>
        </p:txBody>
      </p:sp>
      <p:sp>
        <p:nvSpPr>
          <p:cNvPr id="139" name=""/>
          <p:cNvSpPr txBox="1"/>
          <p:nvPr/>
        </p:nvSpPr>
        <p:spPr>
          <a:xfrm>
            <a:off x="8421480" y="2679120"/>
            <a:ext cx="3474720" cy="164592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Décision en 2 temps : planifier sans savoir, puis ajuster</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On simule 4 à 8 futurs possibles (scénarios)</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Minimiser le coût MOYEN sur tous les scénarios</a:t>
            </a:r>
            <a:endParaRPr lang="en-US" sz="1200" b="0" u="none" strike="noStrike">
              <a:solidFill>
                <a:srgbClr val="000000"/>
              </a:solidFill>
              <a:effectLst/>
              <a:uFillTx/>
              <a:latin typeface="Arial"/>
            </a:endParaRPr>
          </a:p>
        </p:txBody>
      </p:sp>
      <p:sp>
        <p:nvSpPr>
          <p:cNvPr id="140" name=""/>
          <p:cNvSpPr/>
          <p:nvPr/>
        </p:nvSpPr>
        <p:spPr>
          <a:xfrm>
            <a:off x="8266320" y="4434840"/>
            <a:ext cx="3749400" cy="1371960"/>
          </a:xfrm>
          <a:custGeom>
            <a:avLst/>
            <a:gdLst/>
            <a:ahLst/>
            <a:rect l="0" t="0" r="r" b="b"/>
            <a:pathLst>
              <a:path w="10415" h="3811">
                <a:moveTo>
                  <a:pt x="0" y="0"/>
                </a:moveTo>
                <a:lnTo>
                  <a:pt x="10415" y="0"/>
                </a:lnTo>
                <a:lnTo>
                  <a:pt x="10415" y="3811"/>
                </a:lnTo>
                <a:lnTo>
                  <a:pt x="0" y="3811"/>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41" name=""/>
          <p:cNvSpPr/>
          <p:nvPr/>
        </p:nvSpPr>
        <p:spPr>
          <a:xfrm>
            <a:off x="8266320" y="4434840"/>
            <a:ext cx="3749400" cy="37080"/>
          </a:xfrm>
          <a:custGeom>
            <a:avLst/>
            <a:gdLst/>
            <a:ahLst/>
            <a:rect l="0" t="0" r="r" b="b"/>
            <a:pathLst>
              <a:path w="10415" h="103">
                <a:moveTo>
                  <a:pt x="0" y="0"/>
                </a:moveTo>
                <a:lnTo>
                  <a:pt x="10415" y="0"/>
                </a:lnTo>
                <a:lnTo>
                  <a:pt x="10415" y="103"/>
                </a:lnTo>
                <a:lnTo>
                  <a:pt x="0" y="103"/>
                </a:lnTo>
                <a:lnTo>
                  <a:pt x="0" y="0"/>
                </a:lnTo>
                <a:close/>
              </a:path>
            </a:pathLst>
          </a:custGeom>
          <a:solidFill>
            <a:srgbClr val="E86916"/>
          </a:solidFill>
          <a:ln w="0">
            <a:noFill/>
          </a:ln>
        </p:spPr>
        <p:txBody>
          <a:bodyPr lIns="90000" tIns="-7920" rIns="90000" bIns="-7920" anchor="t">
            <a:noAutofit/>
          </a:bodyPr>
          <a:p>
            <a:endParaRPr lang="en-US" sz="1800" b="0" u="none" strike="noStrike">
              <a:solidFill>
                <a:srgbClr val="FFFFFF"/>
              </a:solidFill>
              <a:effectLst/>
              <a:uFillTx/>
              <a:latin typeface="Arial"/>
            </a:endParaRPr>
          </a:p>
        </p:txBody>
      </p:sp>
      <p:sp>
        <p:nvSpPr>
          <p:cNvPr id="142" name=""/>
          <p:cNvSpPr txBox="1"/>
          <p:nvPr/>
        </p:nvSpPr>
        <p:spPr>
          <a:xfrm>
            <a:off x="8421480" y="4471560"/>
            <a:ext cx="3474720" cy="255960"/>
          </a:xfrm>
          <a:prstGeom prst="rect">
            <a:avLst/>
          </a:prstGeom>
          <a:noFill/>
          <a:ln w="0">
            <a:noFill/>
          </a:ln>
        </p:spPr>
        <p:txBody>
          <a:bodyPr lIns="90000" tIns="45000" rIns="90000" bIns="45000" anchor="t">
            <a:spAutoFit/>
          </a:bodyPr>
          <a:p>
            <a:r>
              <a:rPr lang="en-US" sz="1000" b="1" u="none" strike="noStrike">
                <a:solidFill>
                  <a:srgbClr val="E86916"/>
                </a:solidFill>
                <a:effectLst/>
                <a:uFillTx/>
                <a:latin typeface="Calibri-Bold"/>
                <a:ea typeface="Calibri-Bold"/>
              </a:rPr>
              <a:t>Analogie</a:t>
            </a:r>
            <a:endParaRPr lang="en-US" sz="1000" b="0" u="none" strike="noStrike">
              <a:solidFill>
                <a:srgbClr val="000000"/>
              </a:solidFill>
              <a:effectLst/>
              <a:uFillTx/>
              <a:latin typeface="Arial"/>
            </a:endParaRPr>
          </a:p>
        </p:txBody>
      </p:sp>
      <p:sp>
        <p:nvSpPr>
          <p:cNvPr id="143" name=""/>
          <p:cNvSpPr txBox="1"/>
          <p:nvPr/>
        </p:nvSpPr>
        <p:spPr>
          <a:xfrm>
            <a:off x="8421480" y="4709160"/>
            <a:ext cx="3474720" cy="1005840"/>
          </a:xfrm>
          <a:prstGeom prst="rect">
            <a:avLst/>
          </a:prstGeom>
          <a:noFill/>
          <a:ln w="0">
            <a:noFill/>
          </a:ln>
        </p:spPr>
        <p:txBody>
          <a:bodyPr lIns="90000" tIns="45000" rIns="90000" bIns="45000" anchor="t">
            <a:spAutoFit/>
          </a:bodyPr>
          <a:p>
            <a:r>
              <a:rPr lang="en-US" sz="1100" b="0" i="1" u="none" strike="noStrike">
                <a:solidFill>
                  <a:srgbClr val="CCCCCC"/>
                </a:solidFill>
                <a:effectLst/>
                <a:uFillTx/>
                <a:latin typeface="Calibri-Italic"/>
                <a:ea typeface="Calibri-Italic"/>
              </a:rPr>
              <a:t>Comme planifier avec Météo France</a:t>
            </a:r>
            <a:r>
              <a:rPr lang="en-US" sz="1100" b="0" i="1" u="none" strike="noStrike">
                <a:solidFill>
                  <a:srgbClr val="CCCCCC"/>
                </a:solidFill>
                <a:effectLst/>
                <a:uFillTx/>
                <a:latin typeface="Calibri-Italic"/>
                <a:ea typeface="Calibri-Italic"/>
              </a:rPr>
              <a:t> :</a:t>
            </a:r>
            <a:endParaRPr lang="en-US" sz="1100" b="0" u="none" strike="noStrike">
              <a:solidFill>
                <a:srgbClr val="000000"/>
              </a:solidFill>
              <a:effectLst/>
              <a:uFillTx/>
              <a:latin typeface="Arial"/>
            </a:endParaRPr>
          </a:p>
          <a:p>
            <a:r>
              <a:rPr lang="en-US" sz="1100" b="0" i="1" u="none" strike="noStrike">
                <a:solidFill>
                  <a:srgbClr val="CCCCCC"/>
                </a:solidFill>
                <a:effectLst/>
                <a:uFillTx/>
                <a:latin typeface="Calibri-Italic"/>
                <a:ea typeface="Calibri-Italic"/>
              </a:rPr>
              <a:t>on anticipe plusieurs cas de figure</a:t>
            </a:r>
            <a:r>
              <a:rPr lang="en-US" sz="1100" b="0" i="1" u="none" strike="noStrike">
                <a:solidFill>
                  <a:srgbClr val="CCCCCC"/>
                </a:solidFill>
                <a:effectLst/>
                <a:uFillTx/>
                <a:latin typeface="Calibri-Italic"/>
                <a:ea typeface="Calibri-Italic"/>
              </a:rPr>
              <a:t>.</a:t>
            </a:r>
            <a:endParaRPr lang="en-US" sz="1100" b="0" u="none" strike="noStrike">
              <a:solidFill>
                <a:srgbClr val="000000"/>
              </a:solidFill>
              <a:effectLst/>
              <a:uFillTx/>
              <a:latin typeface="Arial"/>
            </a:endParaRPr>
          </a:p>
        </p:txBody>
      </p:sp>
      <p:sp>
        <p:nvSpPr>
          <p:cNvPr id="144" name=""/>
          <p:cNvSpPr txBox="1"/>
          <p:nvPr/>
        </p:nvSpPr>
        <p:spPr>
          <a:xfrm>
            <a:off x="4041720" y="3017520"/>
            <a:ext cx="274320" cy="541440"/>
          </a:xfrm>
          <a:prstGeom prst="rect">
            <a:avLst/>
          </a:prstGeom>
          <a:noFill/>
          <a:ln w="0">
            <a:noFill/>
          </a:ln>
        </p:spPr>
        <p:txBody>
          <a:bodyPr lIns="90000" tIns="45000" rIns="90000" bIns="45000" anchor="t">
            <a:spAutoFit/>
          </a:bodyPr>
          <a:p>
            <a:pPr algn="ctr" rtl="1"/>
            <a:r>
              <a:rPr lang="en-US" sz="2600" b="1" u="none" strike="noStrike">
                <a:solidFill>
                  <a:srgbClr val="00B4D8"/>
                </a:solidFill>
                <a:effectLst/>
                <a:uFillTx/>
                <a:latin typeface="Calibri-Bold"/>
                <a:ea typeface="Calibri-Bold"/>
              </a:rPr>
              <a:t>→</a:t>
            </a:r>
            <a:endParaRPr lang="en-US" sz="2600" b="0" u="none" strike="noStrike">
              <a:solidFill>
                <a:srgbClr val="000000"/>
              </a:solidFill>
              <a:effectLst/>
              <a:uFillTx/>
              <a:latin typeface="Arial"/>
            </a:endParaRPr>
          </a:p>
        </p:txBody>
      </p:sp>
      <p:sp>
        <p:nvSpPr>
          <p:cNvPr id="145" name=""/>
          <p:cNvSpPr txBox="1"/>
          <p:nvPr/>
        </p:nvSpPr>
        <p:spPr>
          <a:xfrm>
            <a:off x="7982640" y="3017520"/>
            <a:ext cx="274320" cy="541440"/>
          </a:xfrm>
          <a:prstGeom prst="rect">
            <a:avLst/>
          </a:prstGeom>
          <a:noFill/>
          <a:ln w="0">
            <a:noFill/>
          </a:ln>
        </p:spPr>
        <p:txBody>
          <a:bodyPr lIns="90000" tIns="45000" rIns="90000" bIns="45000" anchor="t">
            <a:spAutoFit/>
          </a:bodyPr>
          <a:p>
            <a:pPr algn="ctr" rtl="1"/>
            <a:r>
              <a:rPr lang="en-US" sz="2600" b="1" u="none" strike="noStrike">
                <a:solidFill>
                  <a:srgbClr val="00B4D8"/>
                </a:solidFill>
                <a:effectLst/>
                <a:uFillTx/>
                <a:latin typeface="Calibri-Bold"/>
                <a:ea typeface="Calibri-Bold"/>
              </a:rPr>
              <a:t>→</a:t>
            </a:r>
            <a:endParaRPr lang="en-US" sz="2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47"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148"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149" name=""/>
          <p:cNvSpPr/>
          <p:nvPr/>
        </p:nvSpPr>
        <p:spPr>
          <a:xfrm>
            <a:off x="457200" y="155520"/>
            <a:ext cx="2926440" cy="293040"/>
          </a:xfrm>
          <a:custGeom>
            <a:avLst/>
            <a:gdLst/>
            <a:ahLst/>
            <a:rect l="0" t="0" r="r" b="b"/>
            <a:pathLst>
              <a:path w="8129" h="814">
                <a:moveTo>
                  <a:pt x="0" y="0"/>
                </a:moveTo>
                <a:lnTo>
                  <a:pt x="8129" y="0"/>
                </a:lnTo>
                <a:lnTo>
                  <a:pt x="8129" y="814"/>
                </a:lnTo>
                <a:lnTo>
                  <a:pt x="0" y="81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50" name=""/>
          <p:cNvSpPr txBox="1"/>
          <p:nvPr/>
        </p:nvSpPr>
        <p:spPr>
          <a:xfrm>
            <a:off x="502920" y="155520"/>
            <a:ext cx="2834640" cy="292680"/>
          </a:xfrm>
          <a:prstGeom prst="rect">
            <a:avLst/>
          </a:prstGeom>
          <a:noFill/>
          <a:ln w="0">
            <a:noFill/>
          </a:ln>
        </p:spPr>
        <p:txBody>
          <a:bodyPr lIns="90000" tIns="45000" rIns="90000" bIns="45000" anchor="t">
            <a:spAutoFit/>
          </a:bodyPr>
          <a:p>
            <a:pPr algn="ctr" rtl="1"/>
            <a:r>
              <a:rPr lang="en-US" sz="1000" b="1" u="none" strike="noStrike">
                <a:solidFill>
                  <a:srgbClr val="FFFFFF"/>
                </a:solidFill>
                <a:effectLst/>
                <a:uFillTx/>
                <a:latin typeface="Calibri-Bold"/>
                <a:ea typeface="Calibri-Bold"/>
              </a:rPr>
              <a:t>03</a:t>
            </a:r>
            <a:r>
              <a:rPr lang="en-US" sz="1000" b="1" u="none" strike="noStrike">
                <a:solidFill>
                  <a:srgbClr val="FFFFFF"/>
                </a:solidFill>
                <a:effectLst/>
                <a:uFillTx/>
                <a:latin typeface="Calibri-Bold"/>
                <a:ea typeface="Calibri-Bold"/>
              </a:rPr>
              <a:t> · </a:t>
            </a:r>
            <a:r>
              <a:rPr lang="en-US" sz="1000" b="1" u="none" strike="noStrike">
                <a:solidFill>
                  <a:srgbClr val="FFFFFF"/>
                </a:solidFill>
                <a:effectLst/>
                <a:uFillTx/>
                <a:latin typeface="Calibri-Bold"/>
                <a:ea typeface="Calibri-Bold"/>
              </a:rPr>
              <a:t>MODÉLISATION DU RÉSEAU</a:t>
            </a:r>
            <a:endParaRPr lang="en-US" sz="1000" b="0" u="none" strike="noStrike">
              <a:solidFill>
                <a:srgbClr val="000000"/>
              </a:solidFill>
              <a:effectLst/>
              <a:uFillTx/>
              <a:latin typeface="Arial"/>
            </a:endParaRPr>
          </a:p>
        </p:txBody>
      </p:sp>
      <p:sp>
        <p:nvSpPr>
          <p:cNvPr id="151" name=""/>
          <p:cNvSpPr txBox="1"/>
          <p:nvPr/>
        </p:nvSpPr>
        <p:spPr>
          <a:xfrm>
            <a:off x="502920" y="530280"/>
            <a:ext cx="11612880" cy="594360"/>
          </a:xfrm>
          <a:prstGeom prst="rect">
            <a:avLst/>
          </a:prstGeom>
          <a:noFill/>
          <a:ln w="0">
            <a:noFill/>
          </a:ln>
        </p:spPr>
        <p:txBody>
          <a:bodyPr lIns="90000" tIns="45000" rIns="90000" bIns="45000" anchor="t">
            <a:spAutoFit/>
          </a:bodyPr>
          <a:p>
            <a:r>
              <a:rPr lang="en-US" sz="2400" b="1" u="none" strike="noStrike">
                <a:solidFill>
                  <a:srgbClr val="FFFFFF"/>
                </a:solidFill>
                <a:effectLst/>
                <a:uFillTx/>
                <a:latin typeface="Calibri-Bold"/>
                <a:ea typeface="Calibri-Bold"/>
              </a:rPr>
              <a:t>Traduire la physique électrique en variables que le solveur comprend</a:t>
            </a:r>
            <a:endParaRPr lang="en-US" sz="2400" b="0" u="none" strike="noStrike">
              <a:solidFill>
                <a:srgbClr val="000000"/>
              </a:solidFill>
              <a:effectLst/>
              <a:uFillTx/>
              <a:latin typeface="Arial"/>
            </a:endParaRPr>
          </a:p>
        </p:txBody>
      </p:sp>
      <p:pic>
        <p:nvPicPr>
          <p:cNvPr id="152" name=""/>
          <p:cNvPicPr/>
          <p:nvPr/>
        </p:nvPicPr>
        <p:blipFill>
          <a:blip r:embed="rId1"/>
          <a:stretch/>
        </p:blipFill>
        <p:spPr>
          <a:xfrm>
            <a:off x="272160" y="1069200"/>
            <a:ext cx="5025240" cy="4979520"/>
          </a:xfrm>
          <a:prstGeom prst="rect">
            <a:avLst/>
          </a:prstGeom>
          <a:noFill/>
          <a:ln w="0">
            <a:noFill/>
          </a:ln>
        </p:spPr>
      </p:pic>
      <p:sp>
        <p:nvSpPr>
          <p:cNvPr id="153" name=""/>
          <p:cNvSpPr/>
          <p:nvPr/>
        </p:nvSpPr>
        <p:spPr>
          <a:xfrm>
            <a:off x="5669280" y="1234440"/>
            <a:ext cx="6218280" cy="4983840"/>
          </a:xfrm>
          <a:custGeom>
            <a:avLst/>
            <a:gdLst/>
            <a:ahLst/>
            <a:rect l="0" t="0" r="r" b="b"/>
            <a:pathLst>
              <a:path w="17273" h="13844">
                <a:moveTo>
                  <a:pt x="0" y="0"/>
                </a:moveTo>
                <a:lnTo>
                  <a:pt x="17273" y="0"/>
                </a:lnTo>
                <a:lnTo>
                  <a:pt x="17273" y="13844"/>
                </a:lnTo>
                <a:lnTo>
                  <a:pt x="0" y="13844"/>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54" name=""/>
          <p:cNvSpPr txBox="1"/>
          <p:nvPr/>
        </p:nvSpPr>
        <p:spPr>
          <a:xfrm>
            <a:off x="5897880" y="1298520"/>
            <a:ext cx="5760720" cy="292680"/>
          </a:xfrm>
          <a:prstGeom prst="rect">
            <a:avLst/>
          </a:prstGeom>
          <a:noFill/>
          <a:ln w="0">
            <a:noFill/>
          </a:ln>
        </p:spPr>
        <p:txBody>
          <a:bodyPr lIns="90000" tIns="45000" rIns="90000" bIns="45000" anchor="t">
            <a:spAutoFit/>
          </a:bodyPr>
          <a:p>
            <a:r>
              <a:rPr lang="en-US" sz="1300" b="1" u="none" strike="noStrike">
                <a:solidFill>
                  <a:srgbClr val="00B4D8"/>
                </a:solidFill>
                <a:effectLst/>
                <a:uFillTx/>
                <a:latin typeface="Calibri-Bold"/>
                <a:ea typeface="Calibri-Bold"/>
              </a:rPr>
              <a:t>Les briques du modèle</a:t>
            </a:r>
            <a:endParaRPr lang="en-US" sz="1300" b="0" u="none" strike="noStrike">
              <a:solidFill>
                <a:srgbClr val="000000"/>
              </a:solidFill>
              <a:effectLst/>
              <a:uFillTx/>
              <a:latin typeface="Arial"/>
            </a:endParaRPr>
          </a:p>
        </p:txBody>
      </p:sp>
      <p:sp>
        <p:nvSpPr>
          <p:cNvPr id="155" name=""/>
          <p:cNvSpPr/>
          <p:nvPr/>
        </p:nvSpPr>
        <p:spPr>
          <a:xfrm>
            <a:off x="5669280" y="1664280"/>
            <a:ext cx="55080" cy="1006200"/>
          </a:xfrm>
          <a:custGeom>
            <a:avLst/>
            <a:gdLst/>
            <a:ahLst/>
            <a:rect l="0" t="0" r="r" b="b"/>
            <a:pathLst>
              <a:path w="153" h="2795">
                <a:moveTo>
                  <a:pt x="0" y="0"/>
                </a:moveTo>
                <a:lnTo>
                  <a:pt x="153" y="0"/>
                </a:lnTo>
                <a:lnTo>
                  <a:pt x="153" y="2795"/>
                </a:lnTo>
                <a:lnTo>
                  <a:pt x="0" y="2795"/>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156" name=""/>
          <p:cNvSpPr txBox="1"/>
          <p:nvPr/>
        </p:nvSpPr>
        <p:spPr>
          <a:xfrm>
            <a:off x="5852160" y="1710000"/>
            <a:ext cx="5806440" cy="292680"/>
          </a:xfrm>
          <a:prstGeom prst="rect">
            <a:avLst/>
          </a:prstGeom>
          <a:noFill/>
          <a:ln w="0">
            <a:noFill/>
          </a:ln>
        </p:spPr>
        <p:txBody>
          <a:bodyPr lIns="90000" tIns="45000" rIns="90000" bIns="45000" anchor="t">
            <a:spAutoFit/>
          </a:bodyPr>
          <a:p>
            <a:r>
              <a:rPr lang="en-US" sz="1300" b="1" u="none" strike="noStrike">
                <a:solidFill>
                  <a:srgbClr val="00B4D8"/>
                </a:solidFill>
                <a:effectLst/>
                <a:uFillTx/>
                <a:latin typeface="Calibri-Bold"/>
                <a:ea typeface="Calibri-Bold"/>
              </a:rPr>
              <a:t>Bus (nœud)</a:t>
            </a:r>
            <a:endParaRPr lang="en-US" sz="1300" b="0" u="none" strike="noStrike">
              <a:solidFill>
                <a:srgbClr val="000000"/>
              </a:solidFill>
              <a:effectLst/>
              <a:uFillTx/>
              <a:latin typeface="Arial"/>
            </a:endParaRPr>
          </a:p>
        </p:txBody>
      </p:sp>
      <p:sp>
        <p:nvSpPr>
          <p:cNvPr id="157" name=""/>
          <p:cNvSpPr txBox="1"/>
          <p:nvPr/>
        </p:nvSpPr>
        <p:spPr>
          <a:xfrm>
            <a:off x="5852160" y="1993320"/>
            <a:ext cx="5806440" cy="594360"/>
          </a:xfrm>
          <a:prstGeom prst="rect">
            <a:avLst/>
          </a:prstGeom>
          <a:noFill/>
          <a:ln w="0">
            <a:noFill/>
          </a:ln>
        </p:spPr>
        <p:txBody>
          <a:bodyPr lIns="90000" tIns="45000" rIns="90000" bIns="45000" anchor="t">
            <a:spAutoFit/>
          </a:bodyPr>
          <a:p>
            <a:r>
              <a:rPr lang="en-US" sz="1200" b="0" u="none" strike="noStrike">
                <a:solidFill>
                  <a:srgbClr val="CCCCCC"/>
                </a:solidFill>
                <a:effectLst/>
                <a:uFillTx/>
                <a:latin typeface="Calibri"/>
                <a:ea typeface="Calibri"/>
              </a:rPr>
              <a:t>= </a:t>
            </a:r>
            <a:r>
              <a:rPr lang="en-US" sz="1200" b="0" u="none" strike="noStrike">
                <a:solidFill>
                  <a:srgbClr val="CCCCCC"/>
                </a:solidFill>
                <a:effectLst/>
                <a:uFillTx/>
                <a:latin typeface="Calibri"/>
                <a:ea typeface="Calibri"/>
              </a:rPr>
              <a:t>une ville ou une centrale. A une charge (demande) en MW. C'est le point d'équilibre : ce qui entre = ce qui sort</a:t>
            </a:r>
            <a:r>
              <a:rPr lang="en-US" sz="1200" b="0" u="none" strike="noStrike">
                <a:solidFill>
                  <a:srgbClr val="CCCCCC"/>
                </a:solidFill>
                <a:effectLst/>
                <a:uFillTx/>
                <a:latin typeface="Calibri"/>
                <a:ea typeface="Calibri"/>
              </a:rPr>
              <a:t>.</a:t>
            </a:r>
            <a:endParaRPr lang="en-US" sz="1200" b="0" u="none" strike="noStrike">
              <a:solidFill>
                <a:srgbClr val="000000"/>
              </a:solidFill>
              <a:effectLst/>
              <a:uFillTx/>
              <a:latin typeface="Arial"/>
            </a:endParaRPr>
          </a:p>
        </p:txBody>
      </p:sp>
      <p:sp>
        <p:nvSpPr>
          <p:cNvPr id="158" name=""/>
          <p:cNvSpPr/>
          <p:nvPr/>
        </p:nvSpPr>
        <p:spPr>
          <a:xfrm>
            <a:off x="5669280" y="2761560"/>
            <a:ext cx="55080" cy="1006200"/>
          </a:xfrm>
          <a:custGeom>
            <a:avLst/>
            <a:gdLst/>
            <a:ahLst/>
            <a:rect l="0" t="0" r="r" b="b"/>
            <a:pathLst>
              <a:path w="153" h="2795">
                <a:moveTo>
                  <a:pt x="0" y="0"/>
                </a:moveTo>
                <a:lnTo>
                  <a:pt x="153" y="0"/>
                </a:lnTo>
                <a:lnTo>
                  <a:pt x="153" y="2795"/>
                </a:lnTo>
                <a:lnTo>
                  <a:pt x="0" y="2795"/>
                </a:lnTo>
                <a:lnTo>
                  <a:pt x="0" y="0"/>
                </a:lnTo>
                <a:close/>
              </a:path>
            </a:pathLst>
          </a:custGeom>
          <a:solidFill>
            <a:srgbClr val="2DCC7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159" name=""/>
          <p:cNvSpPr txBox="1"/>
          <p:nvPr/>
        </p:nvSpPr>
        <p:spPr>
          <a:xfrm>
            <a:off x="5852160" y="2807280"/>
            <a:ext cx="5806440" cy="292680"/>
          </a:xfrm>
          <a:prstGeom prst="rect">
            <a:avLst/>
          </a:prstGeom>
          <a:noFill/>
          <a:ln w="0">
            <a:noFill/>
          </a:ln>
        </p:spPr>
        <p:txBody>
          <a:bodyPr lIns="90000" tIns="45000" rIns="90000" bIns="45000" anchor="t">
            <a:spAutoFit/>
          </a:bodyPr>
          <a:p>
            <a:r>
              <a:rPr lang="en-US" sz="1300" b="1" u="none" strike="noStrike">
                <a:solidFill>
                  <a:srgbClr val="2DCC70"/>
                </a:solidFill>
                <a:effectLst/>
                <a:uFillTx/>
                <a:latin typeface="Calibri-Bold"/>
                <a:ea typeface="Calibri-Bold"/>
              </a:rPr>
              <a:t>Ligne électrique</a:t>
            </a:r>
            <a:endParaRPr lang="en-US" sz="1300" b="0" u="none" strike="noStrike">
              <a:solidFill>
                <a:srgbClr val="000000"/>
              </a:solidFill>
              <a:effectLst/>
              <a:uFillTx/>
              <a:latin typeface="Arial"/>
            </a:endParaRPr>
          </a:p>
        </p:txBody>
      </p:sp>
      <p:sp>
        <p:nvSpPr>
          <p:cNvPr id="160" name=""/>
          <p:cNvSpPr txBox="1"/>
          <p:nvPr/>
        </p:nvSpPr>
        <p:spPr>
          <a:xfrm>
            <a:off x="5852160" y="3090600"/>
            <a:ext cx="5806440" cy="594360"/>
          </a:xfrm>
          <a:prstGeom prst="rect">
            <a:avLst/>
          </a:prstGeom>
          <a:noFill/>
          <a:ln w="0">
            <a:noFill/>
          </a:ln>
        </p:spPr>
        <p:txBody>
          <a:bodyPr lIns="90000" tIns="45000" rIns="90000" bIns="45000" anchor="t">
            <a:spAutoFit/>
          </a:bodyPr>
          <a:p>
            <a:r>
              <a:rPr lang="en-US" sz="1200" b="0" u="none" strike="noStrike">
                <a:solidFill>
                  <a:srgbClr val="CCCCCC"/>
                </a:solidFill>
                <a:effectLst/>
                <a:uFillTx/>
                <a:latin typeface="Calibri"/>
                <a:ea typeface="Calibri"/>
              </a:rPr>
              <a:t>= </a:t>
            </a:r>
            <a:r>
              <a:rPr lang="en-US" sz="1200" b="0" u="none" strike="noStrike">
                <a:solidFill>
                  <a:srgbClr val="CCCCCC"/>
                </a:solidFill>
                <a:effectLst/>
                <a:uFillTx/>
                <a:latin typeface="Calibri"/>
                <a:ea typeface="Calibri"/>
              </a:rPr>
              <a:t>un câble entre deux bus. A une capacité maximale en MW. L'électricité peut circuler dans les deux sens</a:t>
            </a:r>
            <a:r>
              <a:rPr lang="en-US" sz="1200" b="0" u="none" strike="noStrike">
                <a:solidFill>
                  <a:srgbClr val="CCCCCC"/>
                </a:solidFill>
                <a:effectLst/>
                <a:uFillTx/>
                <a:latin typeface="Calibri"/>
                <a:ea typeface="Calibri"/>
              </a:rPr>
              <a:t>.</a:t>
            </a:r>
            <a:endParaRPr lang="en-US" sz="1200" b="0" u="none" strike="noStrike">
              <a:solidFill>
                <a:srgbClr val="000000"/>
              </a:solidFill>
              <a:effectLst/>
              <a:uFillTx/>
              <a:latin typeface="Arial"/>
            </a:endParaRPr>
          </a:p>
        </p:txBody>
      </p:sp>
      <p:sp>
        <p:nvSpPr>
          <p:cNvPr id="161" name=""/>
          <p:cNvSpPr/>
          <p:nvPr/>
        </p:nvSpPr>
        <p:spPr>
          <a:xfrm>
            <a:off x="5669280" y="3858840"/>
            <a:ext cx="55080" cy="1006200"/>
          </a:xfrm>
          <a:custGeom>
            <a:avLst/>
            <a:gdLst/>
            <a:ahLst/>
            <a:rect l="0" t="0" r="r" b="b"/>
            <a:pathLst>
              <a:path w="153" h="2795">
                <a:moveTo>
                  <a:pt x="0" y="0"/>
                </a:moveTo>
                <a:lnTo>
                  <a:pt x="153" y="0"/>
                </a:lnTo>
                <a:lnTo>
                  <a:pt x="153" y="2795"/>
                </a:lnTo>
                <a:lnTo>
                  <a:pt x="0" y="2795"/>
                </a:lnTo>
                <a:lnTo>
                  <a:pt x="0" y="0"/>
                </a:lnTo>
                <a:close/>
              </a:path>
            </a:pathLst>
          </a:custGeom>
          <a:solidFill>
            <a:srgbClr val="F39C11"/>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162" name=""/>
          <p:cNvSpPr txBox="1"/>
          <p:nvPr/>
        </p:nvSpPr>
        <p:spPr>
          <a:xfrm>
            <a:off x="5852160" y="3904560"/>
            <a:ext cx="5806440" cy="292680"/>
          </a:xfrm>
          <a:prstGeom prst="rect">
            <a:avLst/>
          </a:prstGeom>
          <a:noFill/>
          <a:ln w="0">
            <a:noFill/>
          </a:ln>
        </p:spPr>
        <p:txBody>
          <a:bodyPr lIns="90000" tIns="45000" rIns="90000" bIns="45000" anchor="t">
            <a:spAutoFit/>
          </a:bodyPr>
          <a:p>
            <a:r>
              <a:rPr lang="en-US" sz="1300" b="1" u="none" strike="noStrike">
                <a:solidFill>
                  <a:srgbClr val="F39C11"/>
                </a:solidFill>
                <a:effectLst/>
                <a:uFillTx/>
                <a:latin typeface="Calibri-Bold"/>
                <a:ea typeface="Calibri-Bold"/>
              </a:rPr>
              <a:t>Générateur</a:t>
            </a:r>
            <a:endParaRPr lang="en-US" sz="1300" b="0" u="none" strike="noStrike">
              <a:solidFill>
                <a:srgbClr val="000000"/>
              </a:solidFill>
              <a:effectLst/>
              <a:uFillTx/>
              <a:latin typeface="Arial"/>
            </a:endParaRPr>
          </a:p>
        </p:txBody>
      </p:sp>
      <p:sp>
        <p:nvSpPr>
          <p:cNvPr id="163" name=""/>
          <p:cNvSpPr txBox="1"/>
          <p:nvPr/>
        </p:nvSpPr>
        <p:spPr>
          <a:xfrm>
            <a:off x="5852160" y="4187880"/>
            <a:ext cx="5806440" cy="594360"/>
          </a:xfrm>
          <a:prstGeom prst="rect">
            <a:avLst/>
          </a:prstGeom>
          <a:noFill/>
          <a:ln w="0">
            <a:noFill/>
          </a:ln>
        </p:spPr>
        <p:txBody>
          <a:bodyPr lIns="90000" tIns="45000" rIns="90000" bIns="45000" anchor="t">
            <a:spAutoFit/>
          </a:bodyPr>
          <a:p>
            <a:r>
              <a:rPr lang="en-US" sz="1200" b="0" u="none" strike="noStrike">
                <a:solidFill>
                  <a:srgbClr val="CCCCCC"/>
                </a:solidFill>
                <a:effectLst/>
                <a:uFillTx/>
                <a:latin typeface="Calibri"/>
                <a:ea typeface="Calibri"/>
              </a:rPr>
              <a:t>= </a:t>
            </a:r>
            <a:r>
              <a:rPr lang="en-US" sz="1200" b="0" u="none" strike="noStrike">
                <a:solidFill>
                  <a:srgbClr val="CCCCCC"/>
                </a:solidFill>
                <a:effectLst/>
                <a:uFillTx/>
                <a:latin typeface="Calibri"/>
                <a:ea typeface="Calibri"/>
              </a:rPr>
              <a:t>une centrale. A une puissance min/max et un coût (en $/MWh). Elle est soit ON (produit entre p_min et p_max), soit OFF</a:t>
            </a:r>
            <a:r>
              <a:rPr lang="en-US" sz="1200" b="0" u="none" strike="noStrike">
                <a:solidFill>
                  <a:srgbClr val="CCCCCC"/>
                </a:solidFill>
                <a:effectLst/>
                <a:uFillTx/>
                <a:latin typeface="Calibri"/>
                <a:ea typeface="Calibri"/>
              </a:rPr>
              <a:t>.</a:t>
            </a:r>
            <a:endParaRPr lang="en-US" sz="1200" b="0" u="none" strike="noStrike">
              <a:solidFill>
                <a:srgbClr val="000000"/>
              </a:solidFill>
              <a:effectLst/>
              <a:uFillTx/>
              <a:latin typeface="Arial"/>
            </a:endParaRPr>
          </a:p>
        </p:txBody>
      </p:sp>
      <p:sp>
        <p:nvSpPr>
          <p:cNvPr id="164" name=""/>
          <p:cNvSpPr/>
          <p:nvPr/>
        </p:nvSpPr>
        <p:spPr>
          <a:xfrm>
            <a:off x="5669280" y="4956120"/>
            <a:ext cx="55080" cy="1006200"/>
          </a:xfrm>
          <a:custGeom>
            <a:avLst/>
            <a:gdLst/>
            <a:ahLst/>
            <a:rect l="0" t="0" r="r" b="b"/>
            <a:pathLst>
              <a:path w="153" h="2795">
                <a:moveTo>
                  <a:pt x="0" y="0"/>
                </a:moveTo>
                <a:lnTo>
                  <a:pt x="153" y="0"/>
                </a:lnTo>
                <a:lnTo>
                  <a:pt x="153" y="2795"/>
                </a:lnTo>
                <a:lnTo>
                  <a:pt x="0" y="2795"/>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65" name=""/>
          <p:cNvSpPr txBox="1"/>
          <p:nvPr/>
        </p:nvSpPr>
        <p:spPr>
          <a:xfrm>
            <a:off x="5852160" y="5001840"/>
            <a:ext cx="5806440" cy="292680"/>
          </a:xfrm>
          <a:prstGeom prst="rect">
            <a:avLst/>
          </a:prstGeom>
          <a:noFill/>
          <a:ln w="0">
            <a:noFill/>
          </a:ln>
        </p:spPr>
        <p:txBody>
          <a:bodyPr lIns="90000" tIns="45000" rIns="90000" bIns="45000" anchor="t">
            <a:spAutoFit/>
          </a:bodyPr>
          <a:p>
            <a:r>
              <a:rPr lang="en-US" sz="1300" b="1" u="none" strike="noStrike">
                <a:solidFill>
                  <a:srgbClr val="E86916"/>
                </a:solidFill>
                <a:effectLst/>
                <a:uFillTx/>
                <a:latin typeface="Calibri-Bold"/>
                <a:ea typeface="Calibri-Bold"/>
              </a:rPr>
              <a:t>Variable ON/OFF : u[g] ∈ {0, 1}</a:t>
            </a:r>
            <a:endParaRPr lang="en-US" sz="1300" b="0" u="none" strike="noStrike">
              <a:solidFill>
                <a:srgbClr val="000000"/>
              </a:solidFill>
              <a:effectLst/>
              <a:uFillTx/>
              <a:latin typeface="Arial"/>
            </a:endParaRPr>
          </a:p>
        </p:txBody>
      </p:sp>
      <p:sp>
        <p:nvSpPr>
          <p:cNvPr id="166" name=""/>
          <p:cNvSpPr txBox="1"/>
          <p:nvPr/>
        </p:nvSpPr>
        <p:spPr>
          <a:xfrm>
            <a:off x="5852160" y="5285160"/>
            <a:ext cx="5806440" cy="594360"/>
          </a:xfrm>
          <a:prstGeom prst="rect">
            <a:avLst/>
          </a:prstGeom>
          <a:noFill/>
          <a:ln w="0">
            <a:noFill/>
          </a:ln>
        </p:spPr>
        <p:txBody>
          <a:bodyPr lIns="90000" tIns="45000" rIns="90000" bIns="45000" anchor="t">
            <a:spAutoFit/>
          </a:bodyPr>
          <a:p>
            <a:r>
              <a:rPr lang="en-US" sz="1200" b="0" u="none" strike="noStrike">
                <a:solidFill>
                  <a:srgbClr val="CCCCCC"/>
                </a:solidFill>
                <a:effectLst/>
                <a:uFillTx/>
                <a:latin typeface="Calibri"/>
                <a:ea typeface="Calibri"/>
              </a:rPr>
              <a:t>C'est la variable binaire CP-SAT : 1 = la centrale tourne, 0 = elle est éteinte. Quand u=0, la puissance est forcée à 0</a:t>
            </a:r>
            <a:r>
              <a:rPr lang="en-US" sz="1200" b="0" u="none" strike="noStrike">
                <a:solidFill>
                  <a:srgbClr val="CCCCCC"/>
                </a:solidFill>
                <a:effectLst/>
                <a:uFillTx/>
                <a:latin typeface="Calibri"/>
                <a:ea typeface="Calibri"/>
              </a:rPr>
              <a: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7"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68"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169"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170" name=""/>
          <p:cNvSpPr/>
          <p:nvPr/>
        </p:nvSpPr>
        <p:spPr>
          <a:xfrm>
            <a:off x="457200" y="155520"/>
            <a:ext cx="2926440" cy="293040"/>
          </a:xfrm>
          <a:custGeom>
            <a:avLst/>
            <a:gdLst/>
            <a:ahLst/>
            <a:rect l="0" t="0" r="r" b="b"/>
            <a:pathLst>
              <a:path w="8129" h="814">
                <a:moveTo>
                  <a:pt x="0" y="0"/>
                </a:moveTo>
                <a:lnTo>
                  <a:pt x="8129" y="0"/>
                </a:lnTo>
                <a:lnTo>
                  <a:pt x="8129" y="814"/>
                </a:lnTo>
                <a:lnTo>
                  <a:pt x="0" y="81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71" name=""/>
          <p:cNvSpPr txBox="1"/>
          <p:nvPr/>
        </p:nvSpPr>
        <p:spPr>
          <a:xfrm>
            <a:off x="502920" y="155520"/>
            <a:ext cx="2834640" cy="292680"/>
          </a:xfrm>
          <a:prstGeom prst="rect">
            <a:avLst/>
          </a:prstGeom>
          <a:noFill/>
          <a:ln w="0">
            <a:noFill/>
          </a:ln>
        </p:spPr>
        <p:txBody>
          <a:bodyPr lIns="90000" tIns="45000" rIns="90000" bIns="45000" anchor="t">
            <a:spAutoFit/>
          </a:bodyPr>
          <a:p>
            <a:pPr algn="ctr" rtl="1"/>
            <a:r>
              <a:rPr lang="en-US" sz="1000" b="1" u="none" strike="noStrike">
                <a:solidFill>
                  <a:srgbClr val="FFFFFF"/>
                </a:solidFill>
                <a:effectLst/>
                <a:uFillTx/>
                <a:latin typeface="Calibri-Bold"/>
                <a:ea typeface="Calibri-Bold"/>
              </a:rPr>
              <a:t>03</a:t>
            </a:r>
            <a:r>
              <a:rPr lang="en-US" sz="1000" b="1" u="none" strike="noStrike">
                <a:solidFill>
                  <a:srgbClr val="FFFFFF"/>
                </a:solidFill>
                <a:effectLst/>
                <a:uFillTx/>
                <a:latin typeface="Calibri-Bold"/>
                <a:ea typeface="Calibri-Bold"/>
              </a:rPr>
              <a:t> · </a:t>
            </a:r>
            <a:r>
              <a:rPr lang="en-US" sz="1000" b="1" u="none" strike="noStrike">
                <a:solidFill>
                  <a:srgbClr val="FFFFFF"/>
                </a:solidFill>
                <a:effectLst/>
                <a:uFillTx/>
                <a:latin typeface="Calibri-Bold"/>
                <a:ea typeface="Calibri-Bold"/>
              </a:rPr>
              <a:t>CONTRAINTES PHYSIQUES</a:t>
            </a:r>
            <a:endParaRPr lang="en-US" sz="1000" b="0" u="none" strike="noStrike">
              <a:solidFill>
                <a:srgbClr val="000000"/>
              </a:solidFill>
              <a:effectLst/>
              <a:uFillTx/>
              <a:latin typeface="Arial"/>
            </a:endParaRPr>
          </a:p>
        </p:txBody>
      </p:sp>
      <p:sp>
        <p:nvSpPr>
          <p:cNvPr id="172" name=""/>
          <p:cNvSpPr txBox="1"/>
          <p:nvPr/>
        </p:nvSpPr>
        <p:spPr>
          <a:xfrm>
            <a:off x="502920" y="530280"/>
            <a:ext cx="11612880" cy="594360"/>
          </a:xfrm>
          <a:prstGeom prst="rect">
            <a:avLst/>
          </a:prstGeom>
          <a:noFill/>
          <a:ln w="0">
            <a:noFill/>
          </a:ln>
        </p:spPr>
        <p:txBody>
          <a:bodyPr lIns="90000" tIns="45000" rIns="90000" bIns="45000" anchor="t">
            <a:spAutoFit/>
          </a:bodyPr>
          <a:p>
            <a:r>
              <a:rPr lang="en-US" sz="2600" b="1" u="none" strike="noStrike">
                <a:solidFill>
                  <a:srgbClr val="FFFFFF"/>
                </a:solidFill>
                <a:effectLst/>
                <a:uFillTx/>
                <a:latin typeface="Calibri-Bold"/>
                <a:ea typeface="Calibri-Bold"/>
              </a:rPr>
              <a:t>Les règles que le solveur DOIT respecter</a:t>
            </a:r>
            <a:endParaRPr lang="en-US" sz="2600" b="0" u="none" strike="noStrike">
              <a:solidFill>
                <a:srgbClr val="000000"/>
              </a:solidFill>
              <a:effectLst/>
              <a:uFillTx/>
              <a:latin typeface="Arial"/>
            </a:endParaRPr>
          </a:p>
        </p:txBody>
      </p:sp>
      <p:sp>
        <p:nvSpPr>
          <p:cNvPr id="173" name=""/>
          <p:cNvSpPr/>
          <p:nvPr/>
        </p:nvSpPr>
        <p:spPr>
          <a:xfrm>
            <a:off x="365760" y="1188720"/>
            <a:ext cx="11430360" cy="1280520"/>
          </a:xfrm>
          <a:custGeom>
            <a:avLst/>
            <a:gdLst/>
            <a:ahLst/>
            <a:rect l="0" t="0" r="r" b="b"/>
            <a:pathLst>
              <a:path w="31751" h="3557">
                <a:moveTo>
                  <a:pt x="0" y="0"/>
                </a:moveTo>
                <a:lnTo>
                  <a:pt x="31751" y="0"/>
                </a:lnTo>
                <a:lnTo>
                  <a:pt x="31751" y="3557"/>
                </a:lnTo>
                <a:lnTo>
                  <a:pt x="0" y="3557"/>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74" name=""/>
          <p:cNvSpPr/>
          <p:nvPr/>
        </p:nvSpPr>
        <p:spPr>
          <a:xfrm>
            <a:off x="365760" y="1188720"/>
            <a:ext cx="55080" cy="1280520"/>
          </a:xfrm>
          <a:custGeom>
            <a:avLst/>
            <a:gdLst/>
            <a:ahLst/>
            <a:rect l="0" t="0" r="r" b="b"/>
            <a:pathLst>
              <a:path w="153" h="3557">
                <a:moveTo>
                  <a:pt x="0" y="0"/>
                </a:moveTo>
                <a:lnTo>
                  <a:pt x="153" y="0"/>
                </a:lnTo>
                <a:lnTo>
                  <a:pt x="153" y="3557"/>
                </a:lnTo>
                <a:lnTo>
                  <a:pt x="0" y="3557"/>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175" name=""/>
          <p:cNvSpPr txBox="1"/>
          <p:nvPr/>
        </p:nvSpPr>
        <p:spPr>
          <a:xfrm>
            <a:off x="594360" y="1234440"/>
            <a:ext cx="11064240" cy="292680"/>
          </a:xfrm>
          <a:prstGeom prst="rect">
            <a:avLst/>
          </a:prstGeom>
          <a:noFill/>
          <a:ln w="0">
            <a:noFill/>
          </a:ln>
        </p:spPr>
        <p:txBody>
          <a:bodyPr lIns="90000" tIns="45000" rIns="90000" bIns="45000" anchor="t">
            <a:spAutoFit/>
          </a:bodyPr>
          <a:p>
            <a:r>
              <a:rPr lang="en-US" sz="1300" b="1" u="none" strike="noStrike">
                <a:solidFill>
                  <a:srgbClr val="00B4D8"/>
                </a:solidFill>
                <a:effectLst/>
                <a:uFillTx/>
                <a:latin typeface="Calibri-Bold"/>
                <a:ea typeface="Calibri-Bold"/>
              </a:rPr>
              <a:t>Équilibre à chaque nœud  (la règle fondamentale)</a:t>
            </a:r>
            <a:endParaRPr lang="en-US" sz="1300" b="0" u="none" strike="noStrike">
              <a:solidFill>
                <a:srgbClr val="000000"/>
              </a:solidFill>
              <a:effectLst/>
              <a:uFillTx/>
              <a:latin typeface="Arial"/>
            </a:endParaRPr>
          </a:p>
        </p:txBody>
      </p:sp>
      <p:sp>
        <p:nvSpPr>
          <p:cNvPr id="176" name=""/>
          <p:cNvSpPr txBox="1"/>
          <p:nvPr/>
        </p:nvSpPr>
        <p:spPr>
          <a:xfrm>
            <a:off x="594360" y="1499760"/>
            <a:ext cx="6766560" cy="297720"/>
          </a:xfrm>
          <a:prstGeom prst="rect">
            <a:avLst/>
          </a:prstGeom>
          <a:noFill/>
          <a:ln w="0">
            <a:noFill/>
          </a:ln>
        </p:spPr>
        <p:txBody>
          <a:bodyPr lIns="90000" tIns="45000" rIns="90000" bIns="45000" anchor="t">
            <a:spAutoFit/>
          </a:bodyPr>
          <a:p>
            <a:r>
              <a:rPr lang="en-US" sz="1200" b="0" i="1" u="none" strike="noStrike">
                <a:solidFill>
                  <a:srgbClr val="CCCCCC"/>
                </a:solidFill>
                <a:effectLst/>
                <a:uFillTx/>
                <a:latin typeface="Calibri-Italic"/>
                <a:ea typeface="Calibri-Italic"/>
              </a:rPr>
              <a:t>Tout ce qui entre dans un bus = tout ce qui en sort. Toujours. À chaque instant</a:t>
            </a:r>
            <a:r>
              <a:rPr lang="en-US" sz="1200" b="0" i="1" u="none" strike="noStrike">
                <a:solidFill>
                  <a:srgbClr val="CCCCCC"/>
                </a:solidFill>
                <a:effectLst/>
                <a:uFillTx/>
                <a:latin typeface="Calibri-Italic"/>
                <a:ea typeface="Calibri-Italic"/>
              </a:rPr>
              <a:t>.</a:t>
            </a:r>
            <a:endParaRPr lang="en-US" sz="1200" b="0" u="none" strike="noStrike">
              <a:solidFill>
                <a:srgbClr val="000000"/>
              </a:solidFill>
              <a:effectLst/>
              <a:uFillTx/>
              <a:latin typeface="Arial"/>
            </a:endParaRPr>
          </a:p>
        </p:txBody>
      </p:sp>
      <p:sp>
        <p:nvSpPr>
          <p:cNvPr id="177" name=""/>
          <p:cNvSpPr/>
          <p:nvPr/>
        </p:nvSpPr>
        <p:spPr>
          <a:xfrm>
            <a:off x="7589520" y="1243440"/>
            <a:ext cx="4115160" cy="549000"/>
          </a:xfrm>
          <a:custGeom>
            <a:avLst/>
            <a:gdLst/>
            <a:ahLst/>
            <a:rect l="0" t="0" r="r" b="b"/>
            <a:pathLst>
              <a:path w="11431" h="1525">
                <a:moveTo>
                  <a:pt x="0" y="0"/>
                </a:moveTo>
                <a:lnTo>
                  <a:pt x="11431" y="0"/>
                </a:lnTo>
                <a:lnTo>
                  <a:pt x="11431" y="1525"/>
                </a:lnTo>
                <a:lnTo>
                  <a:pt x="0" y="1525"/>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78" name=""/>
          <p:cNvSpPr txBox="1"/>
          <p:nvPr/>
        </p:nvSpPr>
        <p:spPr>
          <a:xfrm>
            <a:off x="7726680" y="1298520"/>
            <a:ext cx="3840480" cy="502920"/>
          </a:xfrm>
          <a:prstGeom prst="rect">
            <a:avLst/>
          </a:prstGeom>
          <a:noFill/>
          <a:ln w="0">
            <a:noFill/>
          </a:ln>
        </p:spPr>
        <p:txBody>
          <a:bodyPr lIns="90000" tIns="45000" rIns="90000" bIns="45000" anchor="t">
            <a:spAutoFit/>
          </a:bodyPr>
          <a:p>
            <a:r>
              <a:rPr lang="en-US" sz="1100" b="0" i="1" u="none" strike="noStrike">
                <a:solidFill>
                  <a:srgbClr val="2DCC70"/>
                </a:solidFill>
                <a:effectLst/>
                <a:uFillTx/>
                <a:latin typeface="Calibri-Italic"/>
                <a:ea typeface="Calibri-Italic"/>
              </a:rPr>
              <a:t>production_locale + flux_entrants  =  consommation + flux_sortants</a:t>
            </a:r>
            <a:endParaRPr lang="en-US" sz="1100" b="0" u="none" strike="noStrike">
              <a:solidFill>
                <a:srgbClr val="000000"/>
              </a:solidFill>
              <a:effectLst/>
              <a:uFillTx/>
              <a:latin typeface="Arial"/>
            </a:endParaRPr>
          </a:p>
        </p:txBody>
      </p:sp>
      <p:sp>
        <p:nvSpPr>
          <p:cNvPr id="179" name=""/>
          <p:cNvSpPr txBox="1"/>
          <p:nvPr/>
        </p:nvSpPr>
        <p:spPr>
          <a:xfrm>
            <a:off x="594360" y="1783080"/>
            <a:ext cx="11064240" cy="59436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Si une ville consomme 200 MW, les centrales locales + les lignes doivent fournir exactement 200 MW. Pas 199, pas 201</a:t>
            </a:r>
            <a:r>
              <a:rPr lang="en-US" sz="1200" b="0" u="none" strike="noStrike">
                <a:solidFill>
                  <a:srgbClr val="FFFFFF"/>
                </a:solidFill>
                <a:effectLst/>
                <a:uFillTx/>
                <a:latin typeface="Calibri"/>
                <a:ea typeface="Calibri"/>
              </a:rPr>
              <a:t>.</a:t>
            </a:r>
            <a:endParaRPr lang="en-US" sz="1200" b="0" u="none" strike="noStrike">
              <a:solidFill>
                <a:srgbClr val="000000"/>
              </a:solidFill>
              <a:effectLst/>
              <a:uFillTx/>
              <a:latin typeface="Arial"/>
            </a:endParaRPr>
          </a:p>
        </p:txBody>
      </p:sp>
      <p:sp>
        <p:nvSpPr>
          <p:cNvPr id="180" name=""/>
          <p:cNvSpPr/>
          <p:nvPr/>
        </p:nvSpPr>
        <p:spPr>
          <a:xfrm>
            <a:off x="365760" y="2560320"/>
            <a:ext cx="11430360" cy="1280520"/>
          </a:xfrm>
          <a:custGeom>
            <a:avLst/>
            <a:gdLst/>
            <a:ahLst/>
            <a:rect l="0" t="0" r="r" b="b"/>
            <a:pathLst>
              <a:path w="31751" h="3557">
                <a:moveTo>
                  <a:pt x="0" y="0"/>
                </a:moveTo>
                <a:lnTo>
                  <a:pt x="31751" y="0"/>
                </a:lnTo>
                <a:lnTo>
                  <a:pt x="31751" y="3557"/>
                </a:lnTo>
                <a:lnTo>
                  <a:pt x="0" y="3557"/>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81" name=""/>
          <p:cNvSpPr/>
          <p:nvPr/>
        </p:nvSpPr>
        <p:spPr>
          <a:xfrm>
            <a:off x="365760" y="2560320"/>
            <a:ext cx="55080" cy="1280520"/>
          </a:xfrm>
          <a:custGeom>
            <a:avLst/>
            <a:gdLst/>
            <a:ahLst/>
            <a:rect l="0" t="0" r="r" b="b"/>
            <a:pathLst>
              <a:path w="153" h="3557">
                <a:moveTo>
                  <a:pt x="0" y="0"/>
                </a:moveTo>
                <a:lnTo>
                  <a:pt x="153" y="0"/>
                </a:lnTo>
                <a:lnTo>
                  <a:pt x="153" y="3557"/>
                </a:lnTo>
                <a:lnTo>
                  <a:pt x="0" y="3557"/>
                </a:lnTo>
                <a:lnTo>
                  <a:pt x="0" y="0"/>
                </a:lnTo>
                <a:close/>
              </a:path>
            </a:pathLst>
          </a:custGeom>
          <a:solidFill>
            <a:srgbClr val="2DCC7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182" name=""/>
          <p:cNvSpPr txBox="1"/>
          <p:nvPr/>
        </p:nvSpPr>
        <p:spPr>
          <a:xfrm>
            <a:off x="594360" y="2606040"/>
            <a:ext cx="11064240" cy="292680"/>
          </a:xfrm>
          <a:prstGeom prst="rect">
            <a:avLst/>
          </a:prstGeom>
          <a:noFill/>
          <a:ln w="0">
            <a:noFill/>
          </a:ln>
        </p:spPr>
        <p:txBody>
          <a:bodyPr lIns="90000" tIns="45000" rIns="90000" bIns="45000" anchor="t">
            <a:spAutoFit/>
          </a:bodyPr>
          <a:p>
            <a:r>
              <a:rPr lang="en-US" sz="1300" b="1" u="none" strike="noStrike">
                <a:solidFill>
                  <a:srgbClr val="2DCC70"/>
                </a:solidFill>
                <a:effectLst/>
                <a:uFillTx/>
                <a:latin typeface="Calibri-Bold"/>
                <a:ea typeface="Calibri-Bold"/>
              </a:rPr>
              <a:t>Capacité des lignes  (pas de surcharge)</a:t>
            </a:r>
            <a:endParaRPr lang="en-US" sz="1300" b="0" u="none" strike="noStrike">
              <a:solidFill>
                <a:srgbClr val="000000"/>
              </a:solidFill>
              <a:effectLst/>
              <a:uFillTx/>
              <a:latin typeface="Arial"/>
            </a:endParaRPr>
          </a:p>
        </p:txBody>
      </p:sp>
      <p:sp>
        <p:nvSpPr>
          <p:cNvPr id="183" name=""/>
          <p:cNvSpPr txBox="1"/>
          <p:nvPr/>
        </p:nvSpPr>
        <p:spPr>
          <a:xfrm>
            <a:off x="594360" y="2871360"/>
            <a:ext cx="6766560" cy="297720"/>
          </a:xfrm>
          <a:prstGeom prst="rect">
            <a:avLst/>
          </a:prstGeom>
          <a:noFill/>
          <a:ln w="0">
            <a:noFill/>
          </a:ln>
        </p:spPr>
        <p:txBody>
          <a:bodyPr lIns="90000" tIns="45000" rIns="90000" bIns="45000" anchor="t">
            <a:spAutoFit/>
          </a:bodyPr>
          <a:p>
            <a:r>
              <a:rPr lang="en-US" sz="1200" b="0" i="1" u="none" strike="noStrike">
                <a:solidFill>
                  <a:srgbClr val="CCCCCC"/>
                </a:solidFill>
                <a:effectLst/>
                <a:uFillTx/>
                <a:latin typeface="Calibri-Italic"/>
                <a:ea typeface="Calibri-Italic"/>
              </a:rPr>
              <a:t>Chaque câble a une capacité max. On ne peut pas y faire passer plus</a:t>
            </a:r>
            <a:r>
              <a:rPr lang="en-US" sz="1200" b="0" i="1" u="none" strike="noStrike">
                <a:solidFill>
                  <a:srgbClr val="CCCCCC"/>
                </a:solidFill>
                <a:effectLst/>
                <a:uFillTx/>
                <a:latin typeface="Calibri-Italic"/>
                <a:ea typeface="Calibri-Italic"/>
              </a:rPr>
              <a:t>.</a:t>
            </a:r>
            <a:endParaRPr lang="en-US" sz="1200" b="0" u="none" strike="noStrike">
              <a:solidFill>
                <a:srgbClr val="000000"/>
              </a:solidFill>
              <a:effectLst/>
              <a:uFillTx/>
              <a:latin typeface="Arial"/>
            </a:endParaRPr>
          </a:p>
        </p:txBody>
      </p:sp>
      <p:sp>
        <p:nvSpPr>
          <p:cNvPr id="184" name=""/>
          <p:cNvSpPr/>
          <p:nvPr/>
        </p:nvSpPr>
        <p:spPr>
          <a:xfrm>
            <a:off x="7589520" y="2615040"/>
            <a:ext cx="4115160" cy="549000"/>
          </a:xfrm>
          <a:custGeom>
            <a:avLst/>
            <a:gdLst/>
            <a:ahLst/>
            <a:rect l="0" t="0" r="r" b="b"/>
            <a:pathLst>
              <a:path w="11431" h="1525">
                <a:moveTo>
                  <a:pt x="0" y="0"/>
                </a:moveTo>
                <a:lnTo>
                  <a:pt x="11431" y="0"/>
                </a:lnTo>
                <a:lnTo>
                  <a:pt x="11431" y="1525"/>
                </a:lnTo>
                <a:lnTo>
                  <a:pt x="0" y="1525"/>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85" name=""/>
          <p:cNvSpPr txBox="1"/>
          <p:nvPr/>
        </p:nvSpPr>
        <p:spPr>
          <a:xfrm>
            <a:off x="7726680" y="2670120"/>
            <a:ext cx="3840480" cy="502920"/>
          </a:xfrm>
          <a:prstGeom prst="rect">
            <a:avLst/>
          </a:prstGeom>
          <a:noFill/>
          <a:ln w="0">
            <a:noFill/>
          </a:ln>
        </p:spPr>
        <p:txBody>
          <a:bodyPr lIns="90000" tIns="45000" rIns="90000" bIns="45000" anchor="t">
            <a:spAutoFit/>
          </a:bodyPr>
          <a:p>
            <a:r>
              <a:rPr lang="en-US" sz="1100" b="0" i="1" u="none" strike="noStrike">
                <a:solidFill>
                  <a:srgbClr val="2DCC70"/>
                </a:solidFill>
                <a:effectLst/>
                <a:uFillTx/>
                <a:latin typeface="Calibri-Italic"/>
                <a:ea typeface="Calibri-Italic"/>
              </a:rPr>
              <a:t>|</a:t>
            </a:r>
            <a:r>
              <a:rPr lang="en-US" sz="1100" b="0" i="1" u="none" strike="noStrike">
                <a:solidFill>
                  <a:srgbClr val="2DCC70"/>
                </a:solidFill>
                <a:effectLst/>
                <a:uFillTx/>
                <a:latin typeface="Calibri-Italic"/>
                <a:ea typeface="Calibri-Italic"/>
              </a:rPr>
              <a:t>flux sur la ligne L|  ≤  capacité_max(L)</a:t>
            </a:r>
            <a:endParaRPr lang="en-US" sz="1100" b="0" u="none" strike="noStrike">
              <a:solidFill>
                <a:srgbClr val="000000"/>
              </a:solidFill>
              <a:effectLst/>
              <a:uFillTx/>
              <a:latin typeface="Arial"/>
            </a:endParaRPr>
          </a:p>
        </p:txBody>
      </p:sp>
      <p:sp>
        <p:nvSpPr>
          <p:cNvPr id="186" name=""/>
          <p:cNvSpPr txBox="1"/>
          <p:nvPr/>
        </p:nvSpPr>
        <p:spPr>
          <a:xfrm>
            <a:off x="594360" y="3154680"/>
            <a:ext cx="11064240" cy="59436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Comme une autoroute : si elle est pleine, les voitures (l'électricité) doivent prendre une déviation</a:t>
            </a:r>
            <a:r>
              <a:rPr lang="en-US" sz="1200" b="0" u="none" strike="noStrike">
                <a:solidFill>
                  <a:srgbClr val="FFFFFF"/>
                </a:solidFill>
                <a:effectLst/>
                <a:uFillTx/>
                <a:latin typeface="Calibri"/>
                <a:ea typeface="Calibri"/>
              </a:rPr>
              <a:t>.</a:t>
            </a:r>
            <a:endParaRPr lang="en-US" sz="1200" b="0" u="none" strike="noStrike">
              <a:solidFill>
                <a:srgbClr val="000000"/>
              </a:solidFill>
              <a:effectLst/>
              <a:uFillTx/>
              <a:latin typeface="Arial"/>
            </a:endParaRPr>
          </a:p>
        </p:txBody>
      </p:sp>
      <p:sp>
        <p:nvSpPr>
          <p:cNvPr id="187" name=""/>
          <p:cNvSpPr/>
          <p:nvPr/>
        </p:nvSpPr>
        <p:spPr>
          <a:xfrm>
            <a:off x="365760" y="3931920"/>
            <a:ext cx="11430360" cy="1280520"/>
          </a:xfrm>
          <a:custGeom>
            <a:avLst/>
            <a:gdLst/>
            <a:ahLst/>
            <a:rect l="0" t="0" r="r" b="b"/>
            <a:pathLst>
              <a:path w="31751" h="3557">
                <a:moveTo>
                  <a:pt x="0" y="0"/>
                </a:moveTo>
                <a:lnTo>
                  <a:pt x="31751" y="0"/>
                </a:lnTo>
                <a:lnTo>
                  <a:pt x="31751" y="3557"/>
                </a:lnTo>
                <a:lnTo>
                  <a:pt x="0" y="3557"/>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88" name=""/>
          <p:cNvSpPr/>
          <p:nvPr/>
        </p:nvSpPr>
        <p:spPr>
          <a:xfrm>
            <a:off x="365760" y="3931920"/>
            <a:ext cx="55080" cy="1280520"/>
          </a:xfrm>
          <a:custGeom>
            <a:avLst/>
            <a:gdLst/>
            <a:ahLst/>
            <a:rect l="0" t="0" r="r" b="b"/>
            <a:pathLst>
              <a:path w="153" h="3557">
                <a:moveTo>
                  <a:pt x="0" y="0"/>
                </a:moveTo>
                <a:lnTo>
                  <a:pt x="153" y="0"/>
                </a:lnTo>
                <a:lnTo>
                  <a:pt x="153" y="3557"/>
                </a:lnTo>
                <a:lnTo>
                  <a:pt x="0" y="3557"/>
                </a:lnTo>
                <a:lnTo>
                  <a:pt x="0" y="0"/>
                </a:lnTo>
                <a:close/>
              </a:path>
            </a:pathLst>
          </a:custGeom>
          <a:solidFill>
            <a:srgbClr val="F39C11"/>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189" name=""/>
          <p:cNvSpPr txBox="1"/>
          <p:nvPr/>
        </p:nvSpPr>
        <p:spPr>
          <a:xfrm>
            <a:off x="594360" y="3977640"/>
            <a:ext cx="11064240" cy="292680"/>
          </a:xfrm>
          <a:prstGeom prst="rect">
            <a:avLst/>
          </a:prstGeom>
          <a:noFill/>
          <a:ln w="0">
            <a:noFill/>
          </a:ln>
        </p:spPr>
        <p:txBody>
          <a:bodyPr lIns="90000" tIns="45000" rIns="90000" bIns="45000" anchor="t">
            <a:spAutoFit/>
          </a:bodyPr>
          <a:p>
            <a:r>
              <a:rPr lang="en-US" sz="1300" b="1" u="none" strike="noStrike">
                <a:solidFill>
                  <a:srgbClr val="F39C11"/>
                </a:solidFill>
                <a:effectLst/>
                <a:uFillTx/>
                <a:latin typeface="Calibri-Bold"/>
                <a:ea typeface="Calibri-Bold"/>
              </a:rPr>
              <a:t>Plage de fonctionnement  (une centrale ne peut pas produire n'importe quoi)</a:t>
            </a:r>
            <a:endParaRPr lang="en-US" sz="1300" b="0" u="none" strike="noStrike">
              <a:solidFill>
                <a:srgbClr val="000000"/>
              </a:solidFill>
              <a:effectLst/>
              <a:uFillTx/>
              <a:latin typeface="Arial"/>
            </a:endParaRPr>
          </a:p>
        </p:txBody>
      </p:sp>
      <p:sp>
        <p:nvSpPr>
          <p:cNvPr id="190" name=""/>
          <p:cNvSpPr txBox="1"/>
          <p:nvPr/>
        </p:nvSpPr>
        <p:spPr>
          <a:xfrm>
            <a:off x="594360" y="4242960"/>
            <a:ext cx="6766560" cy="297720"/>
          </a:xfrm>
          <a:prstGeom prst="rect">
            <a:avLst/>
          </a:prstGeom>
          <a:noFill/>
          <a:ln w="0">
            <a:noFill/>
          </a:ln>
        </p:spPr>
        <p:txBody>
          <a:bodyPr lIns="90000" tIns="45000" rIns="90000" bIns="45000" anchor="t">
            <a:spAutoFit/>
          </a:bodyPr>
          <a:p>
            <a:r>
              <a:rPr lang="en-US" sz="1200" b="0" i="1" u="none" strike="noStrike">
                <a:solidFill>
                  <a:srgbClr val="CCCCCC"/>
                </a:solidFill>
                <a:effectLst/>
                <a:uFillTx/>
                <a:latin typeface="Calibri-Italic"/>
                <a:ea typeface="Calibri-Italic"/>
              </a:rPr>
              <a:t>Quand une centrale est allumée, elle produit au minimum p_min (pas rentable en dessous)</a:t>
            </a:r>
            <a:r>
              <a:rPr lang="en-US" sz="1200" b="0" i="1" u="none" strike="noStrike">
                <a:solidFill>
                  <a:srgbClr val="CCCCCC"/>
                </a:solidFill>
                <a:effectLst/>
                <a:uFillTx/>
                <a:latin typeface="Calibri-Italic"/>
                <a:ea typeface="Calibri-Italic"/>
              </a:rPr>
              <a:t>.</a:t>
            </a:r>
            <a:endParaRPr lang="en-US" sz="1200" b="0" u="none" strike="noStrike">
              <a:solidFill>
                <a:srgbClr val="000000"/>
              </a:solidFill>
              <a:effectLst/>
              <a:uFillTx/>
              <a:latin typeface="Arial"/>
            </a:endParaRPr>
          </a:p>
        </p:txBody>
      </p:sp>
      <p:sp>
        <p:nvSpPr>
          <p:cNvPr id="191" name=""/>
          <p:cNvSpPr/>
          <p:nvPr/>
        </p:nvSpPr>
        <p:spPr>
          <a:xfrm>
            <a:off x="7589520" y="3986640"/>
            <a:ext cx="4115160" cy="549000"/>
          </a:xfrm>
          <a:custGeom>
            <a:avLst/>
            <a:gdLst/>
            <a:ahLst/>
            <a:rect l="0" t="0" r="r" b="b"/>
            <a:pathLst>
              <a:path w="11431" h="1525">
                <a:moveTo>
                  <a:pt x="0" y="0"/>
                </a:moveTo>
                <a:lnTo>
                  <a:pt x="11431" y="0"/>
                </a:lnTo>
                <a:lnTo>
                  <a:pt x="11431" y="1525"/>
                </a:lnTo>
                <a:lnTo>
                  <a:pt x="0" y="1525"/>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92" name=""/>
          <p:cNvSpPr txBox="1"/>
          <p:nvPr/>
        </p:nvSpPr>
        <p:spPr>
          <a:xfrm>
            <a:off x="7726680" y="4041720"/>
            <a:ext cx="3840480" cy="502920"/>
          </a:xfrm>
          <a:prstGeom prst="rect">
            <a:avLst/>
          </a:prstGeom>
          <a:noFill/>
          <a:ln w="0">
            <a:noFill/>
          </a:ln>
        </p:spPr>
        <p:txBody>
          <a:bodyPr lIns="90000" tIns="45000" rIns="90000" bIns="45000" anchor="t">
            <a:spAutoFit/>
          </a:bodyPr>
          <a:p>
            <a:r>
              <a:rPr lang="en-US" sz="1100" b="0" i="1" u="none" strike="noStrike">
                <a:solidFill>
                  <a:srgbClr val="2DCC70"/>
                </a:solidFill>
                <a:effectLst/>
                <a:uFillTx/>
                <a:latin typeface="Calibri-Italic"/>
                <a:ea typeface="Calibri-Italic"/>
              </a:rPr>
              <a:t>u[g] × p_min  ≤  P[g]  ≤  u[g] × p_max</a:t>
            </a:r>
            <a:endParaRPr lang="en-US" sz="1100" b="0" u="none" strike="noStrike">
              <a:solidFill>
                <a:srgbClr val="000000"/>
              </a:solidFill>
              <a:effectLst/>
              <a:uFillTx/>
              <a:latin typeface="Arial"/>
            </a:endParaRPr>
          </a:p>
        </p:txBody>
      </p:sp>
      <p:sp>
        <p:nvSpPr>
          <p:cNvPr id="193" name=""/>
          <p:cNvSpPr txBox="1"/>
          <p:nvPr/>
        </p:nvSpPr>
        <p:spPr>
          <a:xfrm>
            <a:off x="594360" y="4526280"/>
            <a:ext cx="11064240" cy="59436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Quand u=0 (éteinte) : P[g] = 0. Quand u=1 (allumée) : P[g] entre p_min et p_max</a:t>
            </a:r>
            <a:r>
              <a:rPr lang="en-US" sz="1200" b="0" u="none" strike="noStrike">
                <a:solidFill>
                  <a:srgbClr val="FFFFFF"/>
                </a:solidFill>
                <a:effectLst/>
                <a:uFillTx/>
                <a:latin typeface="Calibri"/>
                <a:ea typeface="Calibri"/>
              </a:rPr>
              <a:t>.</a:t>
            </a:r>
            <a:endParaRPr lang="en-US" sz="1200" b="0" u="none" strike="noStrike">
              <a:solidFill>
                <a:srgbClr val="000000"/>
              </a:solidFill>
              <a:effectLst/>
              <a:uFillTx/>
              <a:latin typeface="Arial"/>
            </a:endParaRPr>
          </a:p>
        </p:txBody>
      </p:sp>
      <p:sp>
        <p:nvSpPr>
          <p:cNvPr id="194" name=""/>
          <p:cNvSpPr/>
          <p:nvPr/>
        </p:nvSpPr>
        <p:spPr>
          <a:xfrm>
            <a:off x="365760" y="5303520"/>
            <a:ext cx="11430360" cy="1280520"/>
          </a:xfrm>
          <a:custGeom>
            <a:avLst/>
            <a:gdLst/>
            <a:ahLst/>
            <a:rect l="0" t="0" r="r" b="b"/>
            <a:pathLst>
              <a:path w="31751" h="3557">
                <a:moveTo>
                  <a:pt x="0" y="0"/>
                </a:moveTo>
                <a:lnTo>
                  <a:pt x="31751" y="0"/>
                </a:lnTo>
                <a:lnTo>
                  <a:pt x="31751" y="3557"/>
                </a:lnTo>
                <a:lnTo>
                  <a:pt x="0" y="3557"/>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95" name=""/>
          <p:cNvSpPr/>
          <p:nvPr/>
        </p:nvSpPr>
        <p:spPr>
          <a:xfrm>
            <a:off x="365760" y="5303520"/>
            <a:ext cx="55080" cy="1280520"/>
          </a:xfrm>
          <a:custGeom>
            <a:avLst/>
            <a:gdLst/>
            <a:ahLst/>
            <a:rect l="0" t="0" r="r" b="b"/>
            <a:pathLst>
              <a:path w="153" h="3557">
                <a:moveTo>
                  <a:pt x="0" y="0"/>
                </a:moveTo>
                <a:lnTo>
                  <a:pt x="153" y="0"/>
                </a:lnTo>
                <a:lnTo>
                  <a:pt x="153" y="3557"/>
                </a:lnTo>
                <a:lnTo>
                  <a:pt x="0" y="3557"/>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96" name=""/>
          <p:cNvSpPr txBox="1"/>
          <p:nvPr/>
        </p:nvSpPr>
        <p:spPr>
          <a:xfrm>
            <a:off x="594360" y="5349240"/>
            <a:ext cx="11064240" cy="292680"/>
          </a:xfrm>
          <a:prstGeom prst="rect">
            <a:avLst/>
          </a:prstGeom>
          <a:noFill/>
          <a:ln w="0">
            <a:noFill/>
          </a:ln>
        </p:spPr>
        <p:txBody>
          <a:bodyPr lIns="90000" tIns="45000" rIns="90000" bIns="45000" anchor="t">
            <a:spAutoFit/>
          </a:bodyPr>
          <a:p>
            <a:r>
              <a:rPr lang="en-US" sz="1300" b="1" u="none" strike="noStrike">
                <a:solidFill>
                  <a:srgbClr val="E86916"/>
                </a:solidFill>
                <a:effectLst/>
                <a:uFillTx/>
                <a:latin typeface="Calibri-Bold"/>
                <a:ea typeface="Calibri-Bold"/>
              </a:rPr>
              <a:t>Réserve tournante  (marge de sécurité obligatoire)</a:t>
            </a:r>
            <a:endParaRPr lang="en-US" sz="1300" b="0" u="none" strike="noStrike">
              <a:solidFill>
                <a:srgbClr val="000000"/>
              </a:solidFill>
              <a:effectLst/>
              <a:uFillTx/>
              <a:latin typeface="Arial"/>
            </a:endParaRPr>
          </a:p>
        </p:txBody>
      </p:sp>
      <p:sp>
        <p:nvSpPr>
          <p:cNvPr id="197" name=""/>
          <p:cNvSpPr txBox="1"/>
          <p:nvPr/>
        </p:nvSpPr>
        <p:spPr>
          <a:xfrm>
            <a:off x="594360" y="5614560"/>
            <a:ext cx="6766560" cy="297720"/>
          </a:xfrm>
          <a:prstGeom prst="rect">
            <a:avLst/>
          </a:prstGeom>
          <a:noFill/>
          <a:ln w="0">
            <a:noFill/>
          </a:ln>
        </p:spPr>
        <p:txBody>
          <a:bodyPr lIns="90000" tIns="45000" rIns="90000" bIns="45000" anchor="t">
            <a:spAutoFit/>
          </a:bodyPr>
          <a:p>
            <a:r>
              <a:rPr lang="en-US" sz="1200" b="0" i="1" u="none" strike="noStrike">
                <a:solidFill>
                  <a:srgbClr val="CCCCCC"/>
                </a:solidFill>
                <a:effectLst/>
                <a:uFillTx/>
                <a:latin typeface="Calibri-Italic"/>
                <a:ea typeface="Calibri-Italic"/>
              </a:rPr>
              <a:t>On doit garder 10% de capacité libre pour réagir en cas de panne imprévue</a:t>
            </a:r>
            <a:r>
              <a:rPr lang="en-US" sz="1200" b="0" i="1" u="none" strike="noStrike">
                <a:solidFill>
                  <a:srgbClr val="CCCCCC"/>
                </a:solidFill>
                <a:effectLst/>
                <a:uFillTx/>
                <a:latin typeface="Calibri-Italic"/>
                <a:ea typeface="Calibri-Italic"/>
              </a:rPr>
              <a:t>.</a:t>
            </a:r>
            <a:endParaRPr lang="en-US" sz="1200" b="0" u="none" strike="noStrike">
              <a:solidFill>
                <a:srgbClr val="000000"/>
              </a:solidFill>
              <a:effectLst/>
              <a:uFillTx/>
              <a:latin typeface="Arial"/>
            </a:endParaRPr>
          </a:p>
        </p:txBody>
      </p:sp>
      <p:sp>
        <p:nvSpPr>
          <p:cNvPr id="198" name=""/>
          <p:cNvSpPr/>
          <p:nvPr/>
        </p:nvSpPr>
        <p:spPr>
          <a:xfrm>
            <a:off x="7589520" y="5358240"/>
            <a:ext cx="4115160" cy="549000"/>
          </a:xfrm>
          <a:custGeom>
            <a:avLst/>
            <a:gdLst/>
            <a:ahLst/>
            <a:rect l="0" t="0" r="r" b="b"/>
            <a:pathLst>
              <a:path w="11431" h="1525">
                <a:moveTo>
                  <a:pt x="0" y="0"/>
                </a:moveTo>
                <a:lnTo>
                  <a:pt x="11431" y="0"/>
                </a:lnTo>
                <a:lnTo>
                  <a:pt x="11431" y="1525"/>
                </a:lnTo>
                <a:lnTo>
                  <a:pt x="0" y="1525"/>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199" name=""/>
          <p:cNvSpPr txBox="1"/>
          <p:nvPr/>
        </p:nvSpPr>
        <p:spPr>
          <a:xfrm>
            <a:off x="7726680" y="5413320"/>
            <a:ext cx="3840480" cy="502920"/>
          </a:xfrm>
          <a:prstGeom prst="rect">
            <a:avLst/>
          </a:prstGeom>
          <a:noFill/>
          <a:ln w="0">
            <a:noFill/>
          </a:ln>
        </p:spPr>
        <p:txBody>
          <a:bodyPr lIns="90000" tIns="45000" rIns="90000" bIns="45000" anchor="t">
            <a:spAutoFit/>
          </a:bodyPr>
          <a:p>
            <a:r>
              <a:rPr lang="en-US" sz="1100" b="0" i="1" u="none" strike="noStrike">
                <a:solidFill>
                  <a:srgbClr val="2DCC70"/>
                </a:solidFill>
                <a:effectLst/>
                <a:uFillTx/>
                <a:latin typeface="Calibri-Italic"/>
                <a:ea typeface="Calibri-Italic"/>
              </a:rPr>
              <a:t>somme( p_max[g] × u[g]  −  P[g] )  ≥  10% de la demande totale</a:t>
            </a:r>
            <a:endParaRPr lang="en-US" sz="1100" b="0" u="none" strike="noStrike">
              <a:solidFill>
                <a:srgbClr val="000000"/>
              </a:solidFill>
              <a:effectLst/>
              <a:uFillTx/>
              <a:latin typeface="Arial"/>
            </a:endParaRPr>
          </a:p>
        </p:txBody>
      </p:sp>
      <p:sp>
        <p:nvSpPr>
          <p:cNvPr id="200" name=""/>
          <p:cNvSpPr txBox="1"/>
          <p:nvPr/>
        </p:nvSpPr>
        <p:spPr>
          <a:xfrm>
            <a:off x="594360" y="5897880"/>
            <a:ext cx="11064240" cy="59436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Analogue à garder 10% de batterie sur son téléphone : on ne sait jamais</a:t>
            </a:r>
            <a:r>
              <a:rPr lang="en-US" sz="1200" b="0" u="none" strike="noStrike">
                <a:solidFill>
                  <a:srgbClr val="FFFFFF"/>
                </a:solidFill>
                <a:effectLst/>
                <a:uFillTx/>
                <a:latin typeface="Calibri"/>
                <a:ea typeface="Calibri"/>
              </a:rPr>
              <a: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1" name=""/>
          <p:cNvSpPr/>
          <p:nvPr/>
        </p:nvSpPr>
        <p:spPr>
          <a:xfrm>
            <a:off x="-468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02"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203"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204" name=""/>
          <p:cNvSpPr/>
          <p:nvPr/>
        </p:nvSpPr>
        <p:spPr>
          <a:xfrm>
            <a:off x="457200" y="155520"/>
            <a:ext cx="2926440" cy="293040"/>
          </a:xfrm>
          <a:custGeom>
            <a:avLst/>
            <a:gdLst/>
            <a:ahLst/>
            <a:rect l="0" t="0" r="r" b="b"/>
            <a:pathLst>
              <a:path w="8129" h="814">
                <a:moveTo>
                  <a:pt x="0" y="0"/>
                </a:moveTo>
                <a:lnTo>
                  <a:pt x="8129" y="0"/>
                </a:lnTo>
                <a:lnTo>
                  <a:pt x="8129" y="814"/>
                </a:lnTo>
                <a:lnTo>
                  <a:pt x="0" y="81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05" name=""/>
          <p:cNvSpPr txBox="1"/>
          <p:nvPr/>
        </p:nvSpPr>
        <p:spPr>
          <a:xfrm>
            <a:off x="502920" y="155520"/>
            <a:ext cx="2834640" cy="292680"/>
          </a:xfrm>
          <a:prstGeom prst="rect">
            <a:avLst/>
          </a:prstGeom>
          <a:noFill/>
          <a:ln w="0">
            <a:noFill/>
          </a:ln>
        </p:spPr>
        <p:txBody>
          <a:bodyPr lIns="90000" tIns="45000" rIns="90000" bIns="45000" anchor="t">
            <a:spAutoFit/>
          </a:bodyPr>
          <a:p>
            <a:pPr algn="ctr" rtl="1"/>
            <a:r>
              <a:rPr lang="en-US" sz="1000" b="1" u="none" strike="noStrike">
                <a:solidFill>
                  <a:srgbClr val="FFFFFF"/>
                </a:solidFill>
                <a:effectLst/>
                <a:uFillTx/>
                <a:latin typeface="Calibri-Bold"/>
                <a:ea typeface="Calibri-Bold"/>
              </a:rPr>
              <a:t>03</a:t>
            </a:r>
            <a:r>
              <a:rPr lang="en-US" sz="1000" b="1" u="none" strike="noStrike">
                <a:solidFill>
                  <a:srgbClr val="FFFFFF"/>
                </a:solidFill>
                <a:effectLst/>
                <a:uFillTx/>
                <a:latin typeface="Calibri-Bold"/>
                <a:ea typeface="Calibri-Bold"/>
              </a:rPr>
              <a:t> · </a:t>
            </a:r>
            <a:r>
              <a:rPr lang="en-US" sz="1000" b="1" u="none" strike="noStrike">
                <a:solidFill>
                  <a:srgbClr val="FFFFFF"/>
                </a:solidFill>
                <a:effectLst/>
                <a:uFillTx/>
                <a:latin typeface="Calibri-Bold"/>
                <a:ea typeface="Calibri-Bold"/>
              </a:rPr>
              <a:t>L'ASTUCE DES COÛTS</a:t>
            </a:r>
            <a:endParaRPr lang="en-US" sz="1000" b="0" u="none" strike="noStrike">
              <a:solidFill>
                <a:srgbClr val="000000"/>
              </a:solidFill>
              <a:effectLst/>
              <a:uFillTx/>
              <a:latin typeface="Arial"/>
            </a:endParaRPr>
          </a:p>
        </p:txBody>
      </p:sp>
      <p:sp>
        <p:nvSpPr>
          <p:cNvPr id="206" name=""/>
          <p:cNvSpPr txBox="1"/>
          <p:nvPr/>
        </p:nvSpPr>
        <p:spPr>
          <a:xfrm>
            <a:off x="502920" y="530280"/>
            <a:ext cx="11612880" cy="594360"/>
          </a:xfrm>
          <a:prstGeom prst="rect">
            <a:avLst/>
          </a:prstGeom>
          <a:noFill/>
          <a:ln w="0">
            <a:noFill/>
          </a:ln>
        </p:spPr>
        <p:txBody>
          <a:bodyPr lIns="90000" tIns="45000" rIns="90000" bIns="45000" anchor="t">
            <a:spAutoFit/>
          </a:bodyPr>
          <a:p>
            <a:r>
              <a:rPr lang="en-US" sz="2400" b="1" u="none" strike="noStrike">
                <a:solidFill>
                  <a:srgbClr val="FFFFFF"/>
                </a:solidFill>
                <a:effectLst/>
                <a:uFillTx/>
                <a:latin typeface="Calibri-Bold"/>
                <a:ea typeface="Calibri-Bold"/>
              </a:rPr>
              <a:t>Problème : les coûts sont courbés. Solution : on les aplatit</a:t>
            </a:r>
            <a:r>
              <a:rPr lang="en-US" sz="2400" b="1" u="none" strike="noStrike">
                <a:solidFill>
                  <a:srgbClr val="FFFFFF"/>
                </a:solidFill>
                <a:effectLst/>
                <a:uFillTx/>
                <a:latin typeface="Calibri-Bold"/>
                <a:ea typeface="Calibri-Bold"/>
              </a:rPr>
              <a:t>.</a:t>
            </a:r>
            <a:endParaRPr lang="en-US" sz="2400" b="0" u="none" strike="noStrike">
              <a:solidFill>
                <a:srgbClr val="000000"/>
              </a:solidFill>
              <a:effectLst/>
              <a:uFillTx/>
              <a:latin typeface="Arial"/>
            </a:endParaRPr>
          </a:p>
        </p:txBody>
      </p:sp>
      <p:sp>
        <p:nvSpPr>
          <p:cNvPr id="207" name=""/>
          <p:cNvSpPr/>
          <p:nvPr/>
        </p:nvSpPr>
        <p:spPr>
          <a:xfrm>
            <a:off x="365760" y="1188720"/>
            <a:ext cx="11430360" cy="785880"/>
          </a:xfrm>
          <a:custGeom>
            <a:avLst/>
            <a:gdLst/>
            <a:ahLst/>
            <a:rect l="0" t="0" r="r" b="b"/>
            <a:pathLst>
              <a:path w="31751" h="2183">
                <a:moveTo>
                  <a:pt x="0" y="0"/>
                </a:moveTo>
                <a:lnTo>
                  <a:pt x="31751" y="0"/>
                </a:lnTo>
                <a:lnTo>
                  <a:pt x="31751" y="2183"/>
                </a:lnTo>
                <a:lnTo>
                  <a:pt x="0" y="2183"/>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08" name=""/>
          <p:cNvSpPr/>
          <p:nvPr/>
        </p:nvSpPr>
        <p:spPr>
          <a:xfrm>
            <a:off x="365760" y="1188720"/>
            <a:ext cx="55080" cy="763560"/>
          </a:xfrm>
          <a:custGeom>
            <a:avLst/>
            <a:gdLst/>
            <a:ahLst/>
            <a:rect l="0" t="0" r="r" b="b"/>
            <a:pathLst>
              <a:path w="153" h="2121">
                <a:moveTo>
                  <a:pt x="0" y="0"/>
                </a:moveTo>
                <a:lnTo>
                  <a:pt x="153" y="0"/>
                </a:lnTo>
                <a:lnTo>
                  <a:pt x="153" y="2121"/>
                </a:lnTo>
                <a:lnTo>
                  <a:pt x="0" y="2121"/>
                </a:lnTo>
                <a:lnTo>
                  <a:pt x="0" y="0"/>
                </a:lnTo>
                <a:close/>
              </a:path>
            </a:pathLst>
          </a:custGeom>
          <a:solidFill>
            <a:srgbClr val="E74B3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09" name=""/>
          <p:cNvSpPr txBox="1"/>
          <p:nvPr/>
        </p:nvSpPr>
        <p:spPr>
          <a:xfrm>
            <a:off x="594360" y="1216080"/>
            <a:ext cx="3566160" cy="292680"/>
          </a:xfrm>
          <a:prstGeom prst="rect">
            <a:avLst/>
          </a:prstGeom>
          <a:noFill/>
          <a:ln w="0">
            <a:noFill/>
          </a:ln>
        </p:spPr>
        <p:txBody>
          <a:bodyPr lIns="90000" tIns="45000" rIns="90000" bIns="45000" anchor="t">
            <a:spAutoFit/>
          </a:bodyPr>
          <a:p>
            <a:r>
              <a:rPr lang="en-US" sz="1300" b="1" u="none" strike="noStrike">
                <a:solidFill>
                  <a:srgbClr val="E74B3B"/>
                </a:solidFill>
                <a:effectLst/>
                <a:uFillTx/>
                <a:latin typeface="Calibri-Bold"/>
                <a:ea typeface="Calibri-Bold"/>
              </a:rPr>
              <a:t>Le problème</a:t>
            </a:r>
            <a:endParaRPr lang="en-US" sz="1300" b="0" u="none" strike="noStrike">
              <a:solidFill>
                <a:srgbClr val="000000"/>
              </a:solidFill>
              <a:effectLst/>
              <a:uFillTx/>
              <a:latin typeface="Arial"/>
            </a:endParaRPr>
          </a:p>
        </p:txBody>
      </p:sp>
      <p:sp>
        <p:nvSpPr>
          <p:cNvPr id="210" name=""/>
          <p:cNvSpPr txBox="1"/>
          <p:nvPr/>
        </p:nvSpPr>
        <p:spPr>
          <a:xfrm>
            <a:off x="594360" y="1490400"/>
            <a:ext cx="11064240" cy="594360"/>
          </a:xfrm>
          <a:prstGeom prst="rect">
            <a:avLst/>
          </a:prstGeom>
          <a:noFill/>
          <a:ln w="0">
            <a:noFill/>
          </a:ln>
        </p:spPr>
        <p:txBody>
          <a:bodyPr lIns="90000" tIns="45000" rIns="90000" bIns="45000" anchor="t">
            <a:spAutoFit/>
          </a:bodyPr>
          <a:p>
            <a:r>
              <a:rPr lang="en-US" sz="1300" b="0" u="none" strike="noStrike">
                <a:solidFill>
                  <a:srgbClr val="F39C11"/>
                </a:solidFill>
                <a:effectLst/>
                <a:uFillTx/>
                <a:latin typeface="Calibri"/>
                <a:ea typeface="Calibri"/>
              </a:rPr>
              <a:t>Le coût d'une centrale est quadratique : Coût = a + b×P + c×P²  (plus on produit, plus ça coûte vite).  Or CP-SAT ne sait optimiser que des fonctions LINÉAIRES (droites). Problème</a:t>
            </a:r>
            <a:r>
              <a:rPr lang="en-US" sz="1300" b="0" u="none" strike="noStrike">
                <a:solidFill>
                  <a:srgbClr val="F39C11"/>
                </a:solidFill>
                <a:effectLst/>
                <a:uFillTx/>
                <a:latin typeface="Calibri"/>
                <a:ea typeface="Calibri"/>
              </a:rPr>
              <a:t>.</a:t>
            </a:r>
            <a:endParaRPr lang="en-US" sz="1300" b="0" u="none" strike="noStrike">
              <a:solidFill>
                <a:srgbClr val="000000"/>
              </a:solidFill>
              <a:effectLst/>
              <a:uFillTx/>
              <a:latin typeface="Arial"/>
            </a:endParaRPr>
          </a:p>
        </p:txBody>
      </p:sp>
      <p:sp>
        <p:nvSpPr>
          <p:cNvPr id="211" name=""/>
          <p:cNvSpPr/>
          <p:nvPr/>
        </p:nvSpPr>
        <p:spPr>
          <a:xfrm>
            <a:off x="374760" y="2095200"/>
            <a:ext cx="11412720" cy="576000"/>
          </a:xfrm>
          <a:custGeom>
            <a:avLst/>
            <a:gdLst/>
            <a:ahLst/>
            <a:rect l="0" t="0" r="r" b="b"/>
            <a:pathLst>
              <a:path w="31702" h="1600">
                <a:moveTo>
                  <a:pt x="0" y="0"/>
                </a:moveTo>
                <a:lnTo>
                  <a:pt x="31702" y="0"/>
                </a:lnTo>
                <a:lnTo>
                  <a:pt x="31702" y="1600"/>
                </a:lnTo>
                <a:lnTo>
                  <a:pt x="0" y="1600"/>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12" name=""/>
          <p:cNvSpPr/>
          <p:nvPr/>
        </p:nvSpPr>
        <p:spPr>
          <a:xfrm>
            <a:off x="365760" y="2095200"/>
            <a:ext cx="55080" cy="576000"/>
          </a:xfrm>
          <a:custGeom>
            <a:avLst/>
            <a:gdLst/>
            <a:ahLst/>
            <a:rect l="0" t="0" r="r" b="b"/>
            <a:pathLst>
              <a:path w="153" h="1600">
                <a:moveTo>
                  <a:pt x="0" y="0"/>
                </a:moveTo>
                <a:lnTo>
                  <a:pt x="153" y="0"/>
                </a:lnTo>
                <a:lnTo>
                  <a:pt x="153" y="1600"/>
                </a:lnTo>
                <a:lnTo>
                  <a:pt x="0" y="1600"/>
                </a:lnTo>
                <a:lnTo>
                  <a:pt x="0" y="0"/>
                </a:lnTo>
                <a:close/>
              </a:path>
            </a:pathLst>
          </a:custGeom>
          <a:solidFill>
            <a:srgbClr val="2DCC7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13" name=""/>
          <p:cNvSpPr txBox="1"/>
          <p:nvPr/>
        </p:nvSpPr>
        <p:spPr>
          <a:xfrm>
            <a:off x="491040" y="2126880"/>
            <a:ext cx="8138160" cy="290160"/>
          </a:xfrm>
          <a:prstGeom prst="rect">
            <a:avLst/>
          </a:prstGeom>
          <a:noFill/>
          <a:ln w="0">
            <a:noFill/>
          </a:ln>
        </p:spPr>
        <p:txBody>
          <a:bodyPr lIns="90000" tIns="45000" rIns="90000" bIns="45000" anchor="t">
            <a:spAutoFit/>
          </a:bodyPr>
          <a:p>
            <a:r>
              <a:rPr lang="en-US" sz="1400" b="1" u="none" strike="noStrike">
                <a:solidFill>
                  <a:srgbClr val="2DCC70"/>
                </a:solidFill>
                <a:effectLst/>
                <a:uFillTx/>
                <a:latin typeface="Calibri-Bold"/>
                <a:ea typeface="Calibri-Bold"/>
              </a:rPr>
              <a:t>La solution : approximation par morceaux (PWL)</a:t>
            </a:r>
            <a:endParaRPr lang="en-US" sz="1400" b="0" u="none" strike="noStrike">
              <a:solidFill>
                <a:srgbClr val="000000"/>
              </a:solidFill>
              <a:effectLst/>
              <a:uFillTx/>
              <a:latin typeface="Arial"/>
            </a:endParaRPr>
          </a:p>
        </p:txBody>
      </p:sp>
      <p:sp>
        <p:nvSpPr>
          <p:cNvPr id="214" name=""/>
          <p:cNvSpPr txBox="1"/>
          <p:nvPr/>
        </p:nvSpPr>
        <p:spPr>
          <a:xfrm>
            <a:off x="548640" y="2386440"/>
            <a:ext cx="11064240" cy="25812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On remplace la courbe par 6 droites tangentes qui l'approchent par le bas. Le solveur minimise alors l'enveloppe de ces droites — résultat identique à &lt; 1% près</a:t>
            </a:r>
            <a:r>
              <a:rPr lang="en-US" sz="1300" b="0" u="none" strike="noStrike">
                <a:solidFill>
                  <a:srgbClr val="FFFFFF"/>
                </a:solidFill>
                <a:effectLst/>
                <a:uFillTx/>
                <a:latin typeface="Calibri"/>
                <a:ea typeface="Calibri"/>
              </a:rPr>
              <a:t>.</a:t>
            </a:r>
            <a:endParaRPr lang="en-US" sz="1300" b="0" u="none" strike="noStrike">
              <a:solidFill>
                <a:srgbClr val="000000"/>
              </a:solidFill>
              <a:effectLst/>
              <a:uFillTx/>
              <a:latin typeface="Arial"/>
            </a:endParaRPr>
          </a:p>
        </p:txBody>
      </p:sp>
      <p:sp>
        <p:nvSpPr>
          <p:cNvPr id="215" name=""/>
          <p:cNvSpPr/>
          <p:nvPr/>
        </p:nvSpPr>
        <p:spPr>
          <a:xfrm>
            <a:off x="6126480" y="3291840"/>
            <a:ext cx="5669640" cy="2972160"/>
          </a:xfrm>
          <a:custGeom>
            <a:avLst/>
            <a:gdLst/>
            <a:ahLst/>
            <a:rect l="0" t="0" r="r" b="b"/>
            <a:pathLst>
              <a:path w="15749" h="8256">
                <a:moveTo>
                  <a:pt x="0" y="0"/>
                </a:moveTo>
                <a:lnTo>
                  <a:pt x="15749" y="0"/>
                </a:lnTo>
                <a:lnTo>
                  <a:pt x="15749" y="8256"/>
                </a:lnTo>
                <a:lnTo>
                  <a:pt x="0" y="8256"/>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16" name=""/>
          <p:cNvSpPr txBox="1"/>
          <p:nvPr/>
        </p:nvSpPr>
        <p:spPr>
          <a:xfrm>
            <a:off x="6355080" y="3337560"/>
            <a:ext cx="5212080" cy="314280"/>
          </a:xfrm>
          <a:prstGeom prst="rect">
            <a:avLst/>
          </a:prstGeom>
          <a:noFill/>
          <a:ln w="0">
            <a:noFill/>
          </a:ln>
        </p:spPr>
        <p:txBody>
          <a:bodyPr lIns="90000" tIns="45000" rIns="90000" bIns="45000" anchor="t">
            <a:spAutoFit/>
          </a:bodyPr>
          <a:p>
            <a:r>
              <a:rPr lang="en-US" sz="1300" b="1" u="none" strike="noStrike">
                <a:solidFill>
                  <a:srgbClr val="00B4D8"/>
                </a:solidFill>
                <a:effectLst/>
                <a:uFillTx/>
                <a:latin typeface="Calibri-Bold"/>
                <a:ea typeface="Calibri-Bold"/>
              </a:rPr>
              <a:t>Comment ça marche concrètement</a:t>
            </a:r>
            <a:r>
              <a:rPr lang="en-US" sz="1300" b="1" u="none" strike="noStrike">
                <a:solidFill>
                  <a:srgbClr val="00B4D8"/>
                </a:solidFill>
                <a:effectLst/>
                <a:uFillTx/>
                <a:latin typeface="Calibri-Bold"/>
                <a:ea typeface="Calibri-Bold"/>
              </a:rPr>
              <a:t> ?</a:t>
            </a:r>
            <a:endParaRPr lang="en-US" sz="1300" b="0" u="none" strike="noStrike">
              <a:solidFill>
                <a:srgbClr val="000000"/>
              </a:solidFill>
              <a:effectLst/>
              <a:uFillTx/>
              <a:latin typeface="Arial"/>
            </a:endParaRPr>
          </a:p>
        </p:txBody>
      </p:sp>
      <p:sp>
        <p:nvSpPr>
          <p:cNvPr id="217" name=""/>
          <p:cNvSpPr txBox="1"/>
          <p:nvPr/>
        </p:nvSpPr>
        <p:spPr>
          <a:xfrm>
            <a:off x="6355080" y="3657600"/>
            <a:ext cx="5212080" cy="246888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On calcule 6 droites tangentes à la courbe quadratique</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Pour chaque droite k : coût ≥ slope_k × P + intercept_k</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CP-SAT minimise le coût → il choisit naturellement</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 </a:t>
            </a:r>
            <a:r>
              <a:rPr lang="en-US" sz="1300" b="0" u="none" strike="noStrike">
                <a:solidFill>
                  <a:srgbClr val="FFFFFF"/>
                </a:solidFill>
                <a:effectLst/>
                <a:uFillTx/>
                <a:latin typeface="Calibri"/>
                <a:ea typeface="Calibri"/>
              </a:rPr>
              <a:t>la droite la plus basse = la meilleure approximation</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Résultat : erreur &lt; 1% sur toute la plage de puissance</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Avantage : 6 contraintes linéaires seulement par centrale</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 → </a:t>
            </a:r>
            <a:r>
              <a:rPr lang="en-US" sz="1300" b="0" u="none" strike="noStrike">
                <a:solidFill>
                  <a:srgbClr val="FFFFFF"/>
                </a:solidFill>
                <a:effectLst/>
                <a:uFillTx/>
                <a:latin typeface="Calibri"/>
                <a:ea typeface="Calibri"/>
              </a:rPr>
              <a:t>le solveur reste rapide même avec beaucoup de centrales</a:t>
            </a:r>
            <a:endParaRPr lang="en-US" sz="1300" b="0" u="none" strike="noStrike">
              <a:solidFill>
                <a:srgbClr val="000000"/>
              </a:solidFill>
              <a:effectLst/>
              <a:uFillTx/>
              <a:latin typeface="Arial"/>
            </a:endParaRPr>
          </a:p>
        </p:txBody>
      </p:sp>
      <p:pic>
        <p:nvPicPr>
          <p:cNvPr id="218" name=""/>
          <p:cNvPicPr/>
          <p:nvPr/>
        </p:nvPicPr>
        <p:blipFill>
          <a:blip r:embed="rId1"/>
          <a:stretch/>
        </p:blipFill>
        <p:spPr>
          <a:xfrm>
            <a:off x="223920" y="2779200"/>
            <a:ext cx="5802480" cy="383400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9"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20"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221"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222" name=""/>
          <p:cNvSpPr/>
          <p:nvPr/>
        </p:nvSpPr>
        <p:spPr>
          <a:xfrm>
            <a:off x="457200" y="155520"/>
            <a:ext cx="2926440" cy="293040"/>
          </a:xfrm>
          <a:custGeom>
            <a:avLst/>
            <a:gdLst/>
            <a:ahLst/>
            <a:rect l="0" t="0" r="r" b="b"/>
            <a:pathLst>
              <a:path w="8129" h="814">
                <a:moveTo>
                  <a:pt x="0" y="0"/>
                </a:moveTo>
                <a:lnTo>
                  <a:pt x="8129" y="0"/>
                </a:lnTo>
                <a:lnTo>
                  <a:pt x="8129" y="814"/>
                </a:lnTo>
                <a:lnTo>
                  <a:pt x="0" y="81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23" name=""/>
          <p:cNvSpPr txBox="1"/>
          <p:nvPr/>
        </p:nvSpPr>
        <p:spPr>
          <a:xfrm>
            <a:off x="502920" y="155520"/>
            <a:ext cx="2834640" cy="292680"/>
          </a:xfrm>
          <a:prstGeom prst="rect">
            <a:avLst/>
          </a:prstGeom>
          <a:noFill/>
          <a:ln w="0">
            <a:noFill/>
          </a:ln>
        </p:spPr>
        <p:txBody>
          <a:bodyPr lIns="90000" tIns="45000" rIns="90000" bIns="45000" anchor="t">
            <a:spAutoFit/>
          </a:bodyPr>
          <a:p>
            <a:pPr algn="ctr" rtl="1"/>
            <a:r>
              <a:rPr lang="en-US" sz="1000" b="1" u="none" strike="noStrike">
                <a:solidFill>
                  <a:srgbClr val="FFFFFF"/>
                </a:solidFill>
                <a:effectLst/>
                <a:uFillTx/>
                <a:latin typeface="Calibri-Bold"/>
                <a:ea typeface="Calibri-Bold"/>
              </a:rPr>
              <a:t>04</a:t>
            </a:r>
            <a:r>
              <a:rPr lang="en-US" sz="1000" b="1" u="none" strike="noStrike">
                <a:solidFill>
                  <a:srgbClr val="FFFFFF"/>
                </a:solidFill>
                <a:effectLst/>
                <a:uFillTx/>
                <a:latin typeface="Calibri-Bold"/>
                <a:ea typeface="Calibri-Bold"/>
              </a:rPr>
              <a:t> · </a:t>
            </a:r>
            <a:r>
              <a:rPr lang="en-US" sz="1000" b="1" u="none" strike="noStrike">
                <a:solidFill>
                  <a:srgbClr val="FFFFFF"/>
                </a:solidFill>
                <a:effectLst/>
                <a:uFillTx/>
                <a:latin typeface="Calibri-Bold"/>
                <a:ea typeface="Calibri-Bold"/>
              </a:rPr>
              <a:t>PLANIFICATION SUR 24H</a:t>
            </a:r>
            <a:endParaRPr lang="en-US" sz="1000" b="0" u="none" strike="noStrike">
              <a:solidFill>
                <a:srgbClr val="000000"/>
              </a:solidFill>
              <a:effectLst/>
              <a:uFillTx/>
              <a:latin typeface="Arial"/>
            </a:endParaRPr>
          </a:p>
        </p:txBody>
      </p:sp>
      <p:sp>
        <p:nvSpPr>
          <p:cNvPr id="224" name=""/>
          <p:cNvSpPr txBox="1"/>
          <p:nvPr/>
        </p:nvSpPr>
        <p:spPr>
          <a:xfrm>
            <a:off x="502920" y="530280"/>
            <a:ext cx="11612880" cy="594360"/>
          </a:xfrm>
          <a:prstGeom prst="rect">
            <a:avLst/>
          </a:prstGeom>
          <a:noFill/>
          <a:ln w="0">
            <a:noFill/>
          </a:ln>
        </p:spPr>
        <p:txBody>
          <a:bodyPr lIns="90000" tIns="45000" rIns="90000" bIns="45000" anchor="t">
            <a:spAutoFit/>
          </a:bodyPr>
          <a:p>
            <a:r>
              <a:rPr lang="en-US" sz="2400" b="1" u="none" strike="noStrike">
                <a:solidFill>
                  <a:srgbClr val="FFFFFF"/>
                </a:solidFill>
                <a:effectLst/>
                <a:uFillTx/>
                <a:latin typeface="Calibri-Bold"/>
                <a:ea typeface="Calibri-Bold"/>
              </a:rPr>
              <a:t>Un générateur thermique, ça ne s'allume pas comme une ampoule</a:t>
            </a:r>
            <a:endParaRPr lang="en-US" sz="2400" b="0" u="none" strike="noStrike">
              <a:solidFill>
                <a:srgbClr val="000000"/>
              </a:solidFill>
              <a:effectLst/>
              <a:uFillTx/>
              <a:latin typeface="Arial"/>
            </a:endParaRPr>
          </a:p>
        </p:txBody>
      </p:sp>
      <p:sp>
        <p:nvSpPr>
          <p:cNvPr id="225" name=""/>
          <p:cNvSpPr/>
          <p:nvPr/>
        </p:nvSpPr>
        <p:spPr>
          <a:xfrm>
            <a:off x="365760" y="1188720"/>
            <a:ext cx="11430360" cy="1216440"/>
          </a:xfrm>
          <a:custGeom>
            <a:avLst/>
            <a:gdLst/>
            <a:ahLst/>
            <a:rect l="0" t="0" r="r" b="b"/>
            <a:pathLst>
              <a:path w="31751" h="3379">
                <a:moveTo>
                  <a:pt x="0" y="0"/>
                </a:moveTo>
                <a:lnTo>
                  <a:pt x="31751" y="0"/>
                </a:lnTo>
                <a:lnTo>
                  <a:pt x="31751" y="3379"/>
                </a:lnTo>
                <a:lnTo>
                  <a:pt x="0" y="337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26" name=""/>
          <p:cNvSpPr/>
          <p:nvPr/>
        </p:nvSpPr>
        <p:spPr>
          <a:xfrm>
            <a:off x="365760" y="1188720"/>
            <a:ext cx="55080" cy="1216440"/>
          </a:xfrm>
          <a:custGeom>
            <a:avLst/>
            <a:gdLst/>
            <a:ahLst/>
            <a:rect l="0" t="0" r="r" b="b"/>
            <a:pathLst>
              <a:path w="153" h="3379">
                <a:moveTo>
                  <a:pt x="0" y="0"/>
                </a:moveTo>
                <a:lnTo>
                  <a:pt x="153" y="0"/>
                </a:lnTo>
                <a:lnTo>
                  <a:pt x="153" y="3379"/>
                </a:lnTo>
                <a:lnTo>
                  <a:pt x="0" y="3379"/>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27" name=""/>
          <p:cNvSpPr txBox="1"/>
          <p:nvPr/>
        </p:nvSpPr>
        <p:spPr>
          <a:xfrm>
            <a:off x="594360" y="1225440"/>
            <a:ext cx="7680960" cy="292680"/>
          </a:xfrm>
          <a:prstGeom prst="rect">
            <a:avLst/>
          </a:prstGeom>
          <a:noFill/>
          <a:ln w="0">
            <a:noFill/>
          </a:ln>
        </p:spPr>
        <p:txBody>
          <a:bodyPr lIns="90000" tIns="45000" rIns="90000" bIns="45000" anchor="t">
            <a:spAutoFit/>
          </a:bodyPr>
          <a:p>
            <a:r>
              <a:rPr lang="en-US" sz="1300" b="1" u="none" strike="noStrike">
                <a:solidFill>
                  <a:srgbClr val="00B4D8"/>
                </a:solidFill>
                <a:effectLst/>
                <a:uFillTx/>
                <a:latin typeface="Calibri-Bold"/>
                <a:ea typeface="Calibri-Bold"/>
              </a:rPr>
              <a:t>Durée minimale allumée  (min up-time)</a:t>
            </a:r>
            <a:endParaRPr lang="en-US" sz="1300" b="0" u="none" strike="noStrike">
              <a:solidFill>
                <a:srgbClr val="000000"/>
              </a:solidFill>
              <a:effectLst/>
              <a:uFillTx/>
              <a:latin typeface="Arial"/>
            </a:endParaRPr>
          </a:p>
        </p:txBody>
      </p:sp>
      <p:sp>
        <p:nvSpPr>
          <p:cNvPr id="228" name=""/>
          <p:cNvSpPr txBox="1"/>
          <p:nvPr/>
        </p:nvSpPr>
        <p:spPr>
          <a:xfrm>
            <a:off x="594360" y="1499760"/>
            <a:ext cx="7406640" cy="47556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Une centrale à charbon qu'on vient d'allumer doit rester ON au moins 4 heures. On ne peut pas l'éteindre à la moindre baisse de demande</a:t>
            </a:r>
            <a:r>
              <a:rPr lang="en-US" sz="1200" b="0" u="none" strike="noStrike">
                <a:solidFill>
                  <a:srgbClr val="FFFFFF"/>
                </a:solidFill>
                <a:effectLst/>
                <a:uFillTx/>
                <a:latin typeface="Calibri"/>
                <a:ea typeface="Calibri"/>
              </a:rPr>
              <a:t>.</a:t>
            </a:r>
            <a:endParaRPr lang="en-US" sz="1200" b="0" u="none" strike="noStrike">
              <a:solidFill>
                <a:srgbClr val="000000"/>
              </a:solidFill>
              <a:effectLst/>
              <a:uFillTx/>
              <a:latin typeface="Arial"/>
            </a:endParaRPr>
          </a:p>
        </p:txBody>
      </p:sp>
      <p:sp>
        <p:nvSpPr>
          <p:cNvPr id="229" name=""/>
          <p:cNvSpPr txBox="1"/>
          <p:nvPr/>
        </p:nvSpPr>
        <p:spPr>
          <a:xfrm>
            <a:off x="594360" y="1993320"/>
            <a:ext cx="7406640" cy="329040"/>
          </a:xfrm>
          <a:prstGeom prst="rect">
            <a:avLst/>
          </a:prstGeom>
          <a:noFill/>
          <a:ln w="0">
            <a:noFill/>
          </a:ln>
        </p:spPr>
        <p:txBody>
          <a:bodyPr lIns="90000" tIns="45000" rIns="90000" bIns="45000" anchor="t">
            <a:spAutoFit/>
          </a:bodyPr>
          <a:p>
            <a:r>
              <a:rPr lang="en-US" sz="1100" b="0" i="1" u="none" strike="noStrike">
                <a:solidFill>
                  <a:srgbClr val="CCCCCC"/>
                </a:solidFill>
                <a:effectLst/>
                <a:uFillTx/>
                <a:latin typeface="Calibri-Italic"/>
                <a:ea typeface="Calibri-Italic"/>
              </a:rPr>
              <a:t>Ex : Si on démarre à t=8h : on doit rester ON jusqu'à t=12h minimum</a:t>
            </a:r>
            <a:r>
              <a:rPr lang="en-US" sz="1100" b="0" i="1" u="none" strike="noStrike">
                <a:solidFill>
                  <a:srgbClr val="CCCCCC"/>
                </a:solidFill>
                <a:effectLst/>
                <a:uFillTx/>
                <a:latin typeface="Calibri-Italic"/>
                <a:ea typeface="Calibri-Italic"/>
              </a:rPr>
              <a:t>.</a:t>
            </a:r>
            <a:endParaRPr lang="en-US" sz="1100" b="0" u="none" strike="noStrike">
              <a:solidFill>
                <a:srgbClr val="000000"/>
              </a:solidFill>
              <a:effectLst/>
              <a:uFillTx/>
              <a:latin typeface="Arial"/>
            </a:endParaRPr>
          </a:p>
        </p:txBody>
      </p:sp>
      <p:sp>
        <p:nvSpPr>
          <p:cNvPr id="230" name=""/>
          <p:cNvSpPr/>
          <p:nvPr/>
        </p:nvSpPr>
        <p:spPr>
          <a:xfrm>
            <a:off x="8229600" y="1261800"/>
            <a:ext cx="3475080" cy="503280"/>
          </a:xfrm>
          <a:custGeom>
            <a:avLst/>
            <a:gdLst/>
            <a:ahLst/>
            <a:rect l="0" t="0" r="r" b="b"/>
            <a:pathLst>
              <a:path w="9653" h="1398">
                <a:moveTo>
                  <a:pt x="0" y="0"/>
                </a:moveTo>
                <a:lnTo>
                  <a:pt x="9653" y="0"/>
                </a:lnTo>
                <a:lnTo>
                  <a:pt x="9653" y="1398"/>
                </a:lnTo>
                <a:lnTo>
                  <a:pt x="0" y="1398"/>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31" name=""/>
          <p:cNvSpPr txBox="1"/>
          <p:nvPr/>
        </p:nvSpPr>
        <p:spPr>
          <a:xfrm>
            <a:off x="8366760" y="1280160"/>
            <a:ext cx="3200400" cy="502920"/>
          </a:xfrm>
          <a:prstGeom prst="rect">
            <a:avLst/>
          </a:prstGeom>
          <a:noFill/>
          <a:ln w="0">
            <a:noFill/>
          </a:ln>
        </p:spPr>
        <p:txBody>
          <a:bodyPr lIns="90000" tIns="45000" rIns="90000" bIns="45000" anchor="t">
            <a:spAutoFit/>
          </a:bodyPr>
          <a:p>
            <a:r>
              <a:rPr lang="en-US" sz="1100" b="0" i="1" u="none" strike="noStrike">
                <a:solidFill>
                  <a:srgbClr val="2DCC70"/>
                </a:solidFill>
                <a:effectLst/>
                <a:uFillTx/>
                <a:latin typeface="Calibri-Italic"/>
                <a:ea typeface="Calibri-Italic"/>
              </a:rPr>
              <a:t>Si su[g,t]=1 (démarrage), alors u[g,t'] = 1 pour t' ∈ [t, t+min_up-1]</a:t>
            </a:r>
            <a:endParaRPr lang="en-US" sz="1100" b="0" u="none" strike="noStrike">
              <a:solidFill>
                <a:srgbClr val="000000"/>
              </a:solidFill>
              <a:effectLst/>
              <a:uFillTx/>
              <a:latin typeface="Arial"/>
            </a:endParaRPr>
          </a:p>
        </p:txBody>
      </p:sp>
      <p:sp>
        <p:nvSpPr>
          <p:cNvPr id="232" name=""/>
          <p:cNvSpPr/>
          <p:nvPr/>
        </p:nvSpPr>
        <p:spPr>
          <a:xfrm>
            <a:off x="365760" y="2514600"/>
            <a:ext cx="11430360" cy="1216440"/>
          </a:xfrm>
          <a:custGeom>
            <a:avLst/>
            <a:gdLst/>
            <a:ahLst/>
            <a:rect l="0" t="0" r="r" b="b"/>
            <a:pathLst>
              <a:path w="31751" h="3379">
                <a:moveTo>
                  <a:pt x="0" y="0"/>
                </a:moveTo>
                <a:lnTo>
                  <a:pt x="31751" y="0"/>
                </a:lnTo>
                <a:lnTo>
                  <a:pt x="31751" y="3379"/>
                </a:lnTo>
                <a:lnTo>
                  <a:pt x="0" y="337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33" name=""/>
          <p:cNvSpPr/>
          <p:nvPr/>
        </p:nvSpPr>
        <p:spPr>
          <a:xfrm>
            <a:off x="365760" y="2514600"/>
            <a:ext cx="55080" cy="1216440"/>
          </a:xfrm>
          <a:custGeom>
            <a:avLst/>
            <a:gdLst/>
            <a:ahLst/>
            <a:rect l="0" t="0" r="r" b="b"/>
            <a:pathLst>
              <a:path w="153" h="3379">
                <a:moveTo>
                  <a:pt x="0" y="0"/>
                </a:moveTo>
                <a:lnTo>
                  <a:pt x="153" y="0"/>
                </a:lnTo>
                <a:lnTo>
                  <a:pt x="153" y="3379"/>
                </a:lnTo>
                <a:lnTo>
                  <a:pt x="0" y="3379"/>
                </a:lnTo>
                <a:lnTo>
                  <a:pt x="0" y="0"/>
                </a:lnTo>
                <a:close/>
              </a:path>
            </a:pathLst>
          </a:custGeom>
          <a:solidFill>
            <a:srgbClr val="F39C11"/>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34" name=""/>
          <p:cNvSpPr txBox="1"/>
          <p:nvPr/>
        </p:nvSpPr>
        <p:spPr>
          <a:xfrm>
            <a:off x="594360" y="2551320"/>
            <a:ext cx="7680960" cy="292680"/>
          </a:xfrm>
          <a:prstGeom prst="rect">
            <a:avLst/>
          </a:prstGeom>
          <a:noFill/>
          <a:ln w="0">
            <a:noFill/>
          </a:ln>
        </p:spPr>
        <p:txBody>
          <a:bodyPr lIns="90000" tIns="45000" rIns="90000" bIns="45000" anchor="t">
            <a:spAutoFit/>
          </a:bodyPr>
          <a:p>
            <a:r>
              <a:rPr lang="en-US" sz="1300" b="1" u="none" strike="noStrike">
                <a:solidFill>
                  <a:srgbClr val="F39C11"/>
                </a:solidFill>
                <a:effectLst/>
                <a:uFillTx/>
                <a:latin typeface="Calibri-Bold"/>
                <a:ea typeface="Calibri-Bold"/>
              </a:rPr>
              <a:t>Durée minimale éteinte  (min down-time)</a:t>
            </a:r>
            <a:endParaRPr lang="en-US" sz="1300" b="0" u="none" strike="noStrike">
              <a:solidFill>
                <a:srgbClr val="000000"/>
              </a:solidFill>
              <a:effectLst/>
              <a:uFillTx/>
              <a:latin typeface="Arial"/>
            </a:endParaRPr>
          </a:p>
        </p:txBody>
      </p:sp>
      <p:sp>
        <p:nvSpPr>
          <p:cNvPr id="235" name=""/>
          <p:cNvSpPr txBox="1"/>
          <p:nvPr/>
        </p:nvSpPr>
        <p:spPr>
          <a:xfrm>
            <a:off x="594360" y="2825640"/>
            <a:ext cx="7406640" cy="47556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Après avoir éteint une centrale, on ne peut pas la rallumer tout de suite. Les turbines doivent refroidir — délai typique : 2 à 6 heures</a:t>
            </a:r>
            <a:r>
              <a:rPr lang="en-US" sz="1200" b="0" u="none" strike="noStrike">
                <a:solidFill>
                  <a:srgbClr val="FFFFFF"/>
                </a:solidFill>
                <a:effectLst/>
                <a:uFillTx/>
                <a:latin typeface="Calibri"/>
                <a:ea typeface="Calibri"/>
              </a:rPr>
              <a:t>.</a:t>
            </a:r>
            <a:endParaRPr lang="en-US" sz="1200" b="0" u="none" strike="noStrike">
              <a:solidFill>
                <a:srgbClr val="000000"/>
              </a:solidFill>
              <a:effectLst/>
              <a:uFillTx/>
              <a:latin typeface="Arial"/>
            </a:endParaRPr>
          </a:p>
        </p:txBody>
      </p:sp>
      <p:sp>
        <p:nvSpPr>
          <p:cNvPr id="236" name=""/>
          <p:cNvSpPr txBox="1"/>
          <p:nvPr/>
        </p:nvSpPr>
        <p:spPr>
          <a:xfrm>
            <a:off x="594360" y="3319200"/>
            <a:ext cx="7406640" cy="329040"/>
          </a:xfrm>
          <a:prstGeom prst="rect">
            <a:avLst/>
          </a:prstGeom>
          <a:noFill/>
          <a:ln w="0">
            <a:noFill/>
          </a:ln>
        </p:spPr>
        <p:txBody>
          <a:bodyPr lIns="90000" tIns="45000" rIns="90000" bIns="45000" anchor="t">
            <a:spAutoFit/>
          </a:bodyPr>
          <a:p>
            <a:r>
              <a:rPr lang="en-US" sz="1100" b="0" i="1" u="none" strike="noStrike">
                <a:solidFill>
                  <a:srgbClr val="CCCCCC"/>
                </a:solidFill>
                <a:effectLst/>
                <a:uFillTx/>
                <a:latin typeface="Calibri-Italic"/>
                <a:ea typeface="Calibri-Italic"/>
              </a:rPr>
              <a:t>Ex : Si on éteint à t=14h et min_down=3h : ne peut redémarrer qu'à t=17h au plus tôt</a:t>
            </a:r>
            <a:r>
              <a:rPr lang="en-US" sz="1100" b="0" i="1" u="none" strike="noStrike">
                <a:solidFill>
                  <a:srgbClr val="CCCCCC"/>
                </a:solidFill>
                <a:effectLst/>
                <a:uFillTx/>
                <a:latin typeface="Calibri-Italic"/>
                <a:ea typeface="Calibri-Italic"/>
              </a:rPr>
              <a:t>.</a:t>
            </a:r>
            <a:endParaRPr lang="en-US" sz="1100" b="0" u="none" strike="noStrike">
              <a:solidFill>
                <a:srgbClr val="000000"/>
              </a:solidFill>
              <a:effectLst/>
              <a:uFillTx/>
              <a:latin typeface="Arial"/>
            </a:endParaRPr>
          </a:p>
        </p:txBody>
      </p:sp>
      <p:sp>
        <p:nvSpPr>
          <p:cNvPr id="237" name=""/>
          <p:cNvSpPr/>
          <p:nvPr/>
        </p:nvSpPr>
        <p:spPr>
          <a:xfrm>
            <a:off x="8229600" y="2587680"/>
            <a:ext cx="3475080" cy="503280"/>
          </a:xfrm>
          <a:custGeom>
            <a:avLst/>
            <a:gdLst/>
            <a:ahLst/>
            <a:rect l="0" t="0" r="r" b="b"/>
            <a:pathLst>
              <a:path w="9653" h="1398">
                <a:moveTo>
                  <a:pt x="0" y="0"/>
                </a:moveTo>
                <a:lnTo>
                  <a:pt x="9653" y="0"/>
                </a:lnTo>
                <a:lnTo>
                  <a:pt x="9653" y="1398"/>
                </a:lnTo>
                <a:lnTo>
                  <a:pt x="0" y="1398"/>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38" name=""/>
          <p:cNvSpPr txBox="1"/>
          <p:nvPr/>
        </p:nvSpPr>
        <p:spPr>
          <a:xfrm>
            <a:off x="8366760" y="2606040"/>
            <a:ext cx="3200400" cy="502920"/>
          </a:xfrm>
          <a:prstGeom prst="rect">
            <a:avLst/>
          </a:prstGeom>
          <a:noFill/>
          <a:ln w="0">
            <a:noFill/>
          </a:ln>
        </p:spPr>
        <p:txBody>
          <a:bodyPr lIns="90000" tIns="45000" rIns="90000" bIns="45000" anchor="t">
            <a:spAutoFit/>
          </a:bodyPr>
          <a:p>
            <a:r>
              <a:rPr lang="en-US" sz="1100" b="0" i="1" u="none" strike="noStrike">
                <a:solidFill>
                  <a:srgbClr val="2DCC70"/>
                </a:solidFill>
                <a:effectLst/>
                <a:uFillTx/>
                <a:latin typeface="Calibri-Italic"/>
                <a:ea typeface="Calibri-Italic"/>
              </a:rPr>
              <a:t>Si sd[g,t]=1 (arrêt), alors u[g,t'] = 0 pour t' ∈ [t, t+min_down-1]</a:t>
            </a:r>
            <a:endParaRPr lang="en-US" sz="1100" b="0" u="none" strike="noStrike">
              <a:solidFill>
                <a:srgbClr val="000000"/>
              </a:solidFill>
              <a:effectLst/>
              <a:uFillTx/>
              <a:latin typeface="Arial"/>
            </a:endParaRPr>
          </a:p>
        </p:txBody>
      </p:sp>
      <p:sp>
        <p:nvSpPr>
          <p:cNvPr id="239" name=""/>
          <p:cNvSpPr/>
          <p:nvPr/>
        </p:nvSpPr>
        <p:spPr>
          <a:xfrm>
            <a:off x="365760" y="3840480"/>
            <a:ext cx="11430360" cy="1216440"/>
          </a:xfrm>
          <a:custGeom>
            <a:avLst/>
            <a:gdLst/>
            <a:ahLst/>
            <a:rect l="0" t="0" r="r" b="b"/>
            <a:pathLst>
              <a:path w="31751" h="3379">
                <a:moveTo>
                  <a:pt x="0" y="0"/>
                </a:moveTo>
                <a:lnTo>
                  <a:pt x="31751" y="0"/>
                </a:lnTo>
                <a:lnTo>
                  <a:pt x="31751" y="3379"/>
                </a:lnTo>
                <a:lnTo>
                  <a:pt x="0" y="337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40" name=""/>
          <p:cNvSpPr/>
          <p:nvPr/>
        </p:nvSpPr>
        <p:spPr>
          <a:xfrm>
            <a:off x="365760" y="3840480"/>
            <a:ext cx="55080" cy="1216440"/>
          </a:xfrm>
          <a:custGeom>
            <a:avLst/>
            <a:gdLst/>
            <a:ahLst/>
            <a:rect l="0" t="0" r="r" b="b"/>
            <a:pathLst>
              <a:path w="153" h="3379">
                <a:moveTo>
                  <a:pt x="0" y="0"/>
                </a:moveTo>
                <a:lnTo>
                  <a:pt x="153" y="0"/>
                </a:lnTo>
                <a:lnTo>
                  <a:pt x="153" y="3379"/>
                </a:lnTo>
                <a:lnTo>
                  <a:pt x="0" y="3379"/>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41" name=""/>
          <p:cNvSpPr txBox="1"/>
          <p:nvPr/>
        </p:nvSpPr>
        <p:spPr>
          <a:xfrm>
            <a:off x="594360" y="3877200"/>
            <a:ext cx="7680960" cy="292680"/>
          </a:xfrm>
          <a:prstGeom prst="rect">
            <a:avLst/>
          </a:prstGeom>
          <a:noFill/>
          <a:ln w="0">
            <a:noFill/>
          </a:ln>
        </p:spPr>
        <p:txBody>
          <a:bodyPr lIns="90000" tIns="45000" rIns="90000" bIns="45000" anchor="t">
            <a:spAutoFit/>
          </a:bodyPr>
          <a:p>
            <a:r>
              <a:rPr lang="en-US" sz="1300" b="1" u="none" strike="noStrike">
                <a:solidFill>
                  <a:srgbClr val="E86916"/>
                </a:solidFill>
                <a:effectLst/>
                <a:uFillTx/>
                <a:latin typeface="Calibri-Bold"/>
                <a:ea typeface="Calibri-Bold"/>
              </a:rPr>
              <a:t>Rampe de puissance  (montée/descente progressive)</a:t>
            </a:r>
            <a:endParaRPr lang="en-US" sz="1300" b="0" u="none" strike="noStrike">
              <a:solidFill>
                <a:srgbClr val="000000"/>
              </a:solidFill>
              <a:effectLst/>
              <a:uFillTx/>
              <a:latin typeface="Arial"/>
            </a:endParaRPr>
          </a:p>
        </p:txBody>
      </p:sp>
      <p:sp>
        <p:nvSpPr>
          <p:cNvPr id="242" name=""/>
          <p:cNvSpPr txBox="1"/>
          <p:nvPr/>
        </p:nvSpPr>
        <p:spPr>
          <a:xfrm>
            <a:off x="594360" y="4151520"/>
            <a:ext cx="7406640" cy="47556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Une centrale ne peut pas passer de 100 MW à 400 MW en 1 heure. Elle monte et descend progressivement, avec une vitesse max (ramp_up/ramp_down)</a:t>
            </a:r>
            <a:r>
              <a:rPr lang="en-US" sz="1200" b="0" u="none" strike="noStrike">
                <a:solidFill>
                  <a:srgbClr val="FFFFFF"/>
                </a:solidFill>
                <a:effectLst/>
                <a:uFillTx/>
                <a:latin typeface="Calibri"/>
                <a:ea typeface="Calibri"/>
              </a:rPr>
              <a:t>.</a:t>
            </a:r>
            <a:endParaRPr lang="en-US" sz="1200" b="0" u="none" strike="noStrike">
              <a:solidFill>
                <a:srgbClr val="000000"/>
              </a:solidFill>
              <a:effectLst/>
              <a:uFillTx/>
              <a:latin typeface="Arial"/>
            </a:endParaRPr>
          </a:p>
        </p:txBody>
      </p:sp>
      <p:sp>
        <p:nvSpPr>
          <p:cNvPr id="243" name=""/>
          <p:cNvSpPr txBox="1"/>
          <p:nvPr/>
        </p:nvSpPr>
        <p:spPr>
          <a:xfrm>
            <a:off x="594360" y="4645080"/>
            <a:ext cx="7406640" cy="329040"/>
          </a:xfrm>
          <a:prstGeom prst="rect">
            <a:avLst/>
          </a:prstGeom>
          <a:noFill/>
          <a:ln w="0">
            <a:noFill/>
          </a:ln>
        </p:spPr>
        <p:txBody>
          <a:bodyPr lIns="90000" tIns="45000" rIns="90000" bIns="45000" anchor="t">
            <a:spAutoFit/>
          </a:bodyPr>
          <a:p>
            <a:r>
              <a:rPr lang="en-US" sz="1100" b="0" i="1" u="none" strike="noStrike">
                <a:solidFill>
                  <a:srgbClr val="CCCCCC"/>
                </a:solidFill>
                <a:effectLst/>
                <a:uFillTx/>
                <a:latin typeface="Calibri-Italic"/>
                <a:ea typeface="Calibri-Italic"/>
              </a:rPr>
              <a:t>Ex : Centrale au charbon : +50 MW max par heure. Turbine gaz : +150 MW/h</a:t>
            </a:r>
            <a:r>
              <a:rPr lang="en-US" sz="1100" b="0" i="1" u="none" strike="noStrike">
                <a:solidFill>
                  <a:srgbClr val="CCCCCC"/>
                </a:solidFill>
                <a:effectLst/>
                <a:uFillTx/>
                <a:latin typeface="Calibri-Italic"/>
                <a:ea typeface="Calibri-Italic"/>
              </a:rPr>
              <a:t>.</a:t>
            </a:r>
            <a:endParaRPr lang="en-US" sz="1100" b="0" u="none" strike="noStrike">
              <a:solidFill>
                <a:srgbClr val="000000"/>
              </a:solidFill>
              <a:effectLst/>
              <a:uFillTx/>
              <a:latin typeface="Arial"/>
            </a:endParaRPr>
          </a:p>
        </p:txBody>
      </p:sp>
      <p:sp>
        <p:nvSpPr>
          <p:cNvPr id="244" name=""/>
          <p:cNvSpPr/>
          <p:nvPr/>
        </p:nvSpPr>
        <p:spPr>
          <a:xfrm>
            <a:off x="8229600" y="3913560"/>
            <a:ext cx="3475080" cy="503280"/>
          </a:xfrm>
          <a:custGeom>
            <a:avLst/>
            <a:gdLst/>
            <a:ahLst/>
            <a:rect l="0" t="0" r="r" b="b"/>
            <a:pathLst>
              <a:path w="9653" h="1398">
                <a:moveTo>
                  <a:pt x="0" y="0"/>
                </a:moveTo>
                <a:lnTo>
                  <a:pt x="9653" y="0"/>
                </a:lnTo>
                <a:lnTo>
                  <a:pt x="9653" y="1398"/>
                </a:lnTo>
                <a:lnTo>
                  <a:pt x="0" y="1398"/>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45" name=""/>
          <p:cNvSpPr txBox="1"/>
          <p:nvPr/>
        </p:nvSpPr>
        <p:spPr>
          <a:xfrm>
            <a:off x="8366760" y="3931920"/>
            <a:ext cx="3200400" cy="502920"/>
          </a:xfrm>
          <a:prstGeom prst="rect">
            <a:avLst/>
          </a:prstGeom>
          <a:noFill/>
          <a:ln w="0">
            <a:noFill/>
          </a:ln>
        </p:spPr>
        <p:txBody>
          <a:bodyPr lIns="90000" tIns="45000" rIns="90000" bIns="45000" anchor="t">
            <a:spAutoFit/>
          </a:bodyPr>
          <a:p>
            <a:r>
              <a:rPr lang="en-US" sz="1100" b="0" i="1" u="none" strike="noStrike">
                <a:solidFill>
                  <a:srgbClr val="2DCC70"/>
                </a:solidFill>
                <a:effectLst/>
                <a:uFillTx/>
                <a:latin typeface="Calibri-Italic"/>
                <a:ea typeface="Calibri-Italic"/>
              </a:rPr>
              <a:t>P[g,t] − P[g,t-1]  ≤  ramp_up     (montée)</a:t>
            </a:r>
            <a:endParaRPr lang="en-US" sz="1100" b="0" u="none" strike="noStrike">
              <a:solidFill>
                <a:srgbClr val="000000"/>
              </a:solidFill>
              <a:effectLst/>
              <a:uFillTx/>
              <a:latin typeface="Arial"/>
            </a:endParaRPr>
          </a:p>
        </p:txBody>
      </p:sp>
      <p:sp>
        <p:nvSpPr>
          <p:cNvPr id="246" name=""/>
          <p:cNvSpPr/>
          <p:nvPr/>
        </p:nvSpPr>
        <p:spPr>
          <a:xfrm>
            <a:off x="365760" y="5166360"/>
            <a:ext cx="11430360" cy="1216440"/>
          </a:xfrm>
          <a:custGeom>
            <a:avLst/>
            <a:gdLst/>
            <a:ahLst/>
            <a:rect l="0" t="0" r="r" b="b"/>
            <a:pathLst>
              <a:path w="31751" h="3379">
                <a:moveTo>
                  <a:pt x="0" y="0"/>
                </a:moveTo>
                <a:lnTo>
                  <a:pt x="31751" y="0"/>
                </a:lnTo>
                <a:lnTo>
                  <a:pt x="31751" y="3379"/>
                </a:lnTo>
                <a:lnTo>
                  <a:pt x="0" y="337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47" name=""/>
          <p:cNvSpPr/>
          <p:nvPr/>
        </p:nvSpPr>
        <p:spPr>
          <a:xfrm>
            <a:off x="365760" y="5166360"/>
            <a:ext cx="55080" cy="1216440"/>
          </a:xfrm>
          <a:custGeom>
            <a:avLst/>
            <a:gdLst/>
            <a:ahLst/>
            <a:rect l="0" t="0" r="r" b="b"/>
            <a:pathLst>
              <a:path w="153" h="3379">
                <a:moveTo>
                  <a:pt x="0" y="0"/>
                </a:moveTo>
                <a:lnTo>
                  <a:pt x="153" y="0"/>
                </a:lnTo>
                <a:lnTo>
                  <a:pt x="153" y="3379"/>
                </a:lnTo>
                <a:lnTo>
                  <a:pt x="0" y="3379"/>
                </a:lnTo>
                <a:lnTo>
                  <a:pt x="0" y="0"/>
                </a:lnTo>
                <a:close/>
              </a:path>
            </a:pathLst>
          </a:custGeom>
          <a:solidFill>
            <a:srgbClr val="2DCC7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48" name=""/>
          <p:cNvSpPr txBox="1"/>
          <p:nvPr/>
        </p:nvSpPr>
        <p:spPr>
          <a:xfrm>
            <a:off x="594360" y="5203080"/>
            <a:ext cx="7680960" cy="292680"/>
          </a:xfrm>
          <a:prstGeom prst="rect">
            <a:avLst/>
          </a:prstGeom>
          <a:noFill/>
          <a:ln w="0">
            <a:noFill/>
          </a:ln>
        </p:spPr>
        <p:txBody>
          <a:bodyPr lIns="90000" tIns="45000" rIns="90000" bIns="45000" anchor="t">
            <a:spAutoFit/>
          </a:bodyPr>
          <a:p>
            <a:r>
              <a:rPr lang="en-US" sz="1300" b="1" u="none" strike="noStrike">
                <a:solidFill>
                  <a:srgbClr val="2DCC70"/>
                </a:solidFill>
                <a:effectLst/>
                <a:uFillTx/>
                <a:latin typeface="Calibri-Bold"/>
                <a:ea typeface="Calibri-Bold"/>
              </a:rPr>
              <a:t>Liaison état / transitions</a:t>
            </a:r>
            <a:endParaRPr lang="en-US" sz="1300" b="0" u="none" strike="noStrike">
              <a:solidFill>
                <a:srgbClr val="000000"/>
              </a:solidFill>
              <a:effectLst/>
              <a:uFillTx/>
              <a:latin typeface="Arial"/>
            </a:endParaRPr>
          </a:p>
        </p:txBody>
      </p:sp>
      <p:sp>
        <p:nvSpPr>
          <p:cNvPr id="249" name=""/>
          <p:cNvSpPr txBox="1"/>
          <p:nvPr/>
        </p:nvSpPr>
        <p:spPr>
          <a:xfrm>
            <a:off x="594360" y="5477400"/>
            <a:ext cx="7406640" cy="47556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On suit précisément chaque démarrage et arrêt : su[g,t]=1 si on passe de OFF à ON, sd[g,t]=1 si on passe de ON à OFF. Ces indicateurs déclenchent des coûts supplémentaires</a:t>
            </a:r>
            <a:r>
              <a:rPr lang="en-US" sz="1200" b="0" u="none" strike="noStrike">
                <a:solidFill>
                  <a:srgbClr val="FFFFFF"/>
                </a:solidFill>
                <a:effectLst/>
                <a:uFillTx/>
                <a:latin typeface="Calibri"/>
                <a:ea typeface="Calibri"/>
              </a:rPr>
              <a:t>.</a:t>
            </a:r>
            <a:endParaRPr lang="en-US" sz="1200" b="0" u="none" strike="noStrike">
              <a:solidFill>
                <a:srgbClr val="000000"/>
              </a:solidFill>
              <a:effectLst/>
              <a:uFillTx/>
              <a:latin typeface="Arial"/>
            </a:endParaRPr>
          </a:p>
        </p:txBody>
      </p:sp>
      <p:sp>
        <p:nvSpPr>
          <p:cNvPr id="250" name=""/>
          <p:cNvSpPr txBox="1"/>
          <p:nvPr/>
        </p:nvSpPr>
        <p:spPr>
          <a:xfrm>
            <a:off x="594360" y="5970960"/>
            <a:ext cx="7406640" cy="329040"/>
          </a:xfrm>
          <a:prstGeom prst="rect">
            <a:avLst/>
          </a:prstGeom>
          <a:noFill/>
          <a:ln w="0">
            <a:noFill/>
          </a:ln>
        </p:spPr>
        <p:txBody>
          <a:bodyPr lIns="90000" tIns="45000" rIns="90000" bIns="45000" anchor="t">
            <a:spAutoFit/>
          </a:bodyPr>
          <a:p>
            <a:r>
              <a:rPr lang="en-US" sz="1100" b="0" i="1" u="none" strike="noStrike">
                <a:solidFill>
                  <a:srgbClr val="CCCCCC"/>
                </a:solidFill>
                <a:effectLst/>
                <a:uFillTx/>
                <a:latin typeface="Calibri-Italic"/>
                <a:ea typeface="Calibri-Italic"/>
              </a:rPr>
              <a:t>Ex : Démarrer une centrale coûte ~2 000 $ (usure, fuel d'allumage). Arrêt : ~500</a:t>
            </a:r>
            <a:r>
              <a:rPr lang="en-US" sz="1100" b="0" i="1" u="none" strike="noStrike">
                <a:solidFill>
                  <a:srgbClr val="CCCCCC"/>
                </a:solidFill>
                <a:effectLst/>
                <a:uFillTx/>
                <a:latin typeface="Calibri-Italic"/>
                <a:ea typeface="Calibri-Italic"/>
              </a:rPr>
              <a:t> $.</a:t>
            </a:r>
            <a:endParaRPr lang="en-US" sz="1100" b="0" u="none" strike="noStrike">
              <a:solidFill>
                <a:srgbClr val="000000"/>
              </a:solidFill>
              <a:effectLst/>
              <a:uFillTx/>
              <a:latin typeface="Arial"/>
            </a:endParaRPr>
          </a:p>
        </p:txBody>
      </p:sp>
      <p:sp>
        <p:nvSpPr>
          <p:cNvPr id="251" name=""/>
          <p:cNvSpPr/>
          <p:nvPr/>
        </p:nvSpPr>
        <p:spPr>
          <a:xfrm>
            <a:off x="8229600" y="5239440"/>
            <a:ext cx="3475080" cy="503280"/>
          </a:xfrm>
          <a:custGeom>
            <a:avLst/>
            <a:gdLst/>
            <a:ahLst/>
            <a:rect l="0" t="0" r="r" b="b"/>
            <a:pathLst>
              <a:path w="9653" h="1398">
                <a:moveTo>
                  <a:pt x="0" y="0"/>
                </a:moveTo>
                <a:lnTo>
                  <a:pt x="9653" y="0"/>
                </a:lnTo>
                <a:lnTo>
                  <a:pt x="9653" y="1398"/>
                </a:lnTo>
                <a:lnTo>
                  <a:pt x="0" y="1398"/>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52" name=""/>
          <p:cNvSpPr txBox="1"/>
          <p:nvPr/>
        </p:nvSpPr>
        <p:spPr>
          <a:xfrm>
            <a:off x="8366760" y="5257800"/>
            <a:ext cx="3200400" cy="502920"/>
          </a:xfrm>
          <a:prstGeom prst="rect">
            <a:avLst/>
          </a:prstGeom>
          <a:noFill/>
          <a:ln w="0">
            <a:noFill/>
          </a:ln>
        </p:spPr>
        <p:txBody>
          <a:bodyPr lIns="90000" tIns="45000" rIns="90000" bIns="45000" anchor="t">
            <a:spAutoFit/>
          </a:bodyPr>
          <a:p>
            <a:r>
              <a:rPr lang="en-US" sz="1100" b="0" i="1" u="none" strike="noStrike">
                <a:solidFill>
                  <a:srgbClr val="2DCC70"/>
                </a:solidFill>
                <a:effectLst/>
                <a:uFillTx/>
                <a:latin typeface="Calibri-Italic"/>
                <a:ea typeface="Calibri-Italic"/>
              </a:rPr>
              <a:t>u[g,t] − u[g,t−1]  =  su[g,t] − sd[g,t]</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3"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54"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255"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256" name=""/>
          <p:cNvSpPr/>
          <p:nvPr/>
        </p:nvSpPr>
        <p:spPr>
          <a:xfrm>
            <a:off x="457200" y="155520"/>
            <a:ext cx="2926440" cy="293040"/>
          </a:xfrm>
          <a:custGeom>
            <a:avLst/>
            <a:gdLst/>
            <a:ahLst/>
            <a:rect l="0" t="0" r="r" b="b"/>
            <a:pathLst>
              <a:path w="8129" h="814">
                <a:moveTo>
                  <a:pt x="0" y="0"/>
                </a:moveTo>
                <a:lnTo>
                  <a:pt x="8129" y="0"/>
                </a:lnTo>
                <a:lnTo>
                  <a:pt x="8129" y="814"/>
                </a:lnTo>
                <a:lnTo>
                  <a:pt x="0" y="81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57" name=""/>
          <p:cNvSpPr txBox="1"/>
          <p:nvPr/>
        </p:nvSpPr>
        <p:spPr>
          <a:xfrm>
            <a:off x="502920" y="155520"/>
            <a:ext cx="2834640" cy="292680"/>
          </a:xfrm>
          <a:prstGeom prst="rect">
            <a:avLst/>
          </a:prstGeom>
          <a:noFill/>
          <a:ln w="0">
            <a:noFill/>
          </a:ln>
        </p:spPr>
        <p:txBody>
          <a:bodyPr lIns="90000" tIns="45000" rIns="90000" bIns="45000" anchor="t">
            <a:spAutoFit/>
          </a:bodyPr>
          <a:p>
            <a:pPr algn="ctr" rtl="1"/>
            <a:r>
              <a:rPr lang="en-US" sz="1000" b="1" u="none" strike="noStrike">
                <a:solidFill>
                  <a:srgbClr val="FFFFFF"/>
                </a:solidFill>
                <a:effectLst/>
                <a:uFillTx/>
                <a:latin typeface="Calibri-Bold"/>
                <a:ea typeface="Calibri-Bold"/>
              </a:rPr>
              <a:t>05</a:t>
            </a:r>
            <a:r>
              <a:rPr lang="en-US" sz="1000" b="1" u="none" strike="noStrike">
                <a:solidFill>
                  <a:srgbClr val="FFFFFF"/>
                </a:solidFill>
                <a:effectLst/>
                <a:uFillTx/>
                <a:latin typeface="Calibri-Bold"/>
                <a:ea typeface="Calibri-Bold"/>
              </a:rPr>
              <a:t> · </a:t>
            </a:r>
            <a:r>
              <a:rPr lang="en-US" sz="1000" b="1" u="none" strike="noStrike">
                <a:solidFill>
                  <a:srgbClr val="FFFFFF"/>
                </a:solidFill>
                <a:effectLst/>
                <a:uFillTx/>
                <a:latin typeface="Calibri-Bold"/>
                <a:ea typeface="Calibri-Bold"/>
              </a:rPr>
              <a:t>GÉRER L'INCERTITUDE</a:t>
            </a:r>
            <a:endParaRPr lang="en-US" sz="1000" b="0" u="none" strike="noStrike">
              <a:solidFill>
                <a:srgbClr val="000000"/>
              </a:solidFill>
              <a:effectLst/>
              <a:uFillTx/>
              <a:latin typeface="Arial"/>
            </a:endParaRPr>
          </a:p>
        </p:txBody>
      </p:sp>
      <p:sp>
        <p:nvSpPr>
          <p:cNvPr id="258" name=""/>
          <p:cNvSpPr txBox="1"/>
          <p:nvPr/>
        </p:nvSpPr>
        <p:spPr>
          <a:xfrm>
            <a:off x="502920" y="530280"/>
            <a:ext cx="11612880" cy="594360"/>
          </a:xfrm>
          <a:prstGeom prst="rect">
            <a:avLst/>
          </a:prstGeom>
          <a:noFill/>
          <a:ln w="0">
            <a:noFill/>
          </a:ln>
        </p:spPr>
        <p:txBody>
          <a:bodyPr lIns="90000" tIns="45000" rIns="90000" bIns="45000" anchor="t">
            <a:spAutoFit/>
          </a:bodyPr>
          <a:p>
            <a:r>
              <a:rPr lang="en-US" sz="2400" b="1" u="none" strike="noStrike">
                <a:solidFill>
                  <a:srgbClr val="FFFFFF"/>
                </a:solidFill>
                <a:effectLst/>
                <a:uFillTx/>
                <a:latin typeface="Calibri-Bold"/>
                <a:ea typeface="Calibri-Bold"/>
              </a:rPr>
              <a:t>Et si on ne sait pas combien soufflera le vent demain</a:t>
            </a:r>
            <a:r>
              <a:rPr lang="en-US" sz="2400" b="1" u="none" strike="noStrike">
                <a:solidFill>
                  <a:srgbClr val="FFFFFF"/>
                </a:solidFill>
                <a:effectLst/>
                <a:uFillTx/>
                <a:latin typeface="Calibri-Bold"/>
                <a:ea typeface="Calibri-Bold"/>
              </a:rPr>
              <a:t> ?</a:t>
            </a:r>
            <a:endParaRPr lang="en-US" sz="2400" b="0" u="none" strike="noStrike">
              <a:solidFill>
                <a:srgbClr val="000000"/>
              </a:solidFill>
              <a:effectLst/>
              <a:uFillTx/>
              <a:latin typeface="Arial"/>
            </a:endParaRPr>
          </a:p>
        </p:txBody>
      </p:sp>
      <p:sp>
        <p:nvSpPr>
          <p:cNvPr id="259" name=""/>
          <p:cNvSpPr/>
          <p:nvPr/>
        </p:nvSpPr>
        <p:spPr>
          <a:xfrm>
            <a:off x="365760" y="1188720"/>
            <a:ext cx="11430360" cy="777600"/>
          </a:xfrm>
          <a:custGeom>
            <a:avLst/>
            <a:gdLst/>
            <a:ahLst/>
            <a:rect l="0" t="0" r="r" b="b"/>
            <a:pathLst>
              <a:path w="31751" h="2160">
                <a:moveTo>
                  <a:pt x="0" y="0"/>
                </a:moveTo>
                <a:lnTo>
                  <a:pt x="31751" y="0"/>
                </a:lnTo>
                <a:lnTo>
                  <a:pt x="31751" y="2160"/>
                </a:lnTo>
                <a:lnTo>
                  <a:pt x="0" y="2160"/>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60" name=""/>
          <p:cNvSpPr/>
          <p:nvPr/>
        </p:nvSpPr>
        <p:spPr>
          <a:xfrm>
            <a:off x="365760" y="1188720"/>
            <a:ext cx="55080" cy="777600"/>
          </a:xfrm>
          <a:custGeom>
            <a:avLst/>
            <a:gdLst/>
            <a:ahLst/>
            <a:rect l="0" t="0" r="r" b="b"/>
            <a:pathLst>
              <a:path w="153" h="2160">
                <a:moveTo>
                  <a:pt x="0" y="0"/>
                </a:moveTo>
                <a:lnTo>
                  <a:pt x="153" y="0"/>
                </a:lnTo>
                <a:lnTo>
                  <a:pt x="153" y="2160"/>
                </a:lnTo>
                <a:lnTo>
                  <a:pt x="0" y="2160"/>
                </a:lnTo>
                <a:lnTo>
                  <a:pt x="0" y="0"/>
                </a:lnTo>
                <a:close/>
              </a:path>
            </a:pathLst>
          </a:custGeom>
          <a:solidFill>
            <a:srgbClr val="E74B3B"/>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61" name=""/>
          <p:cNvSpPr txBox="1"/>
          <p:nvPr/>
        </p:nvSpPr>
        <p:spPr>
          <a:xfrm>
            <a:off x="594360" y="1216080"/>
            <a:ext cx="11064240" cy="314280"/>
          </a:xfrm>
          <a:prstGeom prst="rect">
            <a:avLst/>
          </a:prstGeom>
          <a:noFill/>
          <a:ln w="0">
            <a:noFill/>
          </a:ln>
        </p:spPr>
        <p:txBody>
          <a:bodyPr lIns="90000" tIns="45000" rIns="90000" bIns="45000" anchor="t">
            <a:spAutoFit/>
          </a:bodyPr>
          <a:p>
            <a:r>
              <a:rPr lang="en-US" sz="1300" b="1" u="none" strike="noStrike">
                <a:solidFill>
                  <a:srgbClr val="E74B3B"/>
                </a:solidFill>
                <a:effectLst/>
                <a:uFillTx/>
                <a:latin typeface="Calibri-Bold"/>
                <a:ea typeface="Calibri-Bold"/>
              </a:rPr>
              <a:t>Le défi des renouvelables : la production éolienne/solaire est imprévisible</a:t>
            </a:r>
            <a:r>
              <a:rPr lang="en-US" sz="1300" b="1" u="none" strike="noStrike">
                <a:solidFill>
                  <a:srgbClr val="E74B3B"/>
                </a:solidFill>
                <a:effectLst/>
                <a:uFillTx/>
                <a:latin typeface="Calibri-Bold"/>
                <a:ea typeface="Calibri-Bold"/>
              </a:rPr>
              <a:t>.</a:t>
            </a:r>
            <a:endParaRPr lang="en-US" sz="1300" b="0" u="none" strike="noStrike">
              <a:solidFill>
                <a:srgbClr val="000000"/>
              </a:solidFill>
              <a:effectLst/>
              <a:uFillTx/>
              <a:latin typeface="Arial"/>
            </a:endParaRPr>
          </a:p>
        </p:txBody>
      </p:sp>
      <p:sp>
        <p:nvSpPr>
          <p:cNvPr id="262" name=""/>
          <p:cNvSpPr txBox="1"/>
          <p:nvPr/>
        </p:nvSpPr>
        <p:spPr>
          <a:xfrm>
            <a:off x="594360" y="1490400"/>
            <a:ext cx="11064240" cy="411480"/>
          </a:xfrm>
          <a:prstGeom prst="rect">
            <a:avLst/>
          </a:prstGeom>
          <a:noFill/>
          <a:ln w="0">
            <a:noFill/>
          </a:ln>
        </p:spPr>
        <p:txBody>
          <a:bodyPr lIns="90000" tIns="45000" rIns="90000" bIns="45000" anchor="t">
            <a:spAutoFit/>
          </a:bodyPr>
          <a:p>
            <a:r>
              <a:rPr lang="en-US" sz="1300" b="0" u="none" strike="noStrike">
                <a:solidFill>
                  <a:srgbClr val="F39C11"/>
                </a:solidFill>
                <a:effectLst/>
                <a:uFillTx/>
                <a:latin typeface="Calibri"/>
                <a:ea typeface="Calibri"/>
              </a:rPr>
              <a:t>Si on planifie pour un vent fort et qu'il ne vient pas : pénurie. Si on planifie pour du calme et que c'est tempête : gaspillage</a:t>
            </a:r>
            <a:r>
              <a:rPr lang="en-US" sz="1300" b="0" u="none" strike="noStrike">
                <a:solidFill>
                  <a:srgbClr val="F39C11"/>
                </a:solidFill>
                <a:effectLst/>
                <a:uFillTx/>
                <a:latin typeface="Calibri"/>
                <a:ea typeface="Calibri"/>
              </a:rPr>
              <a:t>.</a:t>
            </a:r>
            <a:endParaRPr lang="en-US" sz="1300" b="0" u="none" strike="noStrike">
              <a:solidFill>
                <a:srgbClr val="000000"/>
              </a:solidFill>
              <a:effectLst/>
              <a:uFillTx/>
              <a:latin typeface="Arial"/>
            </a:endParaRPr>
          </a:p>
        </p:txBody>
      </p:sp>
      <p:sp>
        <p:nvSpPr>
          <p:cNvPr id="263" name=""/>
          <p:cNvSpPr/>
          <p:nvPr/>
        </p:nvSpPr>
        <p:spPr>
          <a:xfrm>
            <a:off x="365760" y="2057400"/>
            <a:ext cx="11430360" cy="402840"/>
          </a:xfrm>
          <a:custGeom>
            <a:avLst/>
            <a:gdLst/>
            <a:ahLst/>
            <a:rect l="0" t="0" r="r" b="b"/>
            <a:pathLst>
              <a:path w="31751" h="1119">
                <a:moveTo>
                  <a:pt x="0" y="0"/>
                </a:moveTo>
                <a:lnTo>
                  <a:pt x="31751" y="0"/>
                </a:lnTo>
                <a:lnTo>
                  <a:pt x="31751" y="1119"/>
                </a:lnTo>
                <a:lnTo>
                  <a:pt x="0" y="111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64" name=""/>
          <p:cNvSpPr txBox="1"/>
          <p:nvPr/>
        </p:nvSpPr>
        <p:spPr>
          <a:xfrm>
            <a:off x="548640" y="2084760"/>
            <a:ext cx="11064240" cy="347400"/>
          </a:xfrm>
          <a:prstGeom prst="rect">
            <a:avLst/>
          </a:prstGeom>
          <a:noFill/>
          <a:ln w="0">
            <a:noFill/>
          </a:ln>
        </p:spPr>
        <p:txBody>
          <a:bodyPr lIns="90000" tIns="45000" rIns="90000" bIns="45000" anchor="t">
            <a:spAutoFit/>
          </a:bodyPr>
          <a:p>
            <a:r>
              <a:rPr lang="en-US" sz="1400" b="1" u="none" strike="noStrike">
                <a:solidFill>
                  <a:srgbClr val="FFFFFF"/>
                </a:solidFill>
                <a:effectLst/>
                <a:uFillTx/>
                <a:latin typeface="Calibri-Bold"/>
                <a:ea typeface="Calibri-Bold"/>
              </a:rPr>
              <a:t>Notre approche : décision en 2 étapes (Two-Stage Stochastic Programming)</a:t>
            </a:r>
            <a:endParaRPr lang="en-US" sz="1400" b="0" u="none" strike="noStrike">
              <a:solidFill>
                <a:srgbClr val="000000"/>
              </a:solidFill>
              <a:effectLst/>
              <a:uFillTx/>
              <a:latin typeface="Arial"/>
            </a:endParaRPr>
          </a:p>
        </p:txBody>
      </p:sp>
      <p:sp>
        <p:nvSpPr>
          <p:cNvPr id="265" name=""/>
          <p:cNvSpPr/>
          <p:nvPr/>
        </p:nvSpPr>
        <p:spPr>
          <a:xfrm>
            <a:off x="365760" y="2541960"/>
            <a:ext cx="5486760" cy="1417680"/>
          </a:xfrm>
          <a:custGeom>
            <a:avLst/>
            <a:gdLst/>
            <a:ahLst/>
            <a:rect l="0" t="0" r="r" b="b"/>
            <a:pathLst>
              <a:path w="15241" h="3938">
                <a:moveTo>
                  <a:pt x="0" y="0"/>
                </a:moveTo>
                <a:lnTo>
                  <a:pt x="15241" y="0"/>
                </a:lnTo>
                <a:lnTo>
                  <a:pt x="15241" y="3938"/>
                </a:lnTo>
                <a:lnTo>
                  <a:pt x="0" y="3938"/>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66" name=""/>
          <p:cNvSpPr/>
          <p:nvPr/>
        </p:nvSpPr>
        <p:spPr>
          <a:xfrm>
            <a:off x="365760" y="2541960"/>
            <a:ext cx="55080" cy="1417680"/>
          </a:xfrm>
          <a:custGeom>
            <a:avLst/>
            <a:gdLst/>
            <a:ahLst/>
            <a:rect l="0" t="0" r="r" b="b"/>
            <a:pathLst>
              <a:path w="153" h="3938">
                <a:moveTo>
                  <a:pt x="0" y="0"/>
                </a:moveTo>
                <a:lnTo>
                  <a:pt x="153" y="0"/>
                </a:lnTo>
                <a:lnTo>
                  <a:pt x="153" y="3938"/>
                </a:lnTo>
                <a:lnTo>
                  <a:pt x="0" y="3938"/>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67" name=""/>
          <p:cNvSpPr txBox="1"/>
          <p:nvPr/>
        </p:nvSpPr>
        <p:spPr>
          <a:xfrm>
            <a:off x="594360" y="2578680"/>
            <a:ext cx="5029200" cy="292680"/>
          </a:xfrm>
          <a:prstGeom prst="rect">
            <a:avLst/>
          </a:prstGeom>
          <a:noFill/>
          <a:ln w="0">
            <a:noFill/>
          </a:ln>
        </p:spPr>
        <p:txBody>
          <a:bodyPr lIns="90000" tIns="45000" rIns="90000" bIns="45000" anchor="t">
            <a:spAutoFit/>
          </a:bodyPr>
          <a:p>
            <a:r>
              <a:rPr lang="en-US" sz="1300" b="1" u="none" strike="noStrike">
                <a:solidFill>
                  <a:srgbClr val="E86916"/>
                </a:solidFill>
                <a:effectLst/>
                <a:uFillTx/>
                <a:latin typeface="Calibri-Bold"/>
                <a:ea typeface="Calibri-Bold"/>
              </a:rPr>
              <a:t>Étape 1  —  La veille (avant de savoir)</a:t>
            </a:r>
            <a:endParaRPr lang="en-US" sz="1300" b="0" u="none" strike="noStrike">
              <a:solidFill>
                <a:srgbClr val="000000"/>
              </a:solidFill>
              <a:effectLst/>
              <a:uFillTx/>
              <a:latin typeface="Arial"/>
            </a:endParaRPr>
          </a:p>
        </p:txBody>
      </p:sp>
      <p:sp>
        <p:nvSpPr>
          <p:cNvPr id="268" name=""/>
          <p:cNvSpPr txBox="1"/>
          <p:nvPr/>
        </p:nvSpPr>
        <p:spPr>
          <a:xfrm>
            <a:off x="594360" y="2853000"/>
            <a:ext cx="5029200" cy="82296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On décide quel groupe allumer/éteindre pour demain. Cette décision est commune à tous les futurs possibles. On engage les centrales thermiques à l'avance</a:t>
            </a:r>
            <a:r>
              <a:rPr lang="en-US" sz="1200" b="0" u="none" strike="noStrike">
                <a:solidFill>
                  <a:srgbClr val="FFFFFF"/>
                </a:solidFill>
                <a:effectLst/>
                <a:uFillTx/>
                <a:latin typeface="Calibri"/>
                <a:ea typeface="Calibri"/>
              </a:rPr>
              <a:t>.</a:t>
            </a:r>
            <a:endParaRPr lang="en-US" sz="1200" b="0" u="none" strike="noStrike">
              <a:solidFill>
                <a:srgbClr val="000000"/>
              </a:solidFill>
              <a:effectLst/>
              <a:uFillTx/>
              <a:latin typeface="Arial"/>
            </a:endParaRPr>
          </a:p>
        </p:txBody>
      </p:sp>
      <p:sp>
        <p:nvSpPr>
          <p:cNvPr id="269" name=""/>
          <p:cNvSpPr txBox="1"/>
          <p:nvPr/>
        </p:nvSpPr>
        <p:spPr>
          <a:xfrm>
            <a:off x="594360" y="3639240"/>
            <a:ext cx="5029200" cy="255960"/>
          </a:xfrm>
          <a:prstGeom prst="rect">
            <a:avLst/>
          </a:prstGeom>
          <a:noFill/>
          <a:ln w="0">
            <a:noFill/>
          </a:ln>
        </p:spPr>
        <p:txBody>
          <a:bodyPr lIns="90000" tIns="45000" rIns="90000" bIns="45000" anchor="t">
            <a:spAutoFit/>
          </a:bodyPr>
          <a:p>
            <a:r>
              <a:rPr lang="en-US" sz="1100" b="0" i="1" u="none" strike="noStrike">
                <a:solidFill>
                  <a:srgbClr val="CCCCCC"/>
                </a:solidFill>
                <a:effectLst/>
                <a:uFillTx/>
                <a:latin typeface="Calibri-Italic"/>
                <a:ea typeface="Calibri-Italic"/>
              </a:rPr>
              <a:t>Variables : u[g,t], su[g,t], sd[g,t]  (partagées entre scénarios)</a:t>
            </a:r>
            <a:endParaRPr lang="en-US" sz="1100" b="0" u="none" strike="noStrike">
              <a:solidFill>
                <a:srgbClr val="000000"/>
              </a:solidFill>
              <a:effectLst/>
              <a:uFillTx/>
              <a:latin typeface="Arial"/>
            </a:endParaRPr>
          </a:p>
        </p:txBody>
      </p:sp>
      <p:sp>
        <p:nvSpPr>
          <p:cNvPr id="270" name=""/>
          <p:cNvSpPr txBox="1"/>
          <p:nvPr/>
        </p:nvSpPr>
        <p:spPr>
          <a:xfrm>
            <a:off x="5989320" y="3063240"/>
            <a:ext cx="457200" cy="541440"/>
          </a:xfrm>
          <a:prstGeom prst="rect">
            <a:avLst/>
          </a:prstGeom>
          <a:noFill/>
          <a:ln w="0">
            <a:noFill/>
          </a:ln>
        </p:spPr>
        <p:txBody>
          <a:bodyPr lIns="90000" tIns="45000" rIns="90000" bIns="45000" anchor="t">
            <a:spAutoFit/>
          </a:bodyPr>
          <a:p>
            <a:pPr algn="ctr" rtl="1"/>
            <a:r>
              <a:rPr lang="en-US" sz="2600" b="1" u="none" strike="noStrike">
                <a:solidFill>
                  <a:srgbClr val="00B4D8"/>
                </a:solidFill>
                <a:effectLst/>
                <a:uFillTx/>
                <a:latin typeface="Calibri-Bold"/>
                <a:ea typeface="Calibri-Bold"/>
              </a:rPr>
              <a:t>→</a:t>
            </a:r>
            <a:endParaRPr lang="en-US" sz="2600" b="0" u="none" strike="noStrike">
              <a:solidFill>
                <a:srgbClr val="000000"/>
              </a:solidFill>
              <a:effectLst/>
              <a:uFillTx/>
              <a:latin typeface="Arial"/>
            </a:endParaRPr>
          </a:p>
        </p:txBody>
      </p:sp>
      <p:sp>
        <p:nvSpPr>
          <p:cNvPr id="271" name=""/>
          <p:cNvSpPr txBox="1"/>
          <p:nvPr/>
        </p:nvSpPr>
        <p:spPr>
          <a:xfrm>
            <a:off x="5943600" y="3474720"/>
            <a:ext cx="548640" cy="374040"/>
          </a:xfrm>
          <a:prstGeom prst="rect">
            <a:avLst/>
          </a:prstGeom>
          <a:noFill/>
          <a:ln w="0">
            <a:noFill/>
          </a:ln>
        </p:spPr>
        <p:txBody>
          <a:bodyPr lIns="90000" tIns="45000" rIns="90000" bIns="45000" anchor="t">
            <a:spAutoFit/>
          </a:bodyPr>
          <a:p>
            <a:pPr algn="ctr" rtl="1"/>
            <a:r>
              <a:rPr lang="en-US" sz="1000" b="0" i="1" u="none" strike="noStrike">
                <a:solidFill>
                  <a:srgbClr val="CCCCCC"/>
                </a:solidFill>
                <a:effectLst/>
                <a:uFillTx/>
                <a:latin typeface="Calibri-Italic"/>
                <a:ea typeface="Calibri-Italic"/>
              </a:rPr>
              <a:t>vent</a:t>
            </a:r>
            <a:endParaRPr lang="en-US" sz="1000" b="0" u="none" strike="noStrike">
              <a:solidFill>
                <a:srgbClr val="000000"/>
              </a:solidFill>
              <a:effectLst/>
              <a:uFillTx/>
              <a:latin typeface="Arial"/>
            </a:endParaRPr>
          </a:p>
          <a:p>
            <a:pPr algn="ctr" rtl="1"/>
            <a:r>
              <a:rPr lang="en-US" sz="1000" b="0" i="1" u="none" strike="noStrike">
                <a:solidFill>
                  <a:srgbClr val="CCCCCC"/>
                </a:solidFill>
                <a:effectLst/>
                <a:uFillTx/>
                <a:latin typeface="Calibri-Italic"/>
                <a:ea typeface="Calibri-Italic"/>
              </a:rPr>
              <a:t>réel</a:t>
            </a:r>
            <a:endParaRPr lang="en-US" sz="1000" b="0" u="none" strike="noStrike">
              <a:solidFill>
                <a:srgbClr val="000000"/>
              </a:solidFill>
              <a:effectLst/>
              <a:uFillTx/>
              <a:latin typeface="Arial"/>
            </a:endParaRPr>
          </a:p>
        </p:txBody>
      </p:sp>
      <p:sp>
        <p:nvSpPr>
          <p:cNvPr id="272" name=""/>
          <p:cNvSpPr/>
          <p:nvPr/>
        </p:nvSpPr>
        <p:spPr>
          <a:xfrm>
            <a:off x="6583680" y="2541960"/>
            <a:ext cx="5212440" cy="1417680"/>
          </a:xfrm>
          <a:custGeom>
            <a:avLst/>
            <a:gdLst/>
            <a:ahLst/>
            <a:rect l="0" t="0" r="r" b="b"/>
            <a:pathLst>
              <a:path w="14479" h="3938">
                <a:moveTo>
                  <a:pt x="0" y="0"/>
                </a:moveTo>
                <a:lnTo>
                  <a:pt x="14479" y="0"/>
                </a:lnTo>
                <a:lnTo>
                  <a:pt x="14479" y="3938"/>
                </a:lnTo>
                <a:lnTo>
                  <a:pt x="0" y="3938"/>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73" name=""/>
          <p:cNvSpPr/>
          <p:nvPr/>
        </p:nvSpPr>
        <p:spPr>
          <a:xfrm>
            <a:off x="6583680" y="2541960"/>
            <a:ext cx="55080" cy="1417680"/>
          </a:xfrm>
          <a:custGeom>
            <a:avLst/>
            <a:gdLst/>
            <a:ahLst/>
            <a:rect l="0" t="0" r="r" b="b"/>
            <a:pathLst>
              <a:path w="153" h="3938">
                <a:moveTo>
                  <a:pt x="0" y="0"/>
                </a:moveTo>
                <a:lnTo>
                  <a:pt x="153" y="0"/>
                </a:lnTo>
                <a:lnTo>
                  <a:pt x="153" y="3938"/>
                </a:lnTo>
                <a:lnTo>
                  <a:pt x="0" y="3938"/>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274" name=""/>
          <p:cNvSpPr txBox="1"/>
          <p:nvPr/>
        </p:nvSpPr>
        <p:spPr>
          <a:xfrm>
            <a:off x="6812280" y="2578680"/>
            <a:ext cx="4754880" cy="292680"/>
          </a:xfrm>
          <a:prstGeom prst="rect">
            <a:avLst/>
          </a:prstGeom>
          <a:noFill/>
          <a:ln w="0">
            <a:noFill/>
          </a:ln>
        </p:spPr>
        <p:txBody>
          <a:bodyPr lIns="90000" tIns="45000" rIns="90000" bIns="45000" anchor="t">
            <a:spAutoFit/>
          </a:bodyPr>
          <a:p>
            <a:r>
              <a:rPr lang="en-US" sz="1300" b="1" u="none" strike="noStrike">
                <a:solidFill>
                  <a:srgbClr val="00B4D8"/>
                </a:solidFill>
                <a:effectLst/>
                <a:uFillTx/>
                <a:latin typeface="Calibri-Bold"/>
                <a:ea typeface="Calibri-Bold"/>
              </a:rPr>
              <a:t>Étape 2  —  En temps réel (après réalisation)</a:t>
            </a:r>
            <a:endParaRPr lang="en-US" sz="1300" b="0" u="none" strike="noStrike">
              <a:solidFill>
                <a:srgbClr val="000000"/>
              </a:solidFill>
              <a:effectLst/>
              <a:uFillTx/>
              <a:latin typeface="Arial"/>
            </a:endParaRPr>
          </a:p>
        </p:txBody>
      </p:sp>
      <p:sp>
        <p:nvSpPr>
          <p:cNvPr id="275" name=""/>
          <p:cNvSpPr txBox="1"/>
          <p:nvPr/>
        </p:nvSpPr>
        <p:spPr>
          <a:xfrm>
            <a:off x="6812280" y="2853000"/>
            <a:ext cx="4754880" cy="82296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On connaît le vent réel. On redispatche les centrales disponibles. On peut délester (privation) ou écrêter (jeter du vent) si nécessaire</a:t>
            </a:r>
            <a:r>
              <a:rPr lang="en-US" sz="1200" b="0" u="none" strike="noStrike">
                <a:solidFill>
                  <a:srgbClr val="FFFFFF"/>
                </a:solidFill>
                <a:effectLst/>
                <a:uFillTx/>
                <a:latin typeface="Calibri"/>
                <a:ea typeface="Calibri"/>
              </a:rPr>
              <a:t>.</a:t>
            </a:r>
            <a:endParaRPr lang="en-US" sz="1200" b="0" u="none" strike="noStrike">
              <a:solidFill>
                <a:srgbClr val="000000"/>
              </a:solidFill>
              <a:effectLst/>
              <a:uFillTx/>
              <a:latin typeface="Arial"/>
            </a:endParaRPr>
          </a:p>
        </p:txBody>
      </p:sp>
      <p:sp>
        <p:nvSpPr>
          <p:cNvPr id="276" name=""/>
          <p:cNvSpPr txBox="1"/>
          <p:nvPr/>
        </p:nvSpPr>
        <p:spPr>
          <a:xfrm>
            <a:off x="6812280" y="3639240"/>
            <a:ext cx="4754880" cy="255960"/>
          </a:xfrm>
          <a:prstGeom prst="rect">
            <a:avLst/>
          </a:prstGeom>
          <a:noFill/>
          <a:ln w="0">
            <a:noFill/>
          </a:ln>
        </p:spPr>
        <p:txBody>
          <a:bodyPr lIns="90000" tIns="45000" rIns="90000" bIns="45000" anchor="t">
            <a:spAutoFit/>
          </a:bodyPr>
          <a:p>
            <a:r>
              <a:rPr lang="en-US" sz="1100" b="0" i="1" u="none" strike="noStrike">
                <a:solidFill>
                  <a:srgbClr val="CCCCCC"/>
                </a:solidFill>
                <a:effectLst/>
                <a:uFillTx/>
                <a:latin typeface="Calibri-Italic"/>
                <a:ea typeface="Calibri-Italic"/>
              </a:rPr>
              <a:t>Variables : p[g,t,s], flow[l,t,s]  (une par scénario s)</a:t>
            </a:r>
            <a:endParaRPr lang="en-US" sz="1100" b="0" u="none" strike="noStrike">
              <a:solidFill>
                <a:srgbClr val="000000"/>
              </a:solidFill>
              <a:effectLst/>
              <a:uFillTx/>
              <a:latin typeface="Arial"/>
            </a:endParaRPr>
          </a:p>
        </p:txBody>
      </p:sp>
      <p:sp>
        <p:nvSpPr>
          <p:cNvPr id="277" name=""/>
          <p:cNvSpPr/>
          <p:nvPr/>
        </p:nvSpPr>
        <p:spPr>
          <a:xfrm>
            <a:off x="365760" y="4050720"/>
            <a:ext cx="5395320" cy="2194920"/>
          </a:xfrm>
          <a:custGeom>
            <a:avLst/>
            <a:gdLst/>
            <a:ahLst/>
            <a:rect l="0" t="0" r="r" b="b"/>
            <a:pathLst>
              <a:path w="14987" h="6097">
                <a:moveTo>
                  <a:pt x="0" y="0"/>
                </a:moveTo>
                <a:lnTo>
                  <a:pt x="14987" y="0"/>
                </a:lnTo>
                <a:lnTo>
                  <a:pt x="14987" y="6097"/>
                </a:lnTo>
                <a:lnTo>
                  <a:pt x="0" y="6097"/>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78" name=""/>
          <p:cNvSpPr txBox="1"/>
          <p:nvPr/>
        </p:nvSpPr>
        <p:spPr>
          <a:xfrm>
            <a:off x="594360" y="4096440"/>
            <a:ext cx="4937760" cy="314280"/>
          </a:xfrm>
          <a:prstGeom prst="rect">
            <a:avLst/>
          </a:prstGeom>
          <a:noFill/>
          <a:ln w="0">
            <a:noFill/>
          </a:ln>
        </p:spPr>
        <p:txBody>
          <a:bodyPr lIns="90000" tIns="45000" rIns="90000" bIns="45000" anchor="t">
            <a:spAutoFit/>
          </a:bodyPr>
          <a:p>
            <a:r>
              <a:rPr lang="en-US" sz="1300" b="1" u="none" strike="noStrike">
                <a:solidFill>
                  <a:srgbClr val="00B4D8"/>
                </a:solidFill>
                <a:effectLst/>
                <a:uFillTx/>
                <a:latin typeface="Calibri-Bold"/>
                <a:ea typeface="Calibri-Bold"/>
              </a:rPr>
              <a:t>Comment on simule l'incertitude</a:t>
            </a:r>
            <a:r>
              <a:rPr lang="en-US" sz="1300" b="1" u="none" strike="noStrike">
                <a:solidFill>
                  <a:srgbClr val="00B4D8"/>
                </a:solidFill>
                <a:effectLst/>
                <a:uFillTx/>
                <a:latin typeface="Calibri-Bold"/>
                <a:ea typeface="Calibri-Bold"/>
              </a:rPr>
              <a:t> ?</a:t>
            </a:r>
            <a:endParaRPr lang="en-US" sz="1300" b="0" u="none" strike="noStrike">
              <a:solidFill>
                <a:srgbClr val="000000"/>
              </a:solidFill>
              <a:effectLst/>
              <a:uFillTx/>
              <a:latin typeface="Arial"/>
            </a:endParaRPr>
          </a:p>
        </p:txBody>
      </p:sp>
      <p:sp>
        <p:nvSpPr>
          <p:cNvPr id="279" name=""/>
          <p:cNvSpPr txBox="1"/>
          <p:nvPr/>
        </p:nvSpPr>
        <p:spPr>
          <a:xfrm>
            <a:off x="594360" y="4407480"/>
            <a:ext cx="5029200" cy="171900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On génère 4 à 8 'futurs possibles' (scénarios)</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Chaque scénario = une courbe de production éolienne/solaire</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Générés par un processus AR(1) : les erreurs de prévision</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sont corrélées dans le temps (ρ=0.7 → vent persistant)</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Proba uniforme = chaque scénario compte pareil</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On minimise la MOYENNE des coûts sur tous les scénarios</a:t>
            </a:r>
            <a:endParaRPr lang="en-US" sz="1200" b="0" u="none" strike="noStrike">
              <a:solidFill>
                <a:srgbClr val="000000"/>
              </a:solidFill>
              <a:effectLst/>
              <a:uFillTx/>
              <a:latin typeface="Arial"/>
            </a:endParaRPr>
          </a:p>
        </p:txBody>
      </p:sp>
      <p:sp>
        <p:nvSpPr>
          <p:cNvPr id="280" name=""/>
          <p:cNvSpPr/>
          <p:nvPr/>
        </p:nvSpPr>
        <p:spPr>
          <a:xfrm>
            <a:off x="6035040" y="4050720"/>
            <a:ext cx="5761080" cy="2194920"/>
          </a:xfrm>
          <a:custGeom>
            <a:avLst/>
            <a:gdLst/>
            <a:ahLst/>
            <a:rect l="0" t="0" r="r" b="b"/>
            <a:pathLst>
              <a:path w="16003" h="6097">
                <a:moveTo>
                  <a:pt x="0" y="0"/>
                </a:moveTo>
                <a:lnTo>
                  <a:pt x="16003" y="0"/>
                </a:lnTo>
                <a:lnTo>
                  <a:pt x="16003" y="6097"/>
                </a:lnTo>
                <a:lnTo>
                  <a:pt x="0" y="6097"/>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81" name=""/>
          <p:cNvSpPr txBox="1"/>
          <p:nvPr/>
        </p:nvSpPr>
        <p:spPr>
          <a:xfrm>
            <a:off x="6263640" y="4096440"/>
            <a:ext cx="5303520" cy="292680"/>
          </a:xfrm>
          <a:prstGeom prst="rect">
            <a:avLst/>
          </a:prstGeom>
          <a:noFill/>
          <a:ln w="0">
            <a:noFill/>
          </a:ln>
        </p:spPr>
        <p:txBody>
          <a:bodyPr lIns="90000" tIns="45000" rIns="90000" bIns="45000" anchor="t">
            <a:spAutoFit/>
          </a:bodyPr>
          <a:p>
            <a:r>
              <a:rPr lang="en-US" sz="1300" b="1" u="none" strike="noStrike">
                <a:solidFill>
                  <a:srgbClr val="00B4D8"/>
                </a:solidFill>
                <a:effectLst/>
                <a:uFillTx/>
                <a:latin typeface="Calibri-Bold"/>
                <a:ea typeface="Calibri-Bold"/>
              </a:rPr>
              <a:t>Ce qu'on observe sur notre réseau test</a:t>
            </a:r>
            <a:endParaRPr lang="en-US" sz="1300" b="0" u="none" strike="noStrike">
              <a:solidFill>
                <a:srgbClr val="000000"/>
              </a:solidFill>
              <a:effectLst/>
              <a:uFillTx/>
              <a:latin typeface="Arial"/>
            </a:endParaRPr>
          </a:p>
        </p:txBody>
      </p:sp>
      <p:sp>
        <p:nvSpPr>
          <p:cNvPr id="282" name=""/>
          <p:cNvSpPr txBox="1"/>
          <p:nvPr/>
        </p:nvSpPr>
        <p:spPr>
          <a:xfrm>
            <a:off x="6263640" y="4407480"/>
            <a:ext cx="5303520" cy="171900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Coût si on ignore l'incertitude :     ~67 500</a:t>
            </a:r>
            <a:r>
              <a:rPr lang="en-US" sz="1200" b="0" u="none" strike="noStrike">
                <a:solidFill>
                  <a:srgbClr val="FFFFFF"/>
                </a:solidFill>
                <a:effectLst/>
                <a:uFillTx/>
                <a:latin typeface="Calibri"/>
                <a:ea typeface="Calibri"/>
              </a:rPr>
              <a:t> $</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Coût avec planification robuste :     ~69 200</a:t>
            </a:r>
            <a:r>
              <a:rPr lang="en-US" sz="1200" b="0" u="none" strike="noStrike">
                <a:solidFill>
                  <a:srgbClr val="FFFFFF"/>
                </a:solidFill>
                <a:effectLst/>
                <a:uFillTx/>
                <a:latin typeface="Calibri"/>
                <a:ea typeface="Calibri"/>
              </a:rPr>
              <a:t> $</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Surcoût de la prudence : +1 700 $  (+2,5%)</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Ce surcoût évite les délestages imprévus</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Délestage observé : 0 MW (réserve suffisante)</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Écrêtage max : ~15 MW/h (surplus solaire en milieu de journée)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3"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84"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285"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286" name=""/>
          <p:cNvSpPr/>
          <p:nvPr/>
        </p:nvSpPr>
        <p:spPr>
          <a:xfrm>
            <a:off x="457200" y="155520"/>
            <a:ext cx="2926440" cy="293040"/>
          </a:xfrm>
          <a:custGeom>
            <a:avLst/>
            <a:gdLst/>
            <a:ahLst/>
            <a:rect l="0" t="0" r="r" b="b"/>
            <a:pathLst>
              <a:path w="8129" h="814">
                <a:moveTo>
                  <a:pt x="0" y="0"/>
                </a:moveTo>
                <a:lnTo>
                  <a:pt x="8129" y="0"/>
                </a:lnTo>
                <a:lnTo>
                  <a:pt x="8129" y="814"/>
                </a:lnTo>
                <a:lnTo>
                  <a:pt x="0" y="81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87" name=""/>
          <p:cNvSpPr txBox="1"/>
          <p:nvPr/>
        </p:nvSpPr>
        <p:spPr>
          <a:xfrm>
            <a:off x="502920" y="155520"/>
            <a:ext cx="2834640" cy="292680"/>
          </a:xfrm>
          <a:prstGeom prst="rect">
            <a:avLst/>
          </a:prstGeom>
          <a:noFill/>
          <a:ln w="0">
            <a:noFill/>
          </a:ln>
        </p:spPr>
        <p:txBody>
          <a:bodyPr lIns="90000" tIns="45000" rIns="90000" bIns="45000" anchor="t">
            <a:spAutoFit/>
          </a:bodyPr>
          <a:p>
            <a:pPr algn="ctr" rtl="1"/>
            <a:r>
              <a:rPr lang="en-US" sz="1000" b="1" u="none" strike="noStrike">
                <a:solidFill>
                  <a:srgbClr val="FFFFFF"/>
                </a:solidFill>
                <a:effectLst/>
                <a:uFillTx/>
                <a:latin typeface="Calibri-Bold"/>
                <a:ea typeface="Calibri-Bold"/>
              </a:rPr>
              <a:t>06</a:t>
            </a:r>
            <a:r>
              <a:rPr lang="en-US" sz="1000" b="1" u="none" strike="noStrike">
                <a:solidFill>
                  <a:srgbClr val="FFFFFF"/>
                </a:solidFill>
                <a:effectLst/>
                <a:uFillTx/>
                <a:latin typeface="Calibri-Bold"/>
                <a:ea typeface="Calibri-Bold"/>
              </a:rPr>
              <a:t> · </a:t>
            </a:r>
            <a:r>
              <a:rPr lang="en-US" sz="1000" b="1" u="none" strike="noStrike">
                <a:solidFill>
                  <a:srgbClr val="FFFFFF"/>
                </a:solidFill>
                <a:effectLst/>
                <a:uFillTx/>
                <a:latin typeface="Calibri-Bold"/>
                <a:ea typeface="Calibri-Bold"/>
              </a:rPr>
              <a:t>RÉSULTATS</a:t>
            </a:r>
            <a:endParaRPr lang="en-US" sz="1000" b="0" u="none" strike="noStrike">
              <a:solidFill>
                <a:srgbClr val="000000"/>
              </a:solidFill>
              <a:effectLst/>
              <a:uFillTx/>
              <a:latin typeface="Arial"/>
            </a:endParaRPr>
          </a:p>
        </p:txBody>
      </p:sp>
      <p:sp>
        <p:nvSpPr>
          <p:cNvPr id="288" name=""/>
          <p:cNvSpPr txBox="1"/>
          <p:nvPr/>
        </p:nvSpPr>
        <p:spPr>
          <a:xfrm>
            <a:off x="502920" y="530280"/>
            <a:ext cx="11612880" cy="594360"/>
          </a:xfrm>
          <a:prstGeom prst="rect">
            <a:avLst/>
          </a:prstGeom>
          <a:noFill/>
          <a:ln w="0">
            <a:noFill/>
          </a:ln>
        </p:spPr>
        <p:txBody>
          <a:bodyPr lIns="90000" tIns="45000" rIns="90000" bIns="45000" anchor="t">
            <a:spAutoFit/>
          </a:bodyPr>
          <a:p>
            <a:r>
              <a:rPr lang="en-US" sz="2600" b="1" u="none" strike="noStrike">
                <a:solidFill>
                  <a:srgbClr val="FFFFFF"/>
                </a:solidFill>
                <a:effectLst/>
                <a:uFillTx/>
                <a:latin typeface="Calibri-Bold"/>
                <a:ea typeface="Calibri-Bold"/>
              </a:rPr>
              <a:t>Ce que le solveur obtient concrètement</a:t>
            </a:r>
            <a:endParaRPr lang="en-US" sz="2600" b="0" u="none" strike="noStrike">
              <a:solidFill>
                <a:srgbClr val="000000"/>
              </a:solidFill>
              <a:effectLst/>
              <a:uFillTx/>
              <a:latin typeface="Arial"/>
            </a:endParaRPr>
          </a:p>
        </p:txBody>
      </p:sp>
      <p:sp>
        <p:nvSpPr>
          <p:cNvPr id="289" name=""/>
          <p:cNvSpPr/>
          <p:nvPr/>
        </p:nvSpPr>
        <p:spPr>
          <a:xfrm>
            <a:off x="365760" y="1188720"/>
            <a:ext cx="11430360" cy="402840"/>
          </a:xfrm>
          <a:custGeom>
            <a:avLst/>
            <a:gdLst/>
            <a:ahLst/>
            <a:rect l="0" t="0" r="r" b="b"/>
            <a:pathLst>
              <a:path w="31751" h="1119">
                <a:moveTo>
                  <a:pt x="0" y="0"/>
                </a:moveTo>
                <a:lnTo>
                  <a:pt x="31751" y="0"/>
                </a:lnTo>
                <a:lnTo>
                  <a:pt x="31751" y="1119"/>
                </a:lnTo>
                <a:lnTo>
                  <a:pt x="0" y="1119"/>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90" name=""/>
          <p:cNvSpPr txBox="1"/>
          <p:nvPr/>
        </p:nvSpPr>
        <p:spPr>
          <a:xfrm>
            <a:off x="475560" y="1216080"/>
            <a:ext cx="1463040" cy="347400"/>
          </a:xfrm>
          <a:prstGeom prst="rect">
            <a:avLst/>
          </a:prstGeom>
          <a:noFill/>
          <a:ln w="0">
            <a:noFill/>
          </a:ln>
        </p:spPr>
        <p:txBody>
          <a:bodyPr lIns="90000" tIns="45000" rIns="90000" bIns="45000" anchor="t">
            <a:spAutoFit/>
          </a:bodyPr>
          <a:p>
            <a:r>
              <a:rPr lang="en-US" sz="1300" b="1" u="none" strike="noStrike">
                <a:solidFill>
                  <a:srgbClr val="FFFFFF"/>
                </a:solidFill>
                <a:effectLst/>
                <a:uFillTx/>
                <a:latin typeface="Calibri-Bold"/>
                <a:ea typeface="Calibri-Bold"/>
              </a:rPr>
              <a:t>Réseau</a:t>
            </a:r>
            <a:endParaRPr lang="en-US" sz="1300" b="0" u="none" strike="noStrike">
              <a:solidFill>
                <a:srgbClr val="000000"/>
              </a:solidFill>
              <a:effectLst/>
              <a:uFillTx/>
              <a:latin typeface="Arial"/>
            </a:endParaRPr>
          </a:p>
        </p:txBody>
      </p:sp>
      <p:sp>
        <p:nvSpPr>
          <p:cNvPr id="291" name=""/>
          <p:cNvSpPr txBox="1"/>
          <p:nvPr/>
        </p:nvSpPr>
        <p:spPr>
          <a:xfrm>
            <a:off x="2075760" y="1216080"/>
            <a:ext cx="2103120" cy="347400"/>
          </a:xfrm>
          <a:prstGeom prst="rect">
            <a:avLst/>
          </a:prstGeom>
          <a:noFill/>
          <a:ln w="0">
            <a:noFill/>
          </a:ln>
        </p:spPr>
        <p:txBody>
          <a:bodyPr lIns="90000" tIns="45000" rIns="90000" bIns="45000" anchor="t">
            <a:spAutoFit/>
          </a:bodyPr>
          <a:p>
            <a:r>
              <a:rPr lang="en-US" sz="1300" b="1" u="none" strike="noStrike">
                <a:solidFill>
                  <a:srgbClr val="FFFFFF"/>
                </a:solidFill>
                <a:effectLst/>
                <a:uFillTx/>
                <a:latin typeface="Calibri-Bold"/>
                <a:ea typeface="Calibri-Bold"/>
              </a:rPr>
              <a:t>Problème</a:t>
            </a:r>
            <a:endParaRPr lang="en-US" sz="1300" b="0" u="none" strike="noStrike">
              <a:solidFill>
                <a:srgbClr val="000000"/>
              </a:solidFill>
              <a:effectLst/>
              <a:uFillTx/>
              <a:latin typeface="Arial"/>
            </a:endParaRPr>
          </a:p>
        </p:txBody>
      </p:sp>
      <p:sp>
        <p:nvSpPr>
          <p:cNvPr id="292" name=""/>
          <p:cNvSpPr txBox="1"/>
          <p:nvPr/>
        </p:nvSpPr>
        <p:spPr>
          <a:xfrm>
            <a:off x="4316040" y="1216080"/>
            <a:ext cx="2514600" cy="347400"/>
          </a:xfrm>
          <a:prstGeom prst="rect">
            <a:avLst/>
          </a:prstGeom>
          <a:noFill/>
          <a:ln w="0">
            <a:noFill/>
          </a:ln>
        </p:spPr>
        <p:txBody>
          <a:bodyPr lIns="90000" tIns="45000" rIns="90000" bIns="45000" anchor="t">
            <a:spAutoFit/>
          </a:bodyPr>
          <a:p>
            <a:r>
              <a:rPr lang="en-US" sz="1300" b="1" u="none" strike="noStrike">
                <a:solidFill>
                  <a:srgbClr val="FFFFFF"/>
                </a:solidFill>
                <a:effectLst/>
                <a:uFillTx/>
                <a:latin typeface="Calibri-Bold"/>
                <a:ea typeface="Calibri-Bold"/>
              </a:rPr>
              <a:t>Coût obtenu</a:t>
            </a:r>
            <a:endParaRPr lang="en-US" sz="1300" b="0" u="none" strike="noStrike">
              <a:solidFill>
                <a:srgbClr val="000000"/>
              </a:solidFill>
              <a:effectLst/>
              <a:uFillTx/>
              <a:latin typeface="Arial"/>
            </a:endParaRPr>
          </a:p>
        </p:txBody>
      </p:sp>
      <p:sp>
        <p:nvSpPr>
          <p:cNvPr id="293" name=""/>
          <p:cNvSpPr txBox="1"/>
          <p:nvPr/>
        </p:nvSpPr>
        <p:spPr>
          <a:xfrm>
            <a:off x="6967800" y="1216080"/>
            <a:ext cx="1600200" cy="347400"/>
          </a:xfrm>
          <a:prstGeom prst="rect">
            <a:avLst/>
          </a:prstGeom>
          <a:noFill/>
          <a:ln w="0">
            <a:noFill/>
          </a:ln>
        </p:spPr>
        <p:txBody>
          <a:bodyPr lIns="90000" tIns="45000" rIns="90000" bIns="45000" anchor="t">
            <a:spAutoFit/>
          </a:bodyPr>
          <a:p>
            <a:r>
              <a:rPr lang="en-US" sz="1300" b="1" u="none" strike="noStrike">
                <a:solidFill>
                  <a:srgbClr val="FFFFFF"/>
                </a:solidFill>
                <a:effectLst/>
                <a:uFillTx/>
                <a:latin typeface="Calibri-Bold"/>
                <a:ea typeface="Calibri-Bold"/>
              </a:rPr>
              <a:t>Temps</a:t>
            </a:r>
            <a:endParaRPr lang="en-US" sz="1300" b="0" u="none" strike="noStrike">
              <a:solidFill>
                <a:srgbClr val="000000"/>
              </a:solidFill>
              <a:effectLst/>
              <a:uFillTx/>
              <a:latin typeface="Arial"/>
            </a:endParaRPr>
          </a:p>
        </p:txBody>
      </p:sp>
      <p:sp>
        <p:nvSpPr>
          <p:cNvPr id="294" name=""/>
          <p:cNvSpPr txBox="1"/>
          <p:nvPr/>
        </p:nvSpPr>
        <p:spPr>
          <a:xfrm>
            <a:off x="8705160" y="1216080"/>
            <a:ext cx="3108960" cy="347400"/>
          </a:xfrm>
          <a:prstGeom prst="rect">
            <a:avLst/>
          </a:prstGeom>
          <a:noFill/>
          <a:ln w="0">
            <a:noFill/>
          </a:ln>
        </p:spPr>
        <p:txBody>
          <a:bodyPr lIns="90000" tIns="45000" rIns="90000" bIns="45000" anchor="t">
            <a:spAutoFit/>
          </a:bodyPr>
          <a:p>
            <a:r>
              <a:rPr lang="en-US" sz="1300" b="1" u="none" strike="noStrike">
                <a:solidFill>
                  <a:srgbClr val="FFFFFF"/>
                </a:solidFill>
                <a:effectLst/>
                <a:uFillTx/>
                <a:latin typeface="Calibri-Bold"/>
                <a:ea typeface="Calibri-Bold"/>
              </a:rPr>
              <a:t>Qualité</a:t>
            </a:r>
            <a:endParaRPr lang="en-US" sz="1300" b="0" u="none" strike="noStrike">
              <a:solidFill>
                <a:srgbClr val="000000"/>
              </a:solidFill>
              <a:effectLst/>
              <a:uFillTx/>
              <a:latin typeface="Arial"/>
            </a:endParaRPr>
          </a:p>
        </p:txBody>
      </p:sp>
      <p:sp>
        <p:nvSpPr>
          <p:cNvPr id="295" name=""/>
          <p:cNvSpPr/>
          <p:nvPr/>
        </p:nvSpPr>
        <p:spPr>
          <a:xfrm>
            <a:off x="365760" y="1600200"/>
            <a:ext cx="11430360" cy="457560"/>
          </a:xfrm>
          <a:custGeom>
            <a:avLst/>
            <a:gdLst/>
            <a:ahLst/>
            <a:rect l="0" t="0" r="r" b="b"/>
            <a:pathLst>
              <a:path w="31751" h="1271">
                <a:moveTo>
                  <a:pt x="0" y="0"/>
                </a:moveTo>
                <a:lnTo>
                  <a:pt x="31751" y="0"/>
                </a:lnTo>
                <a:lnTo>
                  <a:pt x="31751" y="1271"/>
                </a:lnTo>
                <a:lnTo>
                  <a:pt x="0" y="1271"/>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296" name=""/>
          <p:cNvSpPr txBox="1"/>
          <p:nvPr/>
        </p:nvSpPr>
        <p:spPr>
          <a:xfrm>
            <a:off x="475560" y="1654920"/>
            <a:ext cx="146304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3</a:t>
            </a:r>
            <a:r>
              <a:rPr lang="en-US" sz="1300" b="0" u="none" strike="noStrike">
                <a:solidFill>
                  <a:srgbClr val="FFFFFF"/>
                </a:solidFill>
                <a:effectLst/>
                <a:uFillTx/>
                <a:latin typeface="Calibri"/>
                <a:ea typeface="Calibri"/>
              </a:rPr>
              <a:t> </a:t>
            </a:r>
            <a:r>
              <a:rPr lang="en-US" sz="1300" b="0" u="none" strike="noStrike">
                <a:solidFill>
                  <a:srgbClr val="FFFFFF"/>
                </a:solidFill>
                <a:effectLst/>
                <a:uFillTx/>
                <a:latin typeface="Calibri"/>
                <a:ea typeface="Calibri"/>
              </a:rPr>
              <a:t>bus</a:t>
            </a:r>
            <a:endParaRPr lang="en-US" sz="1300" b="0" u="none" strike="noStrike">
              <a:solidFill>
                <a:srgbClr val="000000"/>
              </a:solidFill>
              <a:effectLst/>
              <a:uFillTx/>
              <a:latin typeface="Arial"/>
            </a:endParaRPr>
          </a:p>
        </p:txBody>
      </p:sp>
      <p:sp>
        <p:nvSpPr>
          <p:cNvPr id="297" name=""/>
          <p:cNvSpPr txBox="1"/>
          <p:nvPr/>
        </p:nvSpPr>
        <p:spPr>
          <a:xfrm>
            <a:off x="2075760" y="1654920"/>
            <a:ext cx="210312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ED</a:t>
            </a:r>
            <a:endParaRPr lang="en-US" sz="1300" b="0" u="none" strike="noStrike">
              <a:solidFill>
                <a:srgbClr val="000000"/>
              </a:solidFill>
              <a:effectLst/>
              <a:uFillTx/>
              <a:latin typeface="Arial"/>
            </a:endParaRPr>
          </a:p>
        </p:txBody>
      </p:sp>
      <p:sp>
        <p:nvSpPr>
          <p:cNvPr id="298" name=""/>
          <p:cNvSpPr txBox="1"/>
          <p:nvPr/>
        </p:nvSpPr>
        <p:spPr>
          <a:xfrm>
            <a:off x="4316040" y="1654920"/>
            <a:ext cx="251460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a:t>
            </a:r>
            <a:r>
              <a:rPr lang="en-US" sz="1300" b="0" u="none" strike="noStrike">
                <a:solidFill>
                  <a:srgbClr val="2DCC70"/>
                </a:solidFill>
                <a:effectLst/>
                <a:uFillTx/>
                <a:latin typeface="Calibri"/>
                <a:ea typeface="Calibri"/>
              </a:rPr>
              <a:t>2</a:t>
            </a:r>
            <a:r>
              <a:rPr lang="en-US" sz="1300" b="0" u="none" strike="noStrike">
                <a:solidFill>
                  <a:srgbClr val="2DCC70"/>
                </a:solidFill>
                <a:effectLst/>
                <a:uFillTx/>
                <a:latin typeface="Calibri"/>
                <a:ea typeface="Calibri"/>
              </a:rPr>
              <a:t> </a:t>
            </a:r>
            <a:r>
              <a:rPr lang="en-US" sz="1300" b="0" u="none" strike="noStrike">
                <a:solidFill>
                  <a:srgbClr val="2DCC70"/>
                </a:solidFill>
                <a:effectLst/>
                <a:uFillTx/>
                <a:latin typeface="Calibri"/>
                <a:ea typeface="Calibri"/>
              </a:rPr>
              <a:t>500</a:t>
            </a:r>
            <a:r>
              <a:rPr lang="en-US" sz="1300" b="0" u="none" strike="noStrike">
                <a:solidFill>
                  <a:srgbClr val="2DCC70"/>
                </a:solidFill>
                <a:effectLst/>
                <a:uFillTx/>
                <a:latin typeface="Calibri"/>
                <a:ea typeface="Calibri"/>
              </a:rPr>
              <a:t> $/</a:t>
            </a:r>
            <a:r>
              <a:rPr lang="en-US" sz="1300" b="0" u="none" strike="noStrike">
                <a:solidFill>
                  <a:srgbClr val="2DCC70"/>
                </a:solidFill>
                <a:effectLst/>
                <a:uFillTx/>
                <a:latin typeface="Calibri"/>
                <a:ea typeface="Calibri"/>
              </a:rPr>
              <a:t>h</a:t>
            </a:r>
            <a:endParaRPr lang="en-US" sz="1300" b="0" u="none" strike="noStrike">
              <a:solidFill>
                <a:srgbClr val="000000"/>
              </a:solidFill>
              <a:effectLst/>
              <a:uFillTx/>
              <a:latin typeface="Arial"/>
            </a:endParaRPr>
          </a:p>
        </p:txBody>
      </p:sp>
      <p:sp>
        <p:nvSpPr>
          <p:cNvPr id="299" name=""/>
          <p:cNvSpPr txBox="1"/>
          <p:nvPr/>
        </p:nvSpPr>
        <p:spPr>
          <a:xfrm>
            <a:off x="6967800" y="1654920"/>
            <a:ext cx="1600200" cy="34740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&lt; </a:t>
            </a:r>
            <a:r>
              <a:rPr lang="en-US" sz="1300" b="0" u="none" strike="noStrike">
                <a:solidFill>
                  <a:srgbClr val="CCCCCC"/>
                </a:solidFill>
                <a:effectLst/>
                <a:uFillTx/>
                <a:latin typeface="Calibri"/>
                <a:ea typeface="Calibri"/>
              </a:rPr>
              <a:t>1</a:t>
            </a:r>
            <a:r>
              <a:rPr lang="en-US" sz="1300" b="0" u="none" strike="noStrike">
                <a:solidFill>
                  <a:srgbClr val="CCCCCC"/>
                </a:solidFill>
                <a:effectLst/>
                <a:uFillTx/>
                <a:latin typeface="Calibri"/>
                <a:ea typeface="Calibri"/>
              </a:rPr>
              <a:t> </a:t>
            </a:r>
            <a:r>
              <a:rPr lang="en-US" sz="1300" b="0" u="none" strike="noStrike">
                <a:solidFill>
                  <a:srgbClr val="CCCCCC"/>
                </a:solidFill>
                <a:effectLst/>
                <a:uFillTx/>
                <a:latin typeface="Calibri"/>
                <a:ea typeface="Calibri"/>
              </a:rPr>
              <a:t>s</a:t>
            </a:r>
            <a:endParaRPr lang="en-US" sz="1300" b="0" u="none" strike="noStrike">
              <a:solidFill>
                <a:srgbClr val="000000"/>
              </a:solidFill>
              <a:effectLst/>
              <a:uFillTx/>
              <a:latin typeface="Arial"/>
            </a:endParaRPr>
          </a:p>
        </p:txBody>
      </p:sp>
      <p:sp>
        <p:nvSpPr>
          <p:cNvPr id="300" name=""/>
          <p:cNvSpPr txBox="1"/>
          <p:nvPr/>
        </p:nvSpPr>
        <p:spPr>
          <a:xfrm>
            <a:off x="8705160" y="1654920"/>
            <a:ext cx="310896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OPTIMAL garanti</a:t>
            </a:r>
            <a:endParaRPr lang="en-US" sz="1300" b="0" u="none" strike="noStrike">
              <a:solidFill>
                <a:srgbClr val="000000"/>
              </a:solidFill>
              <a:effectLst/>
              <a:uFillTx/>
              <a:latin typeface="Arial"/>
            </a:endParaRPr>
          </a:p>
        </p:txBody>
      </p:sp>
      <p:sp>
        <p:nvSpPr>
          <p:cNvPr id="301" name=""/>
          <p:cNvSpPr/>
          <p:nvPr/>
        </p:nvSpPr>
        <p:spPr>
          <a:xfrm>
            <a:off x="365760" y="2057400"/>
            <a:ext cx="11430360" cy="457560"/>
          </a:xfrm>
          <a:custGeom>
            <a:avLst/>
            <a:gdLst/>
            <a:ahLst/>
            <a:rect l="0" t="0" r="r" b="b"/>
            <a:pathLst>
              <a:path w="31751" h="1271">
                <a:moveTo>
                  <a:pt x="0" y="0"/>
                </a:moveTo>
                <a:lnTo>
                  <a:pt x="31751" y="0"/>
                </a:lnTo>
                <a:lnTo>
                  <a:pt x="31751" y="1271"/>
                </a:lnTo>
                <a:lnTo>
                  <a:pt x="0" y="127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02" name=""/>
          <p:cNvSpPr txBox="1"/>
          <p:nvPr/>
        </p:nvSpPr>
        <p:spPr>
          <a:xfrm>
            <a:off x="475560" y="2112120"/>
            <a:ext cx="146304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6</a:t>
            </a:r>
            <a:r>
              <a:rPr lang="en-US" sz="1300" b="0" u="none" strike="noStrike">
                <a:solidFill>
                  <a:srgbClr val="FFFFFF"/>
                </a:solidFill>
                <a:effectLst/>
                <a:uFillTx/>
                <a:latin typeface="Calibri"/>
                <a:ea typeface="Calibri"/>
              </a:rPr>
              <a:t> </a:t>
            </a:r>
            <a:r>
              <a:rPr lang="en-US" sz="1300" b="0" u="none" strike="noStrike">
                <a:solidFill>
                  <a:srgbClr val="FFFFFF"/>
                </a:solidFill>
                <a:effectLst/>
                <a:uFillTx/>
                <a:latin typeface="Calibri"/>
                <a:ea typeface="Calibri"/>
              </a:rPr>
              <a:t>bus</a:t>
            </a:r>
            <a:endParaRPr lang="en-US" sz="1300" b="0" u="none" strike="noStrike">
              <a:solidFill>
                <a:srgbClr val="000000"/>
              </a:solidFill>
              <a:effectLst/>
              <a:uFillTx/>
              <a:latin typeface="Arial"/>
            </a:endParaRPr>
          </a:p>
        </p:txBody>
      </p:sp>
      <p:sp>
        <p:nvSpPr>
          <p:cNvPr id="303" name=""/>
          <p:cNvSpPr txBox="1"/>
          <p:nvPr/>
        </p:nvSpPr>
        <p:spPr>
          <a:xfrm>
            <a:off x="2075760" y="2112120"/>
            <a:ext cx="210312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ED</a:t>
            </a:r>
            <a:endParaRPr lang="en-US" sz="1300" b="0" u="none" strike="noStrike">
              <a:solidFill>
                <a:srgbClr val="000000"/>
              </a:solidFill>
              <a:effectLst/>
              <a:uFillTx/>
              <a:latin typeface="Arial"/>
            </a:endParaRPr>
          </a:p>
        </p:txBody>
      </p:sp>
      <p:sp>
        <p:nvSpPr>
          <p:cNvPr id="304" name=""/>
          <p:cNvSpPr txBox="1"/>
          <p:nvPr/>
        </p:nvSpPr>
        <p:spPr>
          <a:xfrm>
            <a:off x="4316040" y="2112120"/>
            <a:ext cx="251460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a:t>
            </a:r>
            <a:r>
              <a:rPr lang="en-US" sz="1300" b="0" u="none" strike="noStrike">
                <a:solidFill>
                  <a:srgbClr val="2DCC70"/>
                </a:solidFill>
                <a:effectLst/>
                <a:uFillTx/>
                <a:latin typeface="Calibri"/>
                <a:ea typeface="Calibri"/>
              </a:rPr>
              <a:t>3</a:t>
            </a:r>
            <a:r>
              <a:rPr lang="en-US" sz="1300" b="0" u="none" strike="noStrike">
                <a:solidFill>
                  <a:srgbClr val="2DCC70"/>
                </a:solidFill>
                <a:effectLst/>
                <a:uFillTx/>
                <a:latin typeface="Calibri"/>
                <a:ea typeface="Calibri"/>
              </a:rPr>
              <a:t> </a:t>
            </a:r>
            <a:r>
              <a:rPr lang="en-US" sz="1300" b="0" u="none" strike="noStrike">
                <a:solidFill>
                  <a:srgbClr val="2DCC70"/>
                </a:solidFill>
                <a:effectLst/>
                <a:uFillTx/>
                <a:latin typeface="Calibri"/>
                <a:ea typeface="Calibri"/>
              </a:rPr>
              <a:t>100</a:t>
            </a:r>
            <a:r>
              <a:rPr lang="en-US" sz="1300" b="0" u="none" strike="noStrike">
                <a:solidFill>
                  <a:srgbClr val="2DCC70"/>
                </a:solidFill>
                <a:effectLst/>
                <a:uFillTx/>
                <a:latin typeface="Calibri"/>
                <a:ea typeface="Calibri"/>
              </a:rPr>
              <a:t> $/</a:t>
            </a:r>
            <a:r>
              <a:rPr lang="en-US" sz="1300" b="0" u="none" strike="noStrike">
                <a:solidFill>
                  <a:srgbClr val="2DCC70"/>
                </a:solidFill>
                <a:effectLst/>
                <a:uFillTx/>
                <a:latin typeface="Calibri"/>
                <a:ea typeface="Calibri"/>
              </a:rPr>
              <a:t>h</a:t>
            </a:r>
            <a:endParaRPr lang="en-US" sz="1300" b="0" u="none" strike="noStrike">
              <a:solidFill>
                <a:srgbClr val="000000"/>
              </a:solidFill>
              <a:effectLst/>
              <a:uFillTx/>
              <a:latin typeface="Arial"/>
            </a:endParaRPr>
          </a:p>
        </p:txBody>
      </p:sp>
      <p:sp>
        <p:nvSpPr>
          <p:cNvPr id="305" name=""/>
          <p:cNvSpPr txBox="1"/>
          <p:nvPr/>
        </p:nvSpPr>
        <p:spPr>
          <a:xfrm>
            <a:off x="6967800" y="2112120"/>
            <a:ext cx="1600200" cy="34740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5</a:t>
            </a:r>
            <a:r>
              <a:rPr lang="en-US" sz="1300" b="0" u="none" strike="noStrike">
                <a:solidFill>
                  <a:srgbClr val="CCCCCC"/>
                </a:solidFill>
                <a:effectLst/>
                <a:uFillTx/>
                <a:latin typeface="Calibri"/>
                <a:ea typeface="Calibri"/>
              </a:rPr>
              <a:t> </a:t>
            </a:r>
            <a:r>
              <a:rPr lang="en-US" sz="1300" b="0" u="none" strike="noStrike">
                <a:solidFill>
                  <a:srgbClr val="CCCCCC"/>
                </a:solidFill>
                <a:effectLst/>
                <a:uFillTx/>
                <a:latin typeface="Calibri"/>
                <a:ea typeface="Calibri"/>
              </a:rPr>
              <a:t>s</a:t>
            </a:r>
            <a:endParaRPr lang="en-US" sz="1300" b="0" u="none" strike="noStrike">
              <a:solidFill>
                <a:srgbClr val="000000"/>
              </a:solidFill>
              <a:effectLst/>
              <a:uFillTx/>
              <a:latin typeface="Arial"/>
            </a:endParaRPr>
          </a:p>
        </p:txBody>
      </p:sp>
      <p:sp>
        <p:nvSpPr>
          <p:cNvPr id="306" name=""/>
          <p:cNvSpPr txBox="1"/>
          <p:nvPr/>
        </p:nvSpPr>
        <p:spPr>
          <a:xfrm>
            <a:off x="8705160" y="2112120"/>
            <a:ext cx="310896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OPTIMAL</a:t>
            </a:r>
            <a:endParaRPr lang="en-US" sz="1300" b="0" u="none" strike="noStrike">
              <a:solidFill>
                <a:srgbClr val="000000"/>
              </a:solidFill>
              <a:effectLst/>
              <a:uFillTx/>
              <a:latin typeface="Arial"/>
            </a:endParaRPr>
          </a:p>
        </p:txBody>
      </p:sp>
      <p:sp>
        <p:nvSpPr>
          <p:cNvPr id="307" name=""/>
          <p:cNvSpPr/>
          <p:nvPr/>
        </p:nvSpPr>
        <p:spPr>
          <a:xfrm>
            <a:off x="365760" y="2514600"/>
            <a:ext cx="11430360" cy="457560"/>
          </a:xfrm>
          <a:custGeom>
            <a:avLst/>
            <a:gdLst/>
            <a:ahLst/>
            <a:rect l="0" t="0" r="r" b="b"/>
            <a:pathLst>
              <a:path w="31751" h="1271">
                <a:moveTo>
                  <a:pt x="0" y="0"/>
                </a:moveTo>
                <a:lnTo>
                  <a:pt x="31751" y="0"/>
                </a:lnTo>
                <a:lnTo>
                  <a:pt x="31751" y="1271"/>
                </a:lnTo>
                <a:lnTo>
                  <a:pt x="0" y="1271"/>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08" name=""/>
          <p:cNvSpPr txBox="1"/>
          <p:nvPr/>
        </p:nvSpPr>
        <p:spPr>
          <a:xfrm>
            <a:off x="475560" y="2569320"/>
            <a:ext cx="146304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6</a:t>
            </a:r>
            <a:r>
              <a:rPr lang="en-US" sz="1300" b="0" u="none" strike="noStrike">
                <a:solidFill>
                  <a:srgbClr val="FFFFFF"/>
                </a:solidFill>
                <a:effectLst/>
                <a:uFillTx/>
                <a:latin typeface="Calibri"/>
                <a:ea typeface="Calibri"/>
              </a:rPr>
              <a:t> </a:t>
            </a:r>
            <a:r>
              <a:rPr lang="en-US" sz="1300" b="0" u="none" strike="noStrike">
                <a:solidFill>
                  <a:srgbClr val="FFFFFF"/>
                </a:solidFill>
                <a:effectLst/>
                <a:uFillTx/>
                <a:latin typeface="Calibri"/>
                <a:ea typeface="Calibri"/>
              </a:rPr>
              <a:t>bus</a:t>
            </a:r>
            <a:endParaRPr lang="en-US" sz="1300" b="0" u="none" strike="noStrike">
              <a:solidFill>
                <a:srgbClr val="000000"/>
              </a:solidFill>
              <a:effectLst/>
              <a:uFillTx/>
              <a:latin typeface="Arial"/>
            </a:endParaRPr>
          </a:p>
        </p:txBody>
      </p:sp>
      <p:sp>
        <p:nvSpPr>
          <p:cNvPr id="309" name=""/>
          <p:cNvSpPr txBox="1"/>
          <p:nvPr/>
        </p:nvSpPr>
        <p:spPr>
          <a:xfrm>
            <a:off x="2075760" y="2569320"/>
            <a:ext cx="210312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ED + congestion</a:t>
            </a:r>
            <a:endParaRPr lang="en-US" sz="1300" b="0" u="none" strike="noStrike">
              <a:solidFill>
                <a:srgbClr val="000000"/>
              </a:solidFill>
              <a:effectLst/>
              <a:uFillTx/>
              <a:latin typeface="Arial"/>
            </a:endParaRPr>
          </a:p>
        </p:txBody>
      </p:sp>
      <p:sp>
        <p:nvSpPr>
          <p:cNvPr id="310" name=""/>
          <p:cNvSpPr txBox="1"/>
          <p:nvPr/>
        </p:nvSpPr>
        <p:spPr>
          <a:xfrm>
            <a:off x="4316040" y="2569320"/>
            <a:ext cx="251460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a:t>
            </a:r>
            <a:r>
              <a:rPr lang="en-US" sz="1300" b="0" u="none" strike="noStrike">
                <a:solidFill>
                  <a:srgbClr val="2DCC70"/>
                </a:solidFill>
                <a:effectLst/>
                <a:uFillTx/>
                <a:latin typeface="Calibri"/>
                <a:ea typeface="Calibri"/>
              </a:rPr>
              <a:t>5</a:t>
            </a:r>
            <a:r>
              <a:rPr lang="en-US" sz="1300" b="0" u="none" strike="noStrike">
                <a:solidFill>
                  <a:srgbClr val="2DCC70"/>
                </a:solidFill>
                <a:effectLst/>
                <a:uFillTx/>
                <a:latin typeface="Calibri"/>
                <a:ea typeface="Calibri"/>
              </a:rPr>
              <a:t> </a:t>
            </a:r>
            <a:r>
              <a:rPr lang="en-US" sz="1300" b="0" u="none" strike="noStrike">
                <a:solidFill>
                  <a:srgbClr val="2DCC70"/>
                </a:solidFill>
                <a:effectLst/>
                <a:uFillTx/>
                <a:latin typeface="Calibri"/>
                <a:ea typeface="Calibri"/>
              </a:rPr>
              <a:t>800</a:t>
            </a:r>
            <a:r>
              <a:rPr lang="en-US" sz="1300" b="0" u="none" strike="noStrike">
                <a:solidFill>
                  <a:srgbClr val="2DCC70"/>
                </a:solidFill>
                <a:effectLst/>
                <a:uFillTx/>
                <a:latin typeface="Calibri"/>
                <a:ea typeface="Calibri"/>
              </a:rPr>
              <a:t> $/</a:t>
            </a:r>
            <a:r>
              <a:rPr lang="en-US" sz="1300" b="0" u="none" strike="noStrike">
                <a:solidFill>
                  <a:srgbClr val="2DCC70"/>
                </a:solidFill>
                <a:effectLst/>
                <a:uFillTx/>
                <a:latin typeface="Calibri"/>
                <a:ea typeface="Calibri"/>
              </a:rPr>
              <a:t>h</a:t>
            </a:r>
            <a:endParaRPr lang="en-US" sz="1300" b="0" u="none" strike="noStrike">
              <a:solidFill>
                <a:srgbClr val="000000"/>
              </a:solidFill>
              <a:effectLst/>
              <a:uFillTx/>
              <a:latin typeface="Arial"/>
            </a:endParaRPr>
          </a:p>
        </p:txBody>
      </p:sp>
      <p:sp>
        <p:nvSpPr>
          <p:cNvPr id="311" name=""/>
          <p:cNvSpPr txBox="1"/>
          <p:nvPr/>
        </p:nvSpPr>
        <p:spPr>
          <a:xfrm>
            <a:off x="6967800" y="2569320"/>
            <a:ext cx="1600200" cy="34740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10</a:t>
            </a:r>
            <a:r>
              <a:rPr lang="en-US" sz="1300" b="0" u="none" strike="noStrike">
                <a:solidFill>
                  <a:srgbClr val="CCCCCC"/>
                </a:solidFill>
                <a:effectLst/>
                <a:uFillTx/>
                <a:latin typeface="Calibri"/>
                <a:ea typeface="Calibri"/>
              </a:rPr>
              <a:t> </a:t>
            </a:r>
            <a:r>
              <a:rPr lang="en-US" sz="1300" b="0" u="none" strike="noStrike">
                <a:solidFill>
                  <a:srgbClr val="CCCCCC"/>
                </a:solidFill>
                <a:effectLst/>
                <a:uFillTx/>
                <a:latin typeface="Calibri"/>
                <a:ea typeface="Calibri"/>
              </a:rPr>
              <a:t>s</a:t>
            </a:r>
            <a:endParaRPr lang="en-US" sz="1300" b="0" u="none" strike="noStrike">
              <a:solidFill>
                <a:srgbClr val="000000"/>
              </a:solidFill>
              <a:effectLst/>
              <a:uFillTx/>
              <a:latin typeface="Arial"/>
            </a:endParaRPr>
          </a:p>
        </p:txBody>
      </p:sp>
      <p:sp>
        <p:nvSpPr>
          <p:cNvPr id="312" name=""/>
          <p:cNvSpPr txBox="1"/>
          <p:nvPr/>
        </p:nvSpPr>
        <p:spPr>
          <a:xfrm>
            <a:off x="8705160" y="2569320"/>
            <a:ext cx="310896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a:t>
            </a:r>
            <a:r>
              <a:rPr lang="en-US" sz="1300" b="0" u="none" strike="noStrike">
                <a:solidFill>
                  <a:srgbClr val="2DCC70"/>
                </a:solidFill>
                <a:effectLst/>
                <a:uFillTx/>
                <a:latin typeface="Calibri"/>
                <a:ea typeface="Calibri"/>
              </a:rPr>
              <a:t>87%</a:t>
            </a:r>
            <a:r>
              <a:rPr lang="en-US" sz="1300" b="0" u="none" strike="noStrike">
                <a:solidFill>
                  <a:srgbClr val="2DCC70"/>
                </a:solidFill>
                <a:effectLst/>
                <a:uFillTx/>
                <a:latin typeface="Calibri"/>
                <a:ea typeface="Calibri"/>
              </a:rPr>
              <a:t> — </a:t>
            </a:r>
            <a:r>
              <a:rPr lang="en-US" sz="1300" b="0" u="none" strike="noStrike">
                <a:solidFill>
                  <a:srgbClr val="2DCC70"/>
                </a:solidFill>
                <a:effectLst/>
                <a:uFillTx/>
                <a:latin typeface="Calibri"/>
                <a:ea typeface="Calibri"/>
              </a:rPr>
              <a:t>lignes saturées</a:t>
            </a:r>
            <a:endParaRPr lang="en-US" sz="1300" b="0" u="none" strike="noStrike">
              <a:solidFill>
                <a:srgbClr val="000000"/>
              </a:solidFill>
              <a:effectLst/>
              <a:uFillTx/>
              <a:latin typeface="Arial"/>
            </a:endParaRPr>
          </a:p>
        </p:txBody>
      </p:sp>
      <p:sp>
        <p:nvSpPr>
          <p:cNvPr id="313" name=""/>
          <p:cNvSpPr/>
          <p:nvPr/>
        </p:nvSpPr>
        <p:spPr>
          <a:xfrm>
            <a:off x="365760" y="2971800"/>
            <a:ext cx="11430360" cy="457560"/>
          </a:xfrm>
          <a:custGeom>
            <a:avLst/>
            <a:gdLst/>
            <a:ahLst/>
            <a:rect l="0" t="0" r="r" b="b"/>
            <a:pathLst>
              <a:path w="31751" h="1271">
                <a:moveTo>
                  <a:pt x="0" y="0"/>
                </a:moveTo>
                <a:lnTo>
                  <a:pt x="31751" y="0"/>
                </a:lnTo>
                <a:lnTo>
                  <a:pt x="31751" y="1271"/>
                </a:lnTo>
                <a:lnTo>
                  <a:pt x="0" y="127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14" name=""/>
          <p:cNvSpPr txBox="1"/>
          <p:nvPr/>
        </p:nvSpPr>
        <p:spPr>
          <a:xfrm>
            <a:off x="475560" y="3026520"/>
            <a:ext cx="146304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14</a:t>
            </a:r>
            <a:r>
              <a:rPr lang="en-US" sz="1300" b="0" u="none" strike="noStrike">
                <a:solidFill>
                  <a:srgbClr val="FFFFFF"/>
                </a:solidFill>
                <a:effectLst/>
                <a:uFillTx/>
                <a:latin typeface="Calibri"/>
                <a:ea typeface="Calibri"/>
              </a:rPr>
              <a:t> </a:t>
            </a:r>
            <a:r>
              <a:rPr lang="en-US" sz="1300" b="0" u="none" strike="noStrike">
                <a:solidFill>
                  <a:srgbClr val="FFFFFF"/>
                </a:solidFill>
                <a:effectLst/>
                <a:uFillTx/>
                <a:latin typeface="Calibri"/>
                <a:ea typeface="Calibri"/>
              </a:rPr>
              <a:t>bus</a:t>
            </a:r>
            <a:endParaRPr lang="en-US" sz="1300" b="0" u="none" strike="noStrike">
              <a:solidFill>
                <a:srgbClr val="000000"/>
              </a:solidFill>
              <a:effectLst/>
              <a:uFillTx/>
              <a:latin typeface="Arial"/>
            </a:endParaRPr>
          </a:p>
        </p:txBody>
      </p:sp>
      <p:sp>
        <p:nvSpPr>
          <p:cNvPr id="315" name=""/>
          <p:cNvSpPr txBox="1"/>
          <p:nvPr/>
        </p:nvSpPr>
        <p:spPr>
          <a:xfrm>
            <a:off x="2075760" y="3026520"/>
            <a:ext cx="210312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ED</a:t>
            </a:r>
            <a:endParaRPr lang="en-US" sz="1300" b="0" u="none" strike="noStrike">
              <a:solidFill>
                <a:srgbClr val="000000"/>
              </a:solidFill>
              <a:effectLst/>
              <a:uFillTx/>
              <a:latin typeface="Arial"/>
            </a:endParaRPr>
          </a:p>
        </p:txBody>
      </p:sp>
      <p:sp>
        <p:nvSpPr>
          <p:cNvPr id="316" name=""/>
          <p:cNvSpPr txBox="1"/>
          <p:nvPr/>
        </p:nvSpPr>
        <p:spPr>
          <a:xfrm>
            <a:off x="4316040" y="3026520"/>
            <a:ext cx="251460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a:t>
            </a:r>
            <a:r>
              <a:rPr lang="en-US" sz="1300" b="0" u="none" strike="noStrike">
                <a:solidFill>
                  <a:srgbClr val="2DCC70"/>
                </a:solidFill>
                <a:effectLst/>
                <a:uFillTx/>
                <a:latin typeface="Calibri"/>
                <a:ea typeface="Calibri"/>
              </a:rPr>
              <a:t>2</a:t>
            </a:r>
            <a:r>
              <a:rPr lang="en-US" sz="1300" b="0" u="none" strike="noStrike">
                <a:solidFill>
                  <a:srgbClr val="2DCC70"/>
                </a:solidFill>
                <a:effectLst/>
                <a:uFillTx/>
                <a:latin typeface="Calibri"/>
                <a:ea typeface="Calibri"/>
              </a:rPr>
              <a:t> </a:t>
            </a:r>
            <a:r>
              <a:rPr lang="en-US" sz="1300" b="0" u="none" strike="noStrike">
                <a:solidFill>
                  <a:srgbClr val="2DCC70"/>
                </a:solidFill>
                <a:effectLst/>
                <a:uFillTx/>
                <a:latin typeface="Calibri"/>
                <a:ea typeface="Calibri"/>
              </a:rPr>
              <a:t>400</a:t>
            </a:r>
            <a:r>
              <a:rPr lang="en-US" sz="1300" b="0" u="none" strike="noStrike">
                <a:solidFill>
                  <a:srgbClr val="2DCC70"/>
                </a:solidFill>
                <a:effectLst/>
                <a:uFillTx/>
                <a:latin typeface="Calibri"/>
                <a:ea typeface="Calibri"/>
              </a:rPr>
              <a:t> $/</a:t>
            </a:r>
            <a:r>
              <a:rPr lang="en-US" sz="1300" b="0" u="none" strike="noStrike">
                <a:solidFill>
                  <a:srgbClr val="2DCC70"/>
                </a:solidFill>
                <a:effectLst/>
                <a:uFillTx/>
                <a:latin typeface="Calibri"/>
                <a:ea typeface="Calibri"/>
              </a:rPr>
              <a:t>h</a:t>
            </a:r>
            <a:endParaRPr lang="en-US" sz="1300" b="0" u="none" strike="noStrike">
              <a:solidFill>
                <a:srgbClr val="000000"/>
              </a:solidFill>
              <a:effectLst/>
              <a:uFillTx/>
              <a:latin typeface="Arial"/>
            </a:endParaRPr>
          </a:p>
        </p:txBody>
      </p:sp>
      <p:sp>
        <p:nvSpPr>
          <p:cNvPr id="317" name=""/>
          <p:cNvSpPr txBox="1"/>
          <p:nvPr/>
        </p:nvSpPr>
        <p:spPr>
          <a:xfrm>
            <a:off x="6967800" y="3026520"/>
            <a:ext cx="1600200" cy="34740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15</a:t>
            </a:r>
            <a:r>
              <a:rPr lang="en-US" sz="1300" b="0" u="none" strike="noStrike">
                <a:solidFill>
                  <a:srgbClr val="CCCCCC"/>
                </a:solidFill>
                <a:effectLst/>
                <a:uFillTx/>
                <a:latin typeface="Calibri"/>
                <a:ea typeface="Calibri"/>
              </a:rPr>
              <a:t> </a:t>
            </a:r>
            <a:r>
              <a:rPr lang="en-US" sz="1300" b="0" u="none" strike="noStrike">
                <a:solidFill>
                  <a:srgbClr val="CCCCCC"/>
                </a:solidFill>
                <a:effectLst/>
                <a:uFillTx/>
                <a:latin typeface="Calibri"/>
                <a:ea typeface="Calibri"/>
              </a:rPr>
              <a:t>s</a:t>
            </a:r>
            <a:endParaRPr lang="en-US" sz="1300" b="0" u="none" strike="noStrike">
              <a:solidFill>
                <a:srgbClr val="000000"/>
              </a:solidFill>
              <a:effectLst/>
              <a:uFillTx/>
              <a:latin typeface="Arial"/>
            </a:endParaRPr>
          </a:p>
        </p:txBody>
      </p:sp>
      <p:sp>
        <p:nvSpPr>
          <p:cNvPr id="318" name=""/>
          <p:cNvSpPr txBox="1"/>
          <p:nvPr/>
        </p:nvSpPr>
        <p:spPr>
          <a:xfrm>
            <a:off x="8705160" y="3026520"/>
            <a:ext cx="310896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OPTIMAL</a:t>
            </a:r>
            <a:endParaRPr lang="en-US" sz="1300" b="0" u="none" strike="noStrike">
              <a:solidFill>
                <a:srgbClr val="000000"/>
              </a:solidFill>
              <a:effectLst/>
              <a:uFillTx/>
              <a:latin typeface="Arial"/>
            </a:endParaRPr>
          </a:p>
        </p:txBody>
      </p:sp>
      <p:sp>
        <p:nvSpPr>
          <p:cNvPr id="319" name=""/>
          <p:cNvSpPr/>
          <p:nvPr/>
        </p:nvSpPr>
        <p:spPr>
          <a:xfrm>
            <a:off x="365760" y="3429000"/>
            <a:ext cx="11430360" cy="457560"/>
          </a:xfrm>
          <a:custGeom>
            <a:avLst/>
            <a:gdLst/>
            <a:ahLst/>
            <a:rect l="0" t="0" r="r" b="b"/>
            <a:pathLst>
              <a:path w="31751" h="1271">
                <a:moveTo>
                  <a:pt x="0" y="0"/>
                </a:moveTo>
                <a:lnTo>
                  <a:pt x="31751" y="0"/>
                </a:lnTo>
                <a:lnTo>
                  <a:pt x="31751" y="1271"/>
                </a:lnTo>
                <a:lnTo>
                  <a:pt x="0" y="1271"/>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20" name=""/>
          <p:cNvSpPr txBox="1"/>
          <p:nvPr/>
        </p:nvSpPr>
        <p:spPr>
          <a:xfrm>
            <a:off x="475560" y="3483720"/>
            <a:ext cx="146304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6</a:t>
            </a:r>
            <a:r>
              <a:rPr lang="en-US" sz="1300" b="0" u="none" strike="noStrike">
                <a:solidFill>
                  <a:srgbClr val="FFFFFF"/>
                </a:solidFill>
                <a:effectLst/>
                <a:uFillTx/>
                <a:latin typeface="Calibri"/>
                <a:ea typeface="Calibri"/>
              </a:rPr>
              <a:t> </a:t>
            </a:r>
            <a:r>
              <a:rPr lang="en-US" sz="1300" b="0" u="none" strike="noStrike">
                <a:solidFill>
                  <a:srgbClr val="FFFFFF"/>
                </a:solidFill>
                <a:effectLst/>
                <a:uFillTx/>
                <a:latin typeface="Calibri"/>
                <a:ea typeface="Calibri"/>
              </a:rPr>
              <a:t>bus</a:t>
            </a:r>
            <a:endParaRPr lang="en-US" sz="1300" b="0" u="none" strike="noStrike">
              <a:solidFill>
                <a:srgbClr val="000000"/>
              </a:solidFill>
              <a:effectLst/>
              <a:uFillTx/>
              <a:latin typeface="Arial"/>
            </a:endParaRPr>
          </a:p>
        </p:txBody>
      </p:sp>
      <p:sp>
        <p:nvSpPr>
          <p:cNvPr id="321" name=""/>
          <p:cNvSpPr txBox="1"/>
          <p:nvPr/>
        </p:nvSpPr>
        <p:spPr>
          <a:xfrm>
            <a:off x="2075760" y="3483720"/>
            <a:ext cx="210312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UC 24h</a:t>
            </a:r>
            <a:endParaRPr lang="en-US" sz="1300" b="0" u="none" strike="noStrike">
              <a:solidFill>
                <a:srgbClr val="000000"/>
              </a:solidFill>
              <a:effectLst/>
              <a:uFillTx/>
              <a:latin typeface="Arial"/>
            </a:endParaRPr>
          </a:p>
        </p:txBody>
      </p:sp>
      <p:sp>
        <p:nvSpPr>
          <p:cNvPr id="322" name=""/>
          <p:cNvSpPr txBox="1"/>
          <p:nvPr/>
        </p:nvSpPr>
        <p:spPr>
          <a:xfrm>
            <a:off x="4316040" y="3483720"/>
            <a:ext cx="251460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a:t>
            </a:r>
            <a:r>
              <a:rPr lang="en-US" sz="1300" b="0" u="none" strike="noStrike">
                <a:solidFill>
                  <a:srgbClr val="2DCC70"/>
                </a:solidFill>
                <a:effectLst/>
                <a:uFillTx/>
                <a:latin typeface="Calibri"/>
                <a:ea typeface="Calibri"/>
              </a:rPr>
              <a:t>65</a:t>
            </a:r>
            <a:r>
              <a:rPr lang="en-US" sz="1300" b="0" u="none" strike="noStrike">
                <a:solidFill>
                  <a:srgbClr val="2DCC70"/>
                </a:solidFill>
                <a:effectLst/>
                <a:uFillTx/>
                <a:latin typeface="Calibri"/>
                <a:ea typeface="Calibri"/>
              </a:rPr>
              <a:t> </a:t>
            </a:r>
            <a:r>
              <a:rPr lang="en-US" sz="1300" b="0" u="none" strike="noStrike">
                <a:solidFill>
                  <a:srgbClr val="2DCC70"/>
                </a:solidFill>
                <a:effectLst/>
                <a:uFillTx/>
                <a:latin typeface="Calibri"/>
                <a:ea typeface="Calibri"/>
              </a:rPr>
              <a:t>000</a:t>
            </a:r>
            <a:r>
              <a:rPr lang="en-US" sz="1300" b="0" u="none" strike="noStrike">
                <a:solidFill>
                  <a:srgbClr val="2DCC70"/>
                </a:solidFill>
                <a:effectLst/>
                <a:uFillTx/>
                <a:latin typeface="Calibri"/>
                <a:ea typeface="Calibri"/>
              </a:rPr>
              <a:t> $</a:t>
            </a:r>
            <a:endParaRPr lang="en-US" sz="1300" b="0" u="none" strike="noStrike">
              <a:solidFill>
                <a:srgbClr val="000000"/>
              </a:solidFill>
              <a:effectLst/>
              <a:uFillTx/>
              <a:latin typeface="Arial"/>
            </a:endParaRPr>
          </a:p>
        </p:txBody>
      </p:sp>
      <p:sp>
        <p:nvSpPr>
          <p:cNvPr id="323" name=""/>
          <p:cNvSpPr txBox="1"/>
          <p:nvPr/>
        </p:nvSpPr>
        <p:spPr>
          <a:xfrm>
            <a:off x="6967800" y="3483720"/>
            <a:ext cx="1600200" cy="34740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20</a:t>
            </a:r>
            <a:r>
              <a:rPr lang="en-US" sz="1300" b="0" u="none" strike="noStrike">
                <a:solidFill>
                  <a:srgbClr val="CCCCCC"/>
                </a:solidFill>
                <a:effectLst/>
                <a:uFillTx/>
                <a:latin typeface="Calibri"/>
                <a:ea typeface="Calibri"/>
              </a:rPr>
              <a:t>–</a:t>
            </a:r>
            <a:r>
              <a:rPr lang="en-US" sz="1300" b="0" u="none" strike="noStrike">
                <a:solidFill>
                  <a:srgbClr val="CCCCCC"/>
                </a:solidFill>
                <a:effectLst/>
                <a:uFillTx/>
                <a:latin typeface="Calibri"/>
                <a:ea typeface="Calibri"/>
              </a:rPr>
              <a:t>40</a:t>
            </a:r>
            <a:r>
              <a:rPr lang="en-US" sz="1300" b="0" u="none" strike="noStrike">
                <a:solidFill>
                  <a:srgbClr val="CCCCCC"/>
                </a:solidFill>
                <a:effectLst/>
                <a:uFillTx/>
                <a:latin typeface="Calibri"/>
                <a:ea typeface="Calibri"/>
              </a:rPr>
              <a:t> </a:t>
            </a:r>
            <a:r>
              <a:rPr lang="en-US" sz="1300" b="0" u="none" strike="noStrike">
                <a:solidFill>
                  <a:srgbClr val="CCCCCC"/>
                </a:solidFill>
                <a:effectLst/>
                <a:uFillTx/>
                <a:latin typeface="Calibri"/>
                <a:ea typeface="Calibri"/>
              </a:rPr>
              <a:t>s</a:t>
            </a:r>
            <a:endParaRPr lang="en-US" sz="1300" b="0" u="none" strike="noStrike">
              <a:solidFill>
                <a:srgbClr val="000000"/>
              </a:solidFill>
              <a:effectLst/>
              <a:uFillTx/>
              <a:latin typeface="Arial"/>
            </a:endParaRPr>
          </a:p>
        </p:txBody>
      </p:sp>
      <p:sp>
        <p:nvSpPr>
          <p:cNvPr id="324" name=""/>
          <p:cNvSpPr txBox="1"/>
          <p:nvPr/>
        </p:nvSpPr>
        <p:spPr>
          <a:xfrm>
            <a:off x="8705160" y="3483720"/>
            <a:ext cx="310896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Gap &lt; 2%</a:t>
            </a:r>
            <a:endParaRPr lang="en-US" sz="1300" b="0" u="none" strike="noStrike">
              <a:solidFill>
                <a:srgbClr val="000000"/>
              </a:solidFill>
              <a:effectLst/>
              <a:uFillTx/>
              <a:latin typeface="Arial"/>
            </a:endParaRPr>
          </a:p>
        </p:txBody>
      </p:sp>
      <p:sp>
        <p:nvSpPr>
          <p:cNvPr id="325" name=""/>
          <p:cNvSpPr/>
          <p:nvPr/>
        </p:nvSpPr>
        <p:spPr>
          <a:xfrm>
            <a:off x="365760" y="3886200"/>
            <a:ext cx="11430360" cy="457560"/>
          </a:xfrm>
          <a:custGeom>
            <a:avLst/>
            <a:gdLst/>
            <a:ahLst/>
            <a:rect l="0" t="0" r="r" b="b"/>
            <a:pathLst>
              <a:path w="31751" h="1271">
                <a:moveTo>
                  <a:pt x="0" y="0"/>
                </a:moveTo>
                <a:lnTo>
                  <a:pt x="31751" y="0"/>
                </a:lnTo>
                <a:lnTo>
                  <a:pt x="31751" y="1271"/>
                </a:lnTo>
                <a:lnTo>
                  <a:pt x="0" y="127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26" name=""/>
          <p:cNvSpPr txBox="1"/>
          <p:nvPr/>
        </p:nvSpPr>
        <p:spPr>
          <a:xfrm>
            <a:off x="475560" y="3940920"/>
            <a:ext cx="146304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14</a:t>
            </a:r>
            <a:r>
              <a:rPr lang="en-US" sz="1300" b="0" u="none" strike="noStrike">
                <a:solidFill>
                  <a:srgbClr val="FFFFFF"/>
                </a:solidFill>
                <a:effectLst/>
                <a:uFillTx/>
                <a:latin typeface="Calibri"/>
                <a:ea typeface="Calibri"/>
              </a:rPr>
              <a:t> </a:t>
            </a:r>
            <a:r>
              <a:rPr lang="en-US" sz="1300" b="0" u="none" strike="noStrike">
                <a:solidFill>
                  <a:srgbClr val="FFFFFF"/>
                </a:solidFill>
                <a:effectLst/>
                <a:uFillTx/>
                <a:latin typeface="Calibri"/>
                <a:ea typeface="Calibri"/>
              </a:rPr>
              <a:t>bus</a:t>
            </a:r>
            <a:endParaRPr lang="en-US" sz="1300" b="0" u="none" strike="noStrike">
              <a:solidFill>
                <a:srgbClr val="000000"/>
              </a:solidFill>
              <a:effectLst/>
              <a:uFillTx/>
              <a:latin typeface="Arial"/>
            </a:endParaRPr>
          </a:p>
        </p:txBody>
      </p:sp>
      <p:sp>
        <p:nvSpPr>
          <p:cNvPr id="327" name=""/>
          <p:cNvSpPr txBox="1"/>
          <p:nvPr/>
        </p:nvSpPr>
        <p:spPr>
          <a:xfrm>
            <a:off x="2075760" y="3940920"/>
            <a:ext cx="210312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UC 24h</a:t>
            </a:r>
            <a:endParaRPr lang="en-US" sz="1300" b="0" u="none" strike="noStrike">
              <a:solidFill>
                <a:srgbClr val="000000"/>
              </a:solidFill>
              <a:effectLst/>
              <a:uFillTx/>
              <a:latin typeface="Arial"/>
            </a:endParaRPr>
          </a:p>
        </p:txBody>
      </p:sp>
      <p:sp>
        <p:nvSpPr>
          <p:cNvPr id="328" name=""/>
          <p:cNvSpPr txBox="1"/>
          <p:nvPr/>
        </p:nvSpPr>
        <p:spPr>
          <a:xfrm>
            <a:off x="4316040" y="3940920"/>
            <a:ext cx="251460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a:t>
            </a:r>
            <a:r>
              <a:rPr lang="en-US" sz="1300" b="0" u="none" strike="noStrike">
                <a:solidFill>
                  <a:srgbClr val="2DCC70"/>
                </a:solidFill>
                <a:effectLst/>
                <a:uFillTx/>
                <a:latin typeface="Calibri"/>
                <a:ea typeface="Calibri"/>
              </a:rPr>
              <a:t>70</a:t>
            </a:r>
            <a:r>
              <a:rPr lang="en-US" sz="1300" b="0" u="none" strike="noStrike">
                <a:solidFill>
                  <a:srgbClr val="2DCC70"/>
                </a:solidFill>
                <a:effectLst/>
                <a:uFillTx/>
                <a:latin typeface="Calibri"/>
                <a:ea typeface="Calibri"/>
              </a:rPr>
              <a:t> </a:t>
            </a:r>
            <a:r>
              <a:rPr lang="en-US" sz="1300" b="0" u="none" strike="noStrike">
                <a:solidFill>
                  <a:srgbClr val="2DCC70"/>
                </a:solidFill>
                <a:effectLst/>
                <a:uFillTx/>
                <a:latin typeface="Calibri"/>
                <a:ea typeface="Calibri"/>
              </a:rPr>
              <a:t>000</a:t>
            </a:r>
            <a:r>
              <a:rPr lang="en-US" sz="1300" b="0" u="none" strike="noStrike">
                <a:solidFill>
                  <a:srgbClr val="2DCC70"/>
                </a:solidFill>
                <a:effectLst/>
                <a:uFillTx/>
                <a:latin typeface="Calibri"/>
                <a:ea typeface="Calibri"/>
              </a:rPr>
              <a:t> $</a:t>
            </a:r>
            <a:endParaRPr lang="en-US" sz="1300" b="0" u="none" strike="noStrike">
              <a:solidFill>
                <a:srgbClr val="000000"/>
              </a:solidFill>
              <a:effectLst/>
              <a:uFillTx/>
              <a:latin typeface="Arial"/>
            </a:endParaRPr>
          </a:p>
        </p:txBody>
      </p:sp>
      <p:sp>
        <p:nvSpPr>
          <p:cNvPr id="329" name=""/>
          <p:cNvSpPr txBox="1"/>
          <p:nvPr/>
        </p:nvSpPr>
        <p:spPr>
          <a:xfrm>
            <a:off x="6967800" y="3940920"/>
            <a:ext cx="1600200" cy="34740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30</a:t>
            </a:r>
            <a:r>
              <a:rPr lang="en-US" sz="1300" b="0" u="none" strike="noStrike">
                <a:solidFill>
                  <a:srgbClr val="CCCCCC"/>
                </a:solidFill>
                <a:effectLst/>
                <a:uFillTx/>
                <a:latin typeface="Calibri"/>
                <a:ea typeface="Calibri"/>
              </a:rPr>
              <a:t>–</a:t>
            </a:r>
            <a:r>
              <a:rPr lang="en-US" sz="1300" b="0" u="none" strike="noStrike">
                <a:solidFill>
                  <a:srgbClr val="CCCCCC"/>
                </a:solidFill>
                <a:effectLst/>
                <a:uFillTx/>
                <a:latin typeface="Calibri"/>
                <a:ea typeface="Calibri"/>
              </a:rPr>
              <a:t>60</a:t>
            </a:r>
            <a:r>
              <a:rPr lang="en-US" sz="1300" b="0" u="none" strike="noStrike">
                <a:solidFill>
                  <a:srgbClr val="CCCCCC"/>
                </a:solidFill>
                <a:effectLst/>
                <a:uFillTx/>
                <a:latin typeface="Calibri"/>
                <a:ea typeface="Calibri"/>
              </a:rPr>
              <a:t> </a:t>
            </a:r>
            <a:r>
              <a:rPr lang="en-US" sz="1300" b="0" u="none" strike="noStrike">
                <a:solidFill>
                  <a:srgbClr val="CCCCCC"/>
                </a:solidFill>
                <a:effectLst/>
                <a:uFillTx/>
                <a:latin typeface="Calibri"/>
                <a:ea typeface="Calibri"/>
              </a:rPr>
              <a:t>s</a:t>
            </a:r>
            <a:endParaRPr lang="en-US" sz="1300" b="0" u="none" strike="noStrike">
              <a:solidFill>
                <a:srgbClr val="000000"/>
              </a:solidFill>
              <a:effectLst/>
              <a:uFillTx/>
              <a:latin typeface="Arial"/>
            </a:endParaRPr>
          </a:p>
        </p:txBody>
      </p:sp>
      <p:sp>
        <p:nvSpPr>
          <p:cNvPr id="330" name=""/>
          <p:cNvSpPr txBox="1"/>
          <p:nvPr/>
        </p:nvSpPr>
        <p:spPr>
          <a:xfrm>
            <a:off x="8705160" y="3940920"/>
            <a:ext cx="310896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Gap &lt; 2%</a:t>
            </a:r>
            <a:endParaRPr lang="en-US" sz="1300" b="0" u="none" strike="noStrike">
              <a:solidFill>
                <a:srgbClr val="000000"/>
              </a:solidFill>
              <a:effectLst/>
              <a:uFillTx/>
              <a:latin typeface="Arial"/>
            </a:endParaRPr>
          </a:p>
        </p:txBody>
      </p:sp>
      <p:sp>
        <p:nvSpPr>
          <p:cNvPr id="331" name=""/>
          <p:cNvSpPr/>
          <p:nvPr/>
        </p:nvSpPr>
        <p:spPr>
          <a:xfrm>
            <a:off x="365760" y="4343400"/>
            <a:ext cx="11430360" cy="457560"/>
          </a:xfrm>
          <a:custGeom>
            <a:avLst/>
            <a:gdLst/>
            <a:ahLst/>
            <a:rect l="0" t="0" r="r" b="b"/>
            <a:pathLst>
              <a:path w="31751" h="1271">
                <a:moveTo>
                  <a:pt x="0" y="0"/>
                </a:moveTo>
                <a:lnTo>
                  <a:pt x="31751" y="0"/>
                </a:lnTo>
                <a:lnTo>
                  <a:pt x="31751" y="1271"/>
                </a:lnTo>
                <a:lnTo>
                  <a:pt x="0" y="1271"/>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32" name=""/>
          <p:cNvSpPr txBox="1"/>
          <p:nvPr/>
        </p:nvSpPr>
        <p:spPr>
          <a:xfrm>
            <a:off x="475560" y="4398120"/>
            <a:ext cx="146304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6</a:t>
            </a:r>
            <a:r>
              <a:rPr lang="en-US" sz="1300" b="0" u="none" strike="noStrike">
                <a:solidFill>
                  <a:srgbClr val="FFFFFF"/>
                </a:solidFill>
                <a:effectLst/>
                <a:uFillTx/>
                <a:latin typeface="Calibri"/>
                <a:ea typeface="Calibri"/>
              </a:rPr>
              <a:t> </a:t>
            </a:r>
            <a:r>
              <a:rPr lang="en-US" sz="1300" b="0" u="none" strike="noStrike">
                <a:solidFill>
                  <a:srgbClr val="FFFFFF"/>
                </a:solidFill>
                <a:effectLst/>
                <a:uFillTx/>
                <a:latin typeface="Calibri"/>
                <a:ea typeface="Calibri"/>
              </a:rPr>
              <a:t>bus</a:t>
            </a:r>
            <a:endParaRPr lang="en-US" sz="1300" b="0" u="none" strike="noStrike">
              <a:solidFill>
                <a:srgbClr val="000000"/>
              </a:solidFill>
              <a:effectLst/>
              <a:uFillTx/>
              <a:latin typeface="Arial"/>
            </a:endParaRPr>
          </a:p>
        </p:txBody>
      </p:sp>
      <p:sp>
        <p:nvSpPr>
          <p:cNvPr id="333" name=""/>
          <p:cNvSpPr txBox="1"/>
          <p:nvPr/>
        </p:nvSpPr>
        <p:spPr>
          <a:xfrm>
            <a:off x="2075760" y="4398120"/>
            <a:ext cx="2103120" cy="34740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SUC 8 scén</a:t>
            </a:r>
            <a:endParaRPr lang="en-US" sz="1300" b="0" u="none" strike="noStrike">
              <a:solidFill>
                <a:srgbClr val="000000"/>
              </a:solidFill>
              <a:effectLst/>
              <a:uFillTx/>
              <a:latin typeface="Arial"/>
            </a:endParaRPr>
          </a:p>
        </p:txBody>
      </p:sp>
      <p:sp>
        <p:nvSpPr>
          <p:cNvPr id="334" name=""/>
          <p:cNvSpPr txBox="1"/>
          <p:nvPr/>
        </p:nvSpPr>
        <p:spPr>
          <a:xfrm>
            <a:off x="4316040" y="4398120"/>
            <a:ext cx="251460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a:t>
            </a:r>
            <a:r>
              <a:rPr lang="en-US" sz="1300" b="0" u="none" strike="noStrike">
                <a:solidFill>
                  <a:srgbClr val="2DCC70"/>
                </a:solidFill>
                <a:effectLst/>
                <a:uFillTx/>
                <a:latin typeface="Calibri"/>
                <a:ea typeface="Calibri"/>
              </a:rPr>
              <a:t>69</a:t>
            </a:r>
            <a:r>
              <a:rPr lang="en-US" sz="1300" b="0" u="none" strike="noStrike">
                <a:solidFill>
                  <a:srgbClr val="2DCC70"/>
                </a:solidFill>
                <a:effectLst/>
                <a:uFillTx/>
                <a:latin typeface="Calibri"/>
                <a:ea typeface="Calibri"/>
              </a:rPr>
              <a:t> </a:t>
            </a:r>
            <a:r>
              <a:rPr lang="en-US" sz="1300" b="0" u="none" strike="noStrike">
                <a:solidFill>
                  <a:srgbClr val="2DCC70"/>
                </a:solidFill>
                <a:effectLst/>
                <a:uFillTx/>
                <a:latin typeface="Calibri"/>
                <a:ea typeface="Calibri"/>
              </a:rPr>
              <a:t>200</a:t>
            </a:r>
            <a:r>
              <a:rPr lang="en-US" sz="1300" b="0" u="none" strike="noStrike">
                <a:solidFill>
                  <a:srgbClr val="2DCC70"/>
                </a:solidFill>
                <a:effectLst/>
                <a:uFillTx/>
                <a:latin typeface="Calibri"/>
                <a:ea typeface="Calibri"/>
              </a:rPr>
              <a:t> $</a:t>
            </a:r>
            <a:endParaRPr lang="en-US" sz="1300" b="0" u="none" strike="noStrike">
              <a:solidFill>
                <a:srgbClr val="000000"/>
              </a:solidFill>
              <a:effectLst/>
              <a:uFillTx/>
              <a:latin typeface="Arial"/>
            </a:endParaRPr>
          </a:p>
        </p:txBody>
      </p:sp>
      <p:sp>
        <p:nvSpPr>
          <p:cNvPr id="335" name=""/>
          <p:cNvSpPr txBox="1"/>
          <p:nvPr/>
        </p:nvSpPr>
        <p:spPr>
          <a:xfrm>
            <a:off x="6967800" y="4398120"/>
            <a:ext cx="1600200" cy="34740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45</a:t>
            </a:r>
            <a:r>
              <a:rPr lang="en-US" sz="1300" b="0" u="none" strike="noStrike">
                <a:solidFill>
                  <a:srgbClr val="CCCCCC"/>
                </a:solidFill>
                <a:effectLst/>
                <a:uFillTx/>
                <a:latin typeface="Calibri"/>
                <a:ea typeface="Calibri"/>
              </a:rPr>
              <a:t>–</a:t>
            </a:r>
            <a:r>
              <a:rPr lang="en-US" sz="1300" b="0" u="none" strike="noStrike">
                <a:solidFill>
                  <a:srgbClr val="CCCCCC"/>
                </a:solidFill>
                <a:effectLst/>
                <a:uFillTx/>
                <a:latin typeface="Calibri"/>
                <a:ea typeface="Calibri"/>
              </a:rPr>
              <a:t>90</a:t>
            </a:r>
            <a:r>
              <a:rPr lang="en-US" sz="1300" b="0" u="none" strike="noStrike">
                <a:solidFill>
                  <a:srgbClr val="CCCCCC"/>
                </a:solidFill>
                <a:effectLst/>
                <a:uFillTx/>
                <a:latin typeface="Calibri"/>
                <a:ea typeface="Calibri"/>
              </a:rPr>
              <a:t> </a:t>
            </a:r>
            <a:r>
              <a:rPr lang="en-US" sz="1300" b="0" u="none" strike="noStrike">
                <a:solidFill>
                  <a:srgbClr val="CCCCCC"/>
                </a:solidFill>
                <a:effectLst/>
                <a:uFillTx/>
                <a:latin typeface="Calibri"/>
                <a:ea typeface="Calibri"/>
              </a:rPr>
              <a:t>s</a:t>
            </a:r>
            <a:endParaRPr lang="en-US" sz="1300" b="0" u="none" strike="noStrike">
              <a:solidFill>
                <a:srgbClr val="000000"/>
              </a:solidFill>
              <a:effectLst/>
              <a:uFillTx/>
              <a:latin typeface="Arial"/>
            </a:endParaRPr>
          </a:p>
        </p:txBody>
      </p:sp>
      <p:sp>
        <p:nvSpPr>
          <p:cNvPr id="336" name=""/>
          <p:cNvSpPr txBox="1"/>
          <p:nvPr/>
        </p:nvSpPr>
        <p:spPr>
          <a:xfrm>
            <a:off x="8705160" y="4398120"/>
            <a:ext cx="3108960" cy="347400"/>
          </a:xfrm>
          <a:prstGeom prst="rect">
            <a:avLst/>
          </a:prstGeom>
          <a:noFill/>
          <a:ln w="0">
            <a:noFill/>
          </a:ln>
        </p:spPr>
        <p:txBody>
          <a:bodyPr lIns="90000" tIns="45000" rIns="90000" bIns="45000" anchor="t">
            <a:spAutoFit/>
          </a:bodyPr>
          <a:p>
            <a:r>
              <a:rPr lang="en-US" sz="1300" b="0" u="none" strike="noStrike">
                <a:solidFill>
                  <a:srgbClr val="2DCC70"/>
                </a:solidFill>
                <a:effectLst/>
                <a:uFillTx/>
                <a:latin typeface="Calibri"/>
                <a:ea typeface="Calibri"/>
              </a:rPr>
              <a:t>Gap &lt; 2%</a:t>
            </a:r>
            <a:endParaRPr lang="en-US" sz="1300" b="0" u="none" strike="noStrike">
              <a:solidFill>
                <a:srgbClr val="000000"/>
              </a:solidFill>
              <a:effectLst/>
              <a:uFillTx/>
              <a:latin typeface="Arial"/>
            </a:endParaRPr>
          </a:p>
        </p:txBody>
      </p:sp>
      <p:sp>
        <p:nvSpPr>
          <p:cNvPr id="337" name=""/>
          <p:cNvSpPr txBox="1"/>
          <p:nvPr/>
        </p:nvSpPr>
        <p:spPr>
          <a:xfrm>
            <a:off x="502920" y="4892040"/>
            <a:ext cx="11338560" cy="351000"/>
          </a:xfrm>
          <a:prstGeom prst="rect">
            <a:avLst/>
          </a:prstGeom>
          <a:noFill/>
          <a:ln w="0">
            <a:noFill/>
          </a:ln>
        </p:spPr>
        <p:txBody>
          <a:bodyPr lIns="90000" tIns="45000" rIns="90000" bIns="45000" anchor="t">
            <a:spAutoFit/>
          </a:bodyPr>
          <a:p>
            <a:r>
              <a:rPr lang="en-US" sz="1500" b="1" u="none" strike="noStrike">
                <a:solidFill>
                  <a:srgbClr val="00B4D8"/>
                </a:solidFill>
                <a:effectLst/>
                <a:uFillTx/>
                <a:latin typeface="Calibri-Bold"/>
                <a:ea typeface="Calibri-Bold"/>
              </a:rPr>
              <a:t>Leçons clés</a:t>
            </a:r>
            <a:r>
              <a:rPr lang="en-US" sz="1500" b="1" u="none" strike="noStrike">
                <a:solidFill>
                  <a:srgbClr val="00B4D8"/>
                </a:solidFill>
                <a:effectLst/>
                <a:uFillTx/>
                <a:latin typeface="Calibri-Bold"/>
                <a:ea typeface="Calibri-Bold"/>
              </a:rPr>
              <a:t> :</a:t>
            </a:r>
            <a:endParaRPr lang="en-US" sz="1500" b="0" u="none" strike="noStrike">
              <a:solidFill>
                <a:srgbClr val="000000"/>
              </a:solidFill>
              <a:effectLst/>
              <a:uFillTx/>
              <a:latin typeface="Arial"/>
            </a:endParaRPr>
          </a:p>
        </p:txBody>
      </p:sp>
      <p:sp>
        <p:nvSpPr>
          <p:cNvPr id="338" name=""/>
          <p:cNvSpPr txBox="1"/>
          <p:nvPr/>
        </p:nvSpPr>
        <p:spPr>
          <a:xfrm>
            <a:off x="502920" y="5230440"/>
            <a:ext cx="11338560" cy="1463040"/>
          </a:xfrm>
          <a:prstGeom prst="rect">
            <a:avLst/>
          </a:prstGeom>
          <a:noFill/>
          <a:ln w="0">
            <a:noFill/>
          </a:ln>
        </p:spPr>
        <p:txBody>
          <a:bodyPr lIns="90000" tIns="45000" rIns="90000" bIns="45000" anchor="t">
            <a:spAutoFit/>
          </a:bodyPr>
          <a:p>
            <a:r>
              <a:rPr lang="en-US" sz="1300" b="0" u="none" strike="noStrike">
                <a:solidFill>
                  <a:srgbClr val="FFFFFF"/>
                </a:solidFill>
                <a:effectLst/>
                <a:uFillTx/>
                <a:latin typeface="Calibri"/>
                <a:ea typeface="Calibri"/>
              </a:rPr>
              <a:t>La congestion coûte très cher : une seule ligne saturée peut doubler le coût total (l'électricité doit faire un grand détour via des centrales coûteuses)</a:t>
            </a:r>
            <a:r>
              <a:rPr lang="en-US" sz="1300" b="0" u="none" strike="noStrike">
                <a:solidFill>
                  <a:srgbClr val="FFFFFF"/>
                </a:solidFill>
                <a:effectLst/>
                <a:uFillTx/>
                <a:latin typeface="Calibri"/>
                <a:ea typeface="Calibri"/>
              </a:rPr>
              <a:t>.</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Les contraintes temporelles sont contraignantes : sans elles, le solveur ferait allumer/éteindre les centrales toutes les heures — irréaliste et trop optimiste</a:t>
            </a:r>
            <a:r>
              <a:rPr lang="en-US" sz="1300" b="0" u="none" strike="noStrike">
                <a:solidFill>
                  <a:srgbClr val="FFFFFF"/>
                </a:solidFill>
                <a:effectLst/>
                <a:uFillTx/>
                <a:latin typeface="Calibri"/>
                <a:ea typeface="Calibri"/>
              </a:rPr>
              <a:t>.</a:t>
            </a:r>
            <a:endParaRPr lang="en-US" sz="1300" b="0" u="none" strike="noStrike">
              <a:solidFill>
                <a:srgbClr val="000000"/>
              </a:solidFill>
              <a:effectLst/>
              <a:uFillTx/>
              <a:latin typeface="Arial"/>
            </a:endParaRPr>
          </a:p>
          <a:p>
            <a:r>
              <a:rPr lang="en-US" sz="1300" b="0" u="none" strike="noStrike">
                <a:solidFill>
                  <a:srgbClr val="FFFFFF"/>
                </a:solidFill>
                <a:effectLst/>
                <a:uFillTx/>
                <a:latin typeface="Calibri"/>
                <a:ea typeface="Calibri"/>
              </a:rPr>
              <a:t>Planifier avec incertitude coûte ~2.5% de plus, mais évite les pannes et pénuries</a:t>
            </a:r>
            <a:r>
              <a:rPr lang="en-US" sz="1300" b="0" u="none" strike="noStrike">
                <a:solidFill>
                  <a:srgbClr val="FFFFFF"/>
                </a:solidFill>
                <a:effectLst/>
                <a:uFillTx/>
                <a:latin typeface="Calibri"/>
                <a:ea typeface="Calibri"/>
              </a:rPr>
              <a:t>.</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9"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40"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341"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342" name=""/>
          <p:cNvSpPr/>
          <p:nvPr/>
        </p:nvSpPr>
        <p:spPr>
          <a:xfrm>
            <a:off x="457200" y="155520"/>
            <a:ext cx="2926440" cy="293040"/>
          </a:xfrm>
          <a:custGeom>
            <a:avLst/>
            <a:gdLst/>
            <a:ahLst/>
            <a:rect l="0" t="0" r="r" b="b"/>
            <a:pathLst>
              <a:path w="8129" h="814">
                <a:moveTo>
                  <a:pt x="0" y="0"/>
                </a:moveTo>
                <a:lnTo>
                  <a:pt x="8129" y="0"/>
                </a:lnTo>
                <a:lnTo>
                  <a:pt x="8129" y="814"/>
                </a:lnTo>
                <a:lnTo>
                  <a:pt x="0" y="81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43" name=""/>
          <p:cNvSpPr txBox="1"/>
          <p:nvPr/>
        </p:nvSpPr>
        <p:spPr>
          <a:xfrm>
            <a:off x="502920" y="155520"/>
            <a:ext cx="2834640" cy="292680"/>
          </a:xfrm>
          <a:prstGeom prst="rect">
            <a:avLst/>
          </a:prstGeom>
          <a:noFill/>
          <a:ln w="0">
            <a:noFill/>
          </a:ln>
        </p:spPr>
        <p:txBody>
          <a:bodyPr lIns="90000" tIns="45000" rIns="90000" bIns="45000" anchor="t">
            <a:spAutoFit/>
          </a:bodyPr>
          <a:p>
            <a:pPr algn="ctr" rtl="1"/>
            <a:r>
              <a:rPr lang="en-US" sz="1000" b="1" u="none" strike="noStrike">
                <a:solidFill>
                  <a:srgbClr val="FFFFFF"/>
                </a:solidFill>
                <a:effectLst/>
                <a:uFillTx/>
                <a:latin typeface="Calibri-Bold"/>
                <a:ea typeface="Calibri-Bold"/>
              </a:rPr>
              <a:t>06</a:t>
            </a:r>
            <a:r>
              <a:rPr lang="en-US" sz="1000" b="1" u="none" strike="noStrike">
                <a:solidFill>
                  <a:srgbClr val="FFFFFF"/>
                </a:solidFill>
                <a:effectLst/>
                <a:uFillTx/>
                <a:latin typeface="Calibri-Bold"/>
                <a:ea typeface="Calibri-Bold"/>
              </a:rPr>
              <a:t> · </a:t>
            </a:r>
            <a:r>
              <a:rPr lang="en-US" sz="1000" b="1" u="none" strike="noStrike">
                <a:solidFill>
                  <a:srgbClr val="FFFFFF"/>
                </a:solidFill>
                <a:effectLst/>
                <a:uFillTx/>
                <a:latin typeface="Calibri-Bold"/>
                <a:ea typeface="Calibri-Bold"/>
              </a:rPr>
              <a:t>LE CODE</a:t>
            </a:r>
            <a:endParaRPr lang="en-US" sz="1000" b="0" u="none" strike="noStrike">
              <a:solidFill>
                <a:srgbClr val="000000"/>
              </a:solidFill>
              <a:effectLst/>
              <a:uFillTx/>
              <a:latin typeface="Arial"/>
            </a:endParaRPr>
          </a:p>
        </p:txBody>
      </p:sp>
      <p:sp>
        <p:nvSpPr>
          <p:cNvPr id="344" name=""/>
          <p:cNvSpPr txBox="1"/>
          <p:nvPr/>
        </p:nvSpPr>
        <p:spPr>
          <a:xfrm>
            <a:off x="502920" y="530280"/>
            <a:ext cx="11612880" cy="594360"/>
          </a:xfrm>
          <a:prstGeom prst="rect">
            <a:avLst/>
          </a:prstGeom>
          <a:noFill/>
          <a:ln w="0">
            <a:noFill/>
          </a:ln>
        </p:spPr>
        <p:txBody>
          <a:bodyPr lIns="90000" tIns="45000" rIns="90000" bIns="45000" anchor="t">
            <a:spAutoFit/>
          </a:bodyPr>
          <a:p>
            <a:r>
              <a:rPr lang="en-US" sz="2400" b="1" u="none" strike="noStrike">
                <a:solidFill>
                  <a:srgbClr val="FFFFFF"/>
                </a:solidFill>
                <a:effectLst/>
                <a:uFillTx/>
                <a:latin typeface="Calibri-Bold"/>
                <a:ea typeface="Calibri-Bold"/>
              </a:rPr>
              <a:t>Comment c'est organisé : 5 fichiers, 1 notebook</a:t>
            </a:r>
            <a:endParaRPr lang="en-US" sz="2400" b="0" u="none" strike="noStrike">
              <a:solidFill>
                <a:srgbClr val="000000"/>
              </a:solidFill>
              <a:effectLst/>
              <a:uFillTx/>
              <a:latin typeface="Arial"/>
            </a:endParaRPr>
          </a:p>
        </p:txBody>
      </p:sp>
      <p:sp>
        <p:nvSpPr>
          <p:cNvPr id="345" name=""/>
          <p:cNvSpPr/>
          <p:nvPr/>
        </p:nvSpPr>
        <p:spPr>
          <a:xfrm>
            <a:off x="365760" y="1207080"/>
            <a:ext cx="5669640" cy="896400"/>
          </a:xfrm>
          <a:custGeom>
            <a:avLst/>
            <a:gdLst/>
            <a:ahLst/>
            <a:rect l="0" t="0" r="r" b="b"/>
            <a:pathLst>
              <a:path w="15749" h="2490">
                <a:moveTo>
                  <a:pt x="0" y="0"/>
                </a:moveTo>
                <a:lnTo>
                  <a:pt x="15749" y="0"/>
                </a:lnTo>
                <a:lnTo>
                  <a:pt x="15749" y="2490"/>
                </a:lnTo>
                <a:lnTo>
                  <a:pt x="0" y="2490"/>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46" name=""/>
          <p:cNvSpPr/>
          <p:nvPr/>
        </p:nvSpPr>
        <p:spPr>
          <a:xfrm>
            <a:off x="365760" y="1207080"/>
            <a:ext cx="55080" cy="896400"/>
          </a:xfrm>
          <a:custGeom>
            <a:avLst/>
            <a:gdLst/>
            <a:ahLst/>
            <a:rect l="0" t="0" r="r" b="b"/>
            <a:pathLst>
              <a:path w="153" h="2490">
                <a:moveTo>
                  <a:pt x="0" y="0"/>
                </a:moveTo>
                <a:lnTo>
                  <a:pt x="153" y="0"/>
                </a:lnTo>
                <a:lnTo>
                  <a:pt x="153" y="2490"/>
                </a:lnTo>
                <a:lnTo>
                  <a:pt x="0" y="2490"/>
                </a:lnTo>
                <a:lnTo>
                  <a:pt x="0" y="0"/>
                </a:lnTo>
                <a:close/>
              </a:path>
            </a:pathLst>
          </a:custGeom>
          <a:solidFill>
            <a:srgbClr val="2DCC7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47" name=""/>
          <p:cNvSpPr/>
          <p:nvPr/>
        </p:nvSpPr>
        <p:spPr>
          <a:xfrm>
            <a:off x="475560" y="1280160"/>
            <a:ext cx="2103480" cy="293040"/>
          </a:xfrm>
          <a:custGeom>
            <a:avLst/>
            <a:gdLst/>
            <a:ahLst/>
            <a:rect l="0" t="0" r="r" b="b"/>
            <a:pathLst>
              <a:path w="5843" h="814">
                <a:moveTo>
                  <a:pt x="0" y="0"/>
                </a:moveTo>
                <a:lnTo>
                  <a:pt x="5843" y="0"/>
                </a:lnTo>
                <a:lnTo>
                  <a:pt x="5843" y="814"/>
                </a:lnTo>
                <a:lnTo>
                  <a:pt x="0" y="814"/>
                </a:lnTo>
                <a:lnTo>
                  <a:pt x="0" y="0"/>
                </a:lnTo>
                <a:close/>
              </a:path>
            </a:pathLst>
          </a:custGeom>
          <a:solidFill>
            <a:srgbClr val="2DCC7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48" name=""/>
          <p:cNvSpPr txBox="1"/>
          <p:nvPr/>
        </p:nvSpPr>
        <p:spPr>
          <a:xfrm>
            <a:off x="576000" y="1280160"/>
            <a:ext cx="1920240" cy="292680"/>
          </a:xfrm>
          <a:prstGeom prst="rect">
            <a:avLst/>
          </a:prstGeom>
          <a:noFill/>
          <a:ln w="0">
            <a:noFill/>
          </a:ln>
        </p:spPr>
        <p:txBody>
          <a:bodyPr lIns="90000" tIns="45000" rIns="90000" bIns="45000" anchor="t">
            <a:spAutoFit/>
          </a:bodyPr>
          <a:p>
            <a:r>
              <a:rPr lang="en-US" sz="1200" b="1" u="none" strike="noStrike">
                <a:solidFill>
                  <a:srgbClr val="19192D"/>
                </a:solidFill>
                <a:effectLst/>
                <a:uFillTx/>
                <a:latin typeface="Calibri-Bold"/>
                <a:ea typeface="Calibri-Bold"/>
              </a:rPr>
              <a:t>instance.py</a:t>
            </a:r>
            <a:endParaRPr lang="en-US" sz="1200" b="0" u="none" strike="noStrike">
              <a:solidFill>
                <a:srgbClr val="000000"/>
              </a:solidFill>
              <a:effectLst/>
              <a:uFillTx/>
              <a:latin typeface="Arial"/>
            </a:endParaRPr>
          </a:p>
        </p:txBody>
      </p:sp>
      <p:sp>
        <p:nvSpPr>
          <p:cNvPr id="349" name=""/>
          <p:cNvSpPr txBox="1"/>
          <p:nvPr/>
        </p:nvSpPr>
        <p:spPr>
          <a:xfrm>
            <a:off x="2743200" y="1280160"/>
            <a:ext cx="3108960" cy="292680"/>
          </a:xfrm>
          <a:prstGeom prst="rect">
            <a:avLst/>
          </a:prstGeom>
          <a:noFill/>
          <a:ln w="0">
            <a:noFill/>
          </a:ln>
        </p:spPr>
        <p:txBody>
          <a:bodyPr lIns="90000" tIns="45000" rIns="90000" bIns="45000" anchor="t">
            <a:spAutoFit/>
          </a:bodyPr>
          <a:p>
            <a:r>
              <a:rPr lang="en-US" sz="1200" b="1" u="none" strike="noStrike">
                <a:solidFill>
                  <a:srgbClr val="2DCC70"/>
                </a:solidFill>
                <a:effectLst/>
                <a:uFillTx/>
                <a:latin typeface="Calibri-Bold"/>
                <a:ea typeface="Calibri-Bold"/>
              </a:rPr>
              <a:t>Le modèle de données</a:t>
            </a:r>
            <a:endParaRPr lang="en-US" sz="1200" b="0" u="none" strike="noStrike">
              <a:solidFill>
                <a:srgbClr val="000000"/>
              </a:solidFill>
              <a:effectLst/>
              <a:uFillTx/>
              <a:latin typeface="Arial"/>
            </a:endParaRPr>
          </a:p>
        </p:txBody>
      </p:sp>
      <p:sp>
        <p:nvSpPr>
          <p:cNvPr id="350" name=""/>
          <p:cNvSpPr txBox="1"/>
          <p:nvPr/>
        </p:nvSpPr>
        <p:spPr>
          <a:xfrm>
            <a:off x="576000" y="1609200"/>
            <a:ext cx="5257800" cy="420480"/>
          </a:xfrm>
          <a:prstGeom prst="rect">
            <a:avLst/>
          </a:prstGeom>
          <a:noFill/>
          <a:ln w="0">
            <a:noFill/>
          </a:ln>
        </p:spPr>
        <p:txBody>
          <a:bodyPr lIns="90000" tIns="45000" rIns="90000" bIns="45000" anchor="t">
            <a:spAutoFit/>
          </a:bodyPr>
          <a:p>
            <a:r>
              <a:rPr lang="en-US" sz="1100" b="0" u="none" strike="noStrike">
                <a:solidFill>
                  <a:srgbClr val="CCCCCC"/>
                </a:solidFill>
                <a:effectLst/>
                <a:uFillTx/>
                <a:latin typeface="Calibri"/>
                <a:ea typeface="Calibri"/>
              </a:rPr>
              <a:t>Définit Bus, Ligne, Générateur, Réseau. C'est le 'plan' que tous les solveurs utilisent</a:t>
            </a:r>
            <a:r>
              <a:rPr lang="en-US" sz="1100" b="0" u="none" strike="noStrike">
                <a:solidFill>
                  <a:srgbClr val="CCCCCC"/>
                </a:solidFill>
                <a:effectLst/>
                <a:uFillTx/>
                <a:latin typeface="Calibri"/>
                <a:ea typeface="Calibri"/>
              </a:rPr>
              <a:t>.</a:t>
            </a:r>
            <a:endParaRPr lang="en-US" sz="1100" b="0" u="none" strike="noStrike">
              <a:solidFill>
                <a:srgbClr val="000000"/>
              </a:solidFill>
              <a:effectLst/>
              <a:uFillTx/>
              <a:latin typeface="Arial"/>
            </a:endParaRPr>
          </a:p>
        </p:txBody>
      </p:sp>
      <p:sp>
        <p:nvSpPr>
          <p:cNvPr id="351" name=""/>
          <p:cNvSpPr/>
          <p:nvPr/>
        </p:nvSpPr>
        <p:spPr>
          <a:xfrm>
            <a:off x="365760" y="2212920"/>
            <a:ext cx="5669640" cy="896400"/>
          </a:xfrm>
          <a:custGeom>
            <a:avLst/>
            <a:gdLst/>
            <a:ahLst/>
            <a:rect l="0" t="0" r="r" b="b"/>
            <a:pathLst>
              <a:path w="15749" h="2490">
                <a:moveTo>
                  <a:pt x="0" y="0"/>
                </a:moveTo>
                <a:lnTo>
                  <a:pt x="15749" y="0"/>
                </a:lnTo>
                <a:lnTo>
                  <a:pt x="15749" y="2490"/>
                </a:lnTo>
                <a:lnTo>
                  <a:pt x="0" y="2490"/>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52" name=""/>
          <p:cNvSpPr/>
          <p:nvPr/>
        </p:nvSpPr>
        <p:spPr>
          <a:xfrm>
            <a:off x="365760" y="2212920"/>
            <a:ext cx="55080" cy="896400"/>
          </a:xfrm>
          <a:custGeom>
            <a:avLst/>
            <a:gdLst/>
            <a:ahLst/>
            <a:rect l="0" t="0" r="r" b="b"/>
            <a:pathLst>
              <a:path w="153" h="2490">
                <a:moveTo>
                  <a:pt x="0" y="0"/>
                </a:moveTo>
                <a:lnTo>
                  <a:pt x="153" y="0"/>
                </a:lnTo>
                <a:lnTo>
                  <a:pt x="153" y="2490"/>
                </a:lnTo>
                <a:lnTo>
                  <a:pt x="0" y="2490"/>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53" name=""/>
          <p:cNvSpPr/>
          <p:nvPr/>
        </p:nvSpPr>
        <p:spPr>
          <a:xfrm>
            <a:off x="475560" y="2286000"/>
            <a:ext cx="2103480" cy="293040"/>
          </a:xfrm>
          <a:custGeom>
            <a:avLst/>
            <a:gdLst/>
            <a:ahLst/>
            <a:rect l="0" t="0" r="r" b="b"/>
            <a:pathLst>
              <a:path w="5843" h="814">
                <a:moveTo>
                  <a:pt x="0" y="0"/>
                </a:moveTo>
                <a:lnTo>
                  <a:pt x="5843" y="0"/>
                </a:lnTo>
                <a:lnTo>
                  <a:pt x="5843" y="814"/>
                </a:lnTo>
                <a:lnTo>
                  <a:pt x="0" y="814"/>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54" name=""/>
          <p:cNvSpPr txBox="1"/>
          <p:nvPr/>
        </p:nvSpPr>
        <p:spPr>
          <a:xfrm>
            <a:off x="576000" y="2286000"/>
            <a:ext cx="1920240" cy="292680"/>
          </a:xfrm>
          <a:prstGeom prst="rect">
            <a:avLst/>
          </a:prstGeom>
          <a:noFill/>
          <a:ln w="0">
            <a:noFill/>
          </a:ln>
        </p:spPr>
        <p:txBody>
          <a:bodyPr lIns="90000" tIns="45000" rIns="90000" bIns="45000" anchor="t">
            <a:spAutoFit/>
          </a:bodyPr>
          <a:p>
            <a:r>
              <a:rPr lang="en-US" sz="1200" b="1" u="none" strike="noStrike">
                <a:solidFill>
                  <a:srgbClr val="19192D"/>
                </a:solidFill>
                <a:effectLst/>
                <a:uFillTx/>
                <a:latin typeface="Calibri-Bold"/>
                <a:ea typeface="Calibri-Bold"/>
              </a:rPr>
              <a:t>dispatch_solver.py</a:t>
            </a:r>
            <a:endParaRPr lang="en-US" sz="1200" b="0" u="none" strike="noStrike">
              <a:solidFill>
                <a:srgbClr val="000000"/>
              </a:solidFill>
              <a:effectLst/>
              <a:uFillTx/>
              <a:latin typeface="Arial"/>
            </a:endParaRPr>
          </a:p>
        </p:txBody>
      </p:sp>
      <p:sp>
        <p:nvSpPr>
          <p:cNvPr id="355" name=""/>
          <p:cNvSpPr txBox="1"/>
          <p:nvPr/>
        </p:nvSpPr>
        <p:spPr>
          <a:xfrm>
            <a:off x="2743200" y="2286000"/>
            <a:ext cx="3108960" cy="292680"/>
          </a:xfrm>
          <a:prstGeom prst="rect">
            <a:avLst/>
          </a:prstGeom>
          <a:noFill/>
          <a:ln w="0">
            <a:noFill/>
          </a:ln>
        </p:spPr>
        <p:txBody>
          <a:bodyPr lIns="90000" tIns="45000" rIns="90000" bIns="45000" anchor="t">
            <a:spAutoFit/>
          </a:bodyPr>
          <a:p>
            <a:r>
              <a:rPr lang="en-US" sz="1200" b="1" u="none" strike="noStrike">
                <a:solidFill>
                  <a:srgbClr val="00B4D8"/>
                </a:solidFill>
                <a:effectLst/>
                <a:uFillTx/>
                <a:latin typeface="Calibri-Bold"/>
                <a:ea typeface="Calibri-Bold"/>
              </a:rPr>
              <a:t>Solveur ED</a:t>
            </a:r>
            <a:endParaRPr lang="en-US" sz="1200" b="0" u="none" strike="noStrike">
              <a:solidFill>
                <a:srgbClr val="000000"/>
              </a:solidFill>
              <a:effectLst/>
              <a:uFillTx/>
              <a:latin typeface="Arial"/>
            </a:endParaRPr>
          </a:p>
        </p:txBody>
      </p:sp>
      <p:sp>
        <p:nvSpPr>
          <p:cNvPr id="356" name=""/>
          <p:cNvSpPr txBox="1"/>
          <p:nvPr/>
        </p:nvSpPr>
        <p:spPr>
          <a:xfrm>
            <a:off x="576000" y="2615040"/>
            <a:ext cx="5257800" cy="420480"/>
          </a:xfrm>
          <a:prstGeom prst="rect">
            <a:avLst/>
          </a:prstGeom>
          <a:noFill/>
          <a:ln w="0">
            <a:noFill/>
          </a:ln>
        </p:spPr>
        <p:txBody>
          <a:bodyPr lIns="90000" tIns="45000" rIns="90000" bIns="45000" anchor="t">
            <a:spAutoFit/>
          </a:bodyPr>
          <a:p>
            <a:r>
              <a:rPr lang="en-US" sz="1100" b="0" u="none" strike="noStrike">
                <a:solidFill>
                  <a:srgbClr val="CCCCCC"/>
                </a:solidFill>
                <a:effectLst/>
                <a:uFillTx/>
                <a:latin typeface="Calibri"/>
                <a:ea typeface="Calibri"/>
              </a:rPr>
              <a:t>Construit le modèle CP-SAT pour 1 instant. Variables P[g], flow[l]. Appelle OR-Tools</a:t>
            </a:r>
            <a:r>
              <a:rPr lang="en-US" sz="1100" b="0" u="none" strike="noStrike">
                <a:solidFill>
                  <a:srgbClr val="CCCCCC"/>
                </a:solidFill>
                <a:effectLst/>
                <a:uFillTx/>
                <a:latin typeface="Calibri"/>
                <a:ea typeface="Calibri"/>
              </a:rPr>
              <a:t>.</a:t>
            </a:r>
            <a:endParaRPr lang="en-US" sz="1100" b="0" u="none" strike="noStrike">
              <a:solidFill>
                <a:srgbClr val="000000"/>
              </a:solidFill>
              <a:effectLst/>
              <a:uFillTx/>
              <a:latin typeface="Arial"/>
            </a:endParaRPr>
          </a:p>
        </p:txBody>
      </p:sp>
      <p:sp>
        <p:nvSpPr>
          <p:cNvPr id="357" name=""/>
          <p:cNvSpPr/>
          <p:nvPr/>
        </p:nvSpPr>
        <p:spPr>
          <a:xfrm>
            <a:off x="365760" y="3218760"/>
            <a:ext cx="5669640" cy="896400"/>
          </a:xfrm>
          <a:custGeom>
            <a:avLst/>
            <a:gdLst/>
            <a:ahLst/>
            <a:rect l="0" t="0" r="r" b="b"/>
            <a:pathLst>
              <a:path w="15749" h="2490">
                <a:moveTo>
                  <a:pt x="0" y="0"/>
                </a:moveTo>
                <a:lnTo>
                  <a:pt x="15749" y="0"/>
                </a:lnTo>
                <a:lnTo>
                  <a:pt x="15749" y="2490"/>
                </a:lnTo>
                <a:lnTo>
                  <a:pt x="0" y="2490"/>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58" name=""/>
          <p:cNvSpPr/>
          <p:nvPr/>
        </p:nvSpPr>
        <p:spPr>
          <a:xfrm>
            <a:off x="365760" y="3218760"/>
            <a:ext cx="55080" cy="896400"/>
          </a:xfrm>
          <a:custGeom>
            <a:avLst/>
            <a:gdLst/>
            <a:ahLst/>
            <a:rect l="0" t="0" r="r" b="b"/>
            <a:pathLst>
              <a:path w="153" h="2490">
                <a:moveTo>
                  <a:pt x="0" y="0"/>
                </a:moveTo>
                <a:lnTo>
                  <a:pt x="153" y="0"/>
                </a:lnTo>
                <a:lnTo>
                  <a:pt x="153" y="2490"/>
                </a:lnTo>
                <a:lnTo>
                  <a:pt x="0" y="2490"/>
                </a:lnTo>
                <a:lnTo>
                  <a:pt x="0" y="0"/>
                </a:lnTo>
                <a:close/>
              </a:path>
            </a:pathLst>
          </a:custGeom>
          <a:solidFill>
            <a:srgbClr val="F39C11"/>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59" name=""/>
          <p:cNvSpPr/>
          <p:nvPr/>
        </p:nvSpPr>
        <p:spPr>
          <a:xfrm>
            <a:off x="475560" y="3291840"/>
            <a:ext cx="2103480" cy="293040"/>
          </a:xfrm>
          <a:custGeom>
            <a:avLst/>
            <a:gdLst/>
            <a:ahLst/>
            <a:rect l="0" t="0" r="r" b="b"/>
            <a:pathLst>
              <a:path w="5843" h="814">
                <a:moveTo>
                  <a:pt x="0" y="0"/>
                </a:moveTo>
                <a:lnTo>
                  <a:pt x="5843" y="0"/>
                </a:lnTo>
                <a:lnTo>
                  <a:pt x="5843" y="814"/>
                </a:lnTo>
                <a:lnTo>
                  <a:pt x="0" y="814"/>
                </a:lnTo>
                <a:lnTo>
                  <a:pt x="0" y="0"/>
                </a:lnTo>
                <a:close/>
              </a:path>
            </a:pathLst>
          </a:custGeom>
          <a:solidFill>
            <a:srgbClr val="F39C11"/>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60" name=""/>
          <p:cNvSpPr txBox="1"/>
          <p:nvPr/>
        </p:nvSpPr>
        <p:spPr>
          <a:xfrm>
            <a:off x="576000" y="3291840"/>
            <a:ext cx="1920240" cy="292680"/>
          </a:xfrm>
          <a:prstGeom prst="rect">
            <a:avLst/>
          </a:prstGeom>
          <a:noFill/>
          <a:ln w="0">
            <a:noFill/>
          </a:ln>
        </p:spPr>
        <p:txBody>
          <a:bodyPr lIns="90000" tIns="45000" rIns="90000" bIns="45000" anchor="t">
            <a:spAutoFit/>
          </a:bodyPr>
          <a:p>
            <a:r>
              <a:rPr lang="en-US" sz="1200" b="1" u="none" strike="noStrike">
                <a:solidFill>
                  <a:srgbClr val="19192D"/>
                </a:solidFill>
                <a:effectLst/>
                <a:uFillTx/>
                <a:latin typeface="Calibri-Bold"/>
                <a:ea typeface="Calibri-Bold"/>
              </a:rPr>
              <a:t>unit_commitment.py</a:t>
            </a:r>
            <a:endParaRPr lang="en-US" sz="1200" b="0" u="none" strike="noStrike">
              <a:solidFill>
                <a:srgbClr val="000000"/>
              </a:solidFill>
              <a:effectLst/>
              <a:uFillTx/>
              <a:latin typeface="Arial"/>
            </a:endParaRPr>
          </a:p>
        </p:txBody>
      </p:sp>
      <p:sp>
        <p:nvSpPr>
          <p:cNvPr id="361" name=""/>
          <p:cNvSpPr txBox="1"/>
          <p:nvPr/>
        </p:nvSpPr>
        <p:spPr>
          <a:xfrm>
            <a:off x="2743200" y="3291840"/>
            <a:ext cx="3108960" cy="292680"/>
          </a:xfrm>
          <a:prstGeom prst="rect">
            <a:avLst/>
          </a:prstGeom>
          <a:noFill/>
          <a:ln w="0">
            <a:noFill/>
          </a:ln>
        </p:spPr>
        <p:txBody>
          <a:bodyPr lIns="90000" tIns="45000" rIns="90000" bIns="45000" anchor="t">
            <a:spAutoFit/>
          </a:bodyPr>
          <a:p>
            <a:r>
              <a:rPr lang="en-US" sz="1200" b="1" u="none" strike="noStrike">
                <a:solidFill>
                  <a:srgbClr val="F39C11"/>
                </a:solidFill>
                <a:effectLst/>
                <a:uFillTx/>
                <a:latin typeface="Calibri-Bold"/>
                <a:ea typeface="Calibri-Bold"/>
              </a:rPr>
              <a:t>Solveur UC</a:t>
            </a:r>
            <a:endParaRPr lang="en-US" sz="1200" b="0" u="none" strike="noStrike">
              <a:solidFill>
                <a:srgbClr val="000000"/>
              </a:solidFill>
              <a:effectLst/>
              <a:uFillTx/>
              <a:latin typeface="Arial"/>
            </a:endParaRPr>
          </a:p>
        </p:txBody>
      </p:sp>
      <p:sp>
        <p:nvSpPr>
          <p:cNvPr id="362" name=""/>
          <p:cNvSpPr txBox="1"/>
          <p:nvPr/>
        </p:nvSpPr>
        <p:spPr>
          <a:xfrm>
            <a:off x="576000" y="3620880"/>
            <a:ext cx="5257800" cy="420480"/>
          </a:xfrm>
          <a:prstGeom prst="rect">
            <a:avLst/>
          </a:prstGeom>
          <a:noFill/>
          <a:ln w="0">
            <a:noFill/>
          </a:ln>
        </p:spPr>
        <p:txBody>
          <a:bodyPr lIns="90000" tIns="45000" rIns="90000" bIns="45000" anchor="t">
            <a:spAutoFit/>
          </a:bodyPr>
          <a:p>
            <a:r>
              <a:rPr lang="en-US" sz="1100" b="0" u="none" strike="noStrike">
                <a:solidFill>
                  <a:srgbClr val="CCCCCC"/>
                </a:solidFill>
                <a:effectLst/>
                <a:uFillTx/>
                <a:latin typeface="Calibri"/>
                <a:ea typeface="Calibri"/>
              </a:rPr>
              <a:t>Étend ED sur 24h. Ajoute u[g,t], su, sd, min up/down, rampes</a:t>
            </a:r>
            <a:r>
              <a:rPr lang="en-US" sz="1100" b="0" u="none" strike="noStrike">
                <a:solidFill>
                  <a:srgbClr val="CCCCCC"/>
                </a:solidFill>
                <a:effectLst/>
                <a:uFillTx/>
                <a:latin typeface="Calibri"/>
                <a:ea typeface="Calibri"/>
              </a:rPr>
              <a:t>.</a:t>
            </a:r>
            <a:endParaRPr lang="en-US" sz="1100" b="0" u="none" strike="noStrike">
              <a:solidFill>
                <a:srgbClr val="000000"/>
              </a:solidFill>
              <a:effectLst/>
              <a:uFillTx/>
              <a:latin typeface="Arial"/>
            </a:endParaRPr>
          </a:p>
        </p:txBody>
      </p:sp>
      <p:sp>
        <p:nvSpPr>
          <p:cNvPr id="363" name=""/>
          <p:cNvSpPr/>
          <p:nvPr/>
        </p:nvSpPr>
        <p:spPr>
          <a:xfrm>
            <a:off x="365760" y="4224600"/>
            <a:ext cx="5669640" cy="896400"/>
          </a:xfrm>
          <a:custGeom>
            <a:avLst/>
            <a:gdLst/>
            <a:ahLst/>
            <a:rect l="0" t="0" r="r" b="b"/>
            <a:pathLst>
              <a:path w="15749" h="2490">
                <a:moveTo>
                  <a:pt x="0" y="0"/>
                </a:moveTo>
                <a:lnTo>
                  <a:pt x="15749" y="0"/>
                </a:lnTo>
                <a:lnTo>
                  <a:pt x="15749" y="2490"/>
                </a:lnTo>
                <a:lnTo>
                  <a:pt x="0" y="2490"/>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64" name=""/>
          <p:cNvSpPr/>
          <p:nvPr/>
        </p:nvSpPr>
        <p:spPr>
          <a:xfrm>
            <a:off x="365760" y="4224600"/>
            <a:ext cx="55080" cy="896400"/>
          </a:xfrm>
          <a:custGeom>
            <a:avLst/>
            <a:gdLst/>
            <a:ahLst/>
            <a:rect l="0" t="0" r="r" b="b"/>
            <a:pathLst>
              <a:path w="153" h="2490">
                <a:moveTo>
                  <a:pt x="0" y="0"/>
                </a:moveTo>
                <a:lnTo>
                  <a:pt x="153" y="0"/>
                </a:lnTo>
                <a:lnTo>
                  <a:pt x="153" y="2490"/>
                </a:lnTo>
                <a:lnTo>
                  <a:pt x="0" y="2490"/>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65" name=""/>
          <p:cNvSpPr/>
          <p:nvPr/>
        </p:nvSpPr>
        <p:spPr>
          <a:xfrm>
            <a:off x="475560" y="4297680"/>
            <a:ext cx="2103480" cy="293040"/>
          </a:xfrm>
          <a:custGeom>
            <a:avLst/>
            <a:gdLst/>
            <a:ahLst/>
            <a:rect l="0" t="0" r="r" b="b"/>
            <a:pathLst>
              <a:path w="5843" h="814">
                <a:moveTo>
                  <a:pt x="0" y="0"/>
                </a:moveTo>
                <a:lnTo>
                  <a:pt x="5843" y="0"/>
                </a:lnTo>
                <a:lnTo>
                  <a:pt x="5843" y="814"/>
                </a:lnTo>
                <a:lnTo>
                  <a:pt x="0" y="81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66" name=""/>
          <p:cNvSpPr txBox="1"/>
          <p:nvPr/>
        </p:nvSpPr>
        <p:spPr>
          <a:xfrm>
            <a:off x="576000" y="4297680"/>
            <a:ext cx="1920240" cy="292680"/>
          </a:xfrm>
          <a:prstGeom prst="rect">
            <a:avLst/>
          </a:prstGeom>
          <a:noFill/>
          <a:ln w="0">
            <a:noFill/>
          </a:ln>
        </p:spPr>
        <p:txBody>
          <a:bodyPr lIns="90000" tIns="45000" rIns="90000" bIns="45000" anchor="t">
            <a:spAutoFit/>
          </a:bodyPr>
          <a:p>
            <a:r>
              <a:rPr lang="en-US" sz="1200" b="1" u="none" strike="noStrike">
                <a:solidFill>
                  <a:srgbClr val="19192D"/>
                </a:solidFill>
                <a:effectLst/>
                <a:uFillTx/>
                <a:latin typeface="Calibri-Bold"/>
                <a:ea typeface="Calibri-Bold"/>
              </a:rPr>
              <a:t>stochastic.py</a:t>
            </a:r>
            <a:endParaRPr lang="en-US" sz="1200" b="0" u="none" strike="noStrike">
              <a:solidFill>
                <a:srgbClr val="000000"/>
              </a:solidFill>
              <a:effectLst/>
              <a:uFillTx/>
              <a:latin typeface="Arial"/>
            </a:endParaRPr>
          </a:p>
        </p:txBody>
      </p:sp>
      <p:sp>
        <p:nvSpPr>
          <p:cNvPr id="367" name=""/>
          <p:cNvSpPr txBox="1"/>
          <p:nvPr/>
        </p:nvSpPr>
        <p:spPr>
          <a:xfrm>
            <a:off x="2743200" y="4297680"/>
            <a:ext cx="3108960" cy="292680"/>
          </a:xfrm>
          <a:prstGeom prst="rect">
            <a:avLst/>
          </a:prstGeom>
          <a:noFill/>
          <a:ln w="0">
            <a:noFill/>
          </a:ln>
        </p:spPr>
        <p:txBody>
          <a:bodyPr lIns="90000" tIns="45000" rIns="90000" bIns="45000" anchor="t">
            <a:spAutoFit/>
          </a:bodyPr>
          <a:p>
            <a:r>
              <a:rPr lang="en-US" sz="1200" b="1" u="none" strike="noStrike">
                <a:solidFill>
                  <a:srgbClr val="E86916"/>
                </a:solidFill>
                <a:effectLst/>
                <a:uFillTx/>
                <a:latin typeface="Calibri-Bold"/>
                <a:ea typeface="Calibri-Bold"/>
              </a:rPr>
              <a:t>Solveur SUC</a:t>
            </a:r>
            <a:endParaRPr lang="en-US" sz="1200" b="0" u="none" strike="noStrike">
              <a:solidFill>
                <a:srgbClr val="000000"/>
              </a:solidFill>
              <a:effectLst/>
              <a:uFillTx/>
              <a:latin typeface="Arial"/>
            </a:endParaRPr>
          </a:p>
        </p:txBody>
      </p:sp>
      <p:sp>
        <p:nvSpPr>
          <p:cNvPr id="368" name=""/>
          <p:cNvSpPr txBox="1"/>
          <p:nvPr/>
        </p:nvSpPr>
        <p:spPr>
          <a:xfrm>
            <a:off x="576000" y="4626720"/>
            <a:ext cx="5257800" cy="420480"/>
          </a:xfrm>
          <a:prstGeom prst="rect">
            <a:avLst/>
          </a:prstGeom>
          <a:noFill/>
          <a:ln w="0">
            <a:noFill/>
          </a:ln>
        </p:spPr>
        <p:txBody>
          <a:bodyPr lIns="90000" tIns="45000" rIns="90000" bIns="45000" anchor="t">
            <a:spAutoFit/>
          </a:bodyPr>
          <a:p>
            <a:r>
              <a:rPr lang="en-US" sz="1100" b="0" u="none" strike="noStrike">
                <a:solidFill>
                  <a:srgbClr val="CCCCCC"/>
                </a:solidFill>
                <a:effectLst/>
                <a:uFillTx/>
                <a:latin typeface="Calibri"/>
                <a:ea typeface="Calibri"/>
              </a:rPr>
              <a:t>Étend UC avec les scénarios. Variables par scénario. Objectif = coût espéré</a:t>
            </a:r>
            <a:r>
              <a:rPr lang="en-US" sz="1100" b="0" u="none" strike="noStrike">
                <a:solidFill>
                  <a:srgbClr val="CCCCCC"/>
                </a:solidFill>
                <a:effectLst/>
                <a:uFillTx/>
                <a:latin typeface="Calibri"/>
                <a:ea typeface="Calibri"/>
              </a:rPr>
              <a:t>.</a:t>
            </a:r>
            <a:endParaRPr lang="en-US" sz="1100" b="0" u="none" strike="noStrike">
              <a:solidFill>
                <a:srgbClr val="000000"/>
              </a:solidFill>
              <a:effectLst/>
              <a:uFillTx/>
              <a:latin typeface="Arial"/>
            </a:endParaRPr>
          </a:p>
        </p:txBody>
      </p:sp>
      <p:sp>
        <p:nvSpPr>
          <p:cNvPr id="369" name=""/>
          <p:cNvSpPr/>
          <p:nvPr/>
        </p:nvSpPr>
        <p:spPr>
          <a:xfrm>
            <a:off x="365760" y="5230440"/>
            <a:ext cx="5669640" cy="896400"/>
          </a:xfrm>
          <a:custGeom>
            <a:avLst/>
            <a:gdLst/>
            <a:ahLst/>
            <a:rect l="0" t="0" r="r" b="b"/>
            <a:pathLst>
              <a:path w="15749" h="2490">
                <a:moveTo>
                  <a:pt x="0" y="0"/>
                </a:moveTo>
                <a:lnTo>
                  <a:pt x="15749" y="0"/>
                </a:lnTo>
                <a:lnTo>
                  <a:pt x="15749" y="2490"/>
                </a:lnTo>
                <a:lnTo>
                  <a:pt x="0" y="2490"/>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70" name=""/>
          <p:cNvSpPr/>
          <p:nvPr/>
        </p:nvSpPr>
        <p:spPr>
          <a:xfrm>
            <a:off x="365760" y="5230440"/>
            <a:ext cx="55080" cy="896400"/>
          </a:xfrm>
          <a:custGeom>
            <a:avLst/>
            <a:gdLst/>
            <a:ahLst/>
            <a:rect l="0" t="0" r="r" b="b"/>
            <a:pathLst>
              <a:path w="153" h="2490">
                <a:moveTo>
                  <a:pt x="0" y="0"/>
                </a:moveTo>
                <a:lnTo>
                  <a:pt x="153" y="0"/>
                </a:lnTo>
                <a:lnTo>
                  <a:pt x="153" y="2490"/>
                </a:lnTo>
                <a:lnTo>
                  <a:pt x="0" y="2490"/>
                </a:lnTo>
                <a:lnTo>
                  <a:pt x="0" y="0"/>
                </a:lnTo>
                <a:close/>
              </a:path>
            </a:pathLst>
          </a:custGeom>
          <a:solidFill>
            <a:srgbClr val="8E43A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71" name=""/>
          <p:cNvSpPr/>
          <p:nvPr/>
        </p:nvSpPr>
        <p:spPr>
          <a:xfrm>
            <a:off x="475560" y="5303520"/>
            <a:ext cx="2103480" cy="293040"/>
          </a:xfrm>
          <a:custGeom>
            <a:avLst/>
            <a:gdLst/>
            <a:ahLst/>
            <a:rect l="0" t="0" r="r" b="b"/>
            <a:pathLst>
              <a:path w="5843" h="814">
                <a:moveTo>
                  <a:pt x="0" y="0"/>
                </a:moveTo>
                <a:lnTo>
                  <a:pt x="5843" y="0"/>
                </a:lnTo>
                <a:lnTo>
                  <a:pt x="5843" y="814"/>
                </a:lnTo>
                <a:lnTo>
                  <a:pt x="0" y="814"/>
                </a:lnTo>
                <a:lnTo>
                  <a:pt x="0" y="0"/>
                </a:lnTo>
                <a:close/>
              </a:path>
            </a:pathLst>
          </a:custGeom>
          <a:solidFill>
            <a:srgbClr val="8E43A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72" name=""/>
          <p:cNvSpPr txBox="1"/>
          <p:nvPr/>
        </p:nvSpPr>
        <p:spPr>
          <a:xfrm>
            <a:off x="576000" y="5303520"/>
            <a:ext cx="1920240" cy="292680"/>
          </a:xfrm>
          <a:prstGeom prst="rect">
            <a:avLst/>
          </a:prstGeom>
          <a:noFill/>
          <a:ln w="0">
            <a:noFill/>
          </a:ln>
        </p:spPr>
        <p:txBody>
          <a:bodyPr lIns="90000" tIns="45000" rIns="90000" bIns="45000" anchor="t">
            <a:spAutoFit/>
          </a:bodyPr>
          <a:p>
            <a:r>
              <a:rPr lang="en-US" sz="1200" b="1" u="none" strike="noStrike">
                <a:solidFill>
                  <a:srgbClr val="19192D"/>
                </a:solidFill>
                <a:effectLst/>
                <a:uFillTx/>
                <a:latin typeface="Calibri-Bold"/>
                <a:ea typeface="Calibri-Bold"/>
              </a:rPr>
              <a:t>scenarios.py</a:t>
            </a:r>
            <a:endParaRPr lang="en-US" sz="1200" b="0" u="none" strike="noStrike">
              <a:solidFill>
                <a:srgbClr val="000000"/>
              </a:solidFill>
              <a:effectLst/>
              <a:uFillTx/>
              <a:latin typeface="Arial"/>
            </a:endParaRPr>
          </a:p>
        </p:txBody>
      </p:sp>
      <p:sp>
        <p:nvSpPr>
          <p:cNvPr id="373" name=""/>
          <p:cNvSpPr txBox="1"/>
          <p:nvPr/>
        </p:nvSpPr>
        <p:spPr>
          <a:xfrm>
            <a:off x="2743200" y="5303520"/>
            <a:ext cx="3108960" cy="292680"/>
          </a:xfrm>
          <a:prstGeom prst="rect">
            <a:avLst/>
          </a:prstGeom>
          <a:noFill/>
          <a:ln w="0">
            <a:noFill/>
          </a:ln>
        </p:spPr>
        <p:txBody>
          <a:bodyPr lIns="90000" tIns="45000" rIns="90000" bIns="45000" anchor="t">
            <a:spAutoFit/>
          </a:bodyPr>
          <a:p>
            <a:r>
              <a:rPr lang="en-US" sz="1200" b="1" u="none" strike="noStrike">
                <a:solidFill>
                  <a:srgbClr val="8E43AD"/>
                </a:solidFill>
                <a:effectLst/>
                <a:uFillTx/>
                <a:latin typeface="Calibri-Bold"/>
                <a:ea typeface="Calibri-Bold"/>
              </a:rPr>
              <a:t>Générateur de scénarios</a:t>
            </a:r>
            <a:endParaRPr lang="en-US" sz="1200" b="0" u="none" strike="noStrike">
              <a:solidFill>
                <a:srgbClr val="000000"/>
              </a:solidFill>
              <a:effectLst/>
              <a:uFillTx/>
              <a:latin typeface="Arial"/>
            </a:endParaRPr>
          </a:p>
        </p:txBody>
      </p:sp>
      <p:sp>
        <p:nvSpPr>
          <p:cNvPr id="374" name=""/>
          <p:cNvSpPr txBox="1"/>
          <p:nvPr/>
        </p:nvSpPr>
        <p:spPr>
          <a:xfrm>
            <a:off x="576000" y="5632560"/>
            <a:ext cx="5257800" cy="420480"/>
          </a:xfrm>
          <a:prstGeom prst="rect">
            <a:avLst/>
          </a:prstGeom>
          <a:noFill/>
          <a:ln w="0">
            <a:noFill/>
          </a:ln>
        </p:spPr>
        <p:txBody>
          <a:bodyPr lIns="90000" tIns="45000" rIns="90000" bIns="45000" anchor="t">
            <a:spAutoFit/>
          </a:bodyPr>
          <a:p>
            <a:r>
              <a:rPr lang="en-US" sz="1100" b="0" u="none" strike="noStrike">
                <a:solidFill>
                  <a:srgbClr val="CCCCCC"/>
                </a:solidFill>
                <a:effectLst/>
                <a:uFillTx/>
                <a:latin typeface="Calibri"/>
                <a:ea typeface="Calibri"/>
              </a:rPr>
              <a:t>Processus AR(1) → 4-8 courbes de vent/soleil</a:t>
            </a:r>
            <a:r>
              <a:rPr lang="en-US" sz="1100" b="0" u="none" strike="noStrike">
                <a:solidFill>
                  <a:srgbClr val="CCCCCC"/>
                </a:solidFill>
                <a:effectLst/>
                <a:uFillTx/>
                <a:latin typeface="Calibri"/>
                <a:ea typeface="Calibri"/>
              </a:rPr>
              <a:t>.</a:t>
            </a:r>
            <a:endParaRPr lang="en-US" sz="1100" b="0" u="none" strike="noStrike">
              <a:solidFill>
                <a:srgbClr val="000000"/>
              </a:solidFill>
              <a:effectLst/>
              <a:uFillTx/>
              <a:latin typeface="Arial"/>
            </a:endParaRPr>
          </a:p>
        </p:txBody>
      </p:sp>
      <p:sp>
        <p:nvSpPr>
          <p:cNvPr id="375" name=""/>
          <p:cNvSpPr txBox="1"/>
          <p:nvPr/>
        </p:nvSpPr>
        <p:spPr>
          <a:xfrm>
            <a:off x="1417320" y="2212920"/>
            <a:ext cx="2194560" cy="292680"/>
          </a:xfrm>
          <a:prstGeom prst="rect">
            <a:avLst/>
          </a:prstGeom>
          <a:noFill/>
          <a:ln w="0">
            <a:noFill/>
          </a:ln>
        </p:spPr>
        <p:txBody>
          <a:bodyPr lIns="90000" tIns="45000" rIns="90000" bIns="45000" anchor="t">
            <a:spAutoFit/>
          </a:bodyPr>
          <a:p>
            <a:r>
              <a:rPr lang="en-US" sz="1000" b="0" i="1" u="none" strike="noStrike">
                <a:solidFill>
                  <a:srgbClr val="00B4D8"/>
                </a:solidFill>
                <a:effectLst/>
                <a:uFillTx/>
                <a:latin typeface="Calibri-Italic"/>
                <a:ea typeface="Calibri-Italic"/>
              </a:rPr>
              <a:t>↓  </a:t>
            </a:r>
            <a:r>
              <a:rPr lang="en-US" sz="1000" b="0" i="1" u="none" strike="noStrike">
                <a:solidFill>
                  <a:srgbClr val="00B4D8"/>
                </a:solidFill>
                <a:effectLst/>
                <a:uFillTx/>
                <a:latin typeface="Calibri-Italic"/>
                <a:ea typeface="Calibri-Italic"/>
              </a:rPr>
              <a:t>construit sur</a:t>
            </a:r>
            <a:endParaRPr lang="en-US" sz="1000" b="0" u="none" strike="noStrike">
              <a:solidFill>
                <a:srgbClr val="000000"/>
              </a:solidFill>
              <a:effectLst/>
              <a:uFillTx/>
              <a:latin typeface="Arial"/>
            </a:endParaRPr>
          </a:p>
        </p:txBody>
      </p:sp>
      <p:sp>
        <p:nvSpPr>
          <p:cNvPr id="376" name=""/>
          <p:cNvSpPr txBox="1"/>
          <p:nvPr/>
        </p:nvSpPr>
        <p:spPr>
          <a:xfrm>
            <a:off x="1417320" y="3218760"/>
            <a:ext cx="2194560" cy="292680"/>
          </a:xfrm>
          <a:prstGeom prst="rect">
            <a:avLst/>
          </a:prstGeom>
          <a:noFill/>
          <a:ln w="0">
            <a:noFill/>
          </a:ln>
        </p:spPr>
        <p:txBody>
          <a:bodyPr lIns="90000" tIns="45000" rIns="90000" bIns="45000" anchor="t">
            <a:spAutoFit/>
          </a:bodyPr>
          <a:p>
            <a:r>
              <a:rPr lang="en-US" sz="1000" b="0" i="1" u="none" strike="noStrike">
                <a:solidFill>
                  <a:srgbClr val="00B4D8"/>
                </a:solidFill>
                <a:effectLst/>
                <a:uFillTx/>
                <a:latin typeface="Calibri-Italic"/>
                <a:ea typeface="Calibri-Italic"/>
              </a:rPr>
              <a:t>↓  </a:t>
            </a:r>
            <a:r>
              <a:rPr lang="en-US" sz="1000" b="0" i="1" u="none" strike="noStrike">
                <a:solidFill>
                  <a:srgbClr val="00B4D8"/>
                </a:solidFill>
                <a:effectLst/>
                <a:uFillTx/>
                <a:latin typeface="Calibri-Italic"/>
                <a:ea typeface="Calibri-Italic"/>
              </a:rPr>
              <a:t>construit sur</a:t>
            </a:r>
            <a:endParaRPr lang="en-US" sz="1000" b="0" u="none" strike="noStrike">
              <a:solidFill>
                <a:srgbClr val="000000"/>
              </a:solidFill>
              <a:effectLst/>
              <a:uFillTx/>
              <a:latin typeface="Arial"/>
            </a:endParaRPr>
          </a:p>
        </p:txBody>
      </p:sp>
      <p:sp>
        <p:nvSpPr>
          <p:cNvPr id="377" name=""/>
          <p:cNvSpPr txBox="1"/>
          <p:nvPr/>
        </p:nvSpPr>
        <p:spPr>
          <a:xfrm>
            <a:off x="1417320" y="4131720"/>
            <a:ext cx="2194560" cy="262800"/>
          </a:xfrm>
          <a:prstGeom prst="rect">
            <a:avLst/>
          </a:prstGeom>
          <a:noFill/>
          <a:ln w="0">
            <a:noFill/>
          </a:ln>
        </p:spPr>
        <p:txBody>
          <a:bodyPr lIns="90000" tIns="45000" rIns="90000" bIns="45000" anchor="t">
            <a:spAutoFit/>
          </a:bodyPr>
          <a:p>
            <a:r>
              <a:rPr lang="en-US" sz="1000" b="0" i="1" u="none" strike="noStrike">
                <a:solidFill>
                  <a:srgbClr val="00B4D8"/>
                </a:solidFill>
                <a:effectLst/>
                <a:uFillTx/>
                <a:latin typeface="Calibri-Italic"/>
                <a:ea typeface="Calibri-Italic"/>
              </a:rPr>
              <a:t>↓  </a:t>
            </a:r>
            <a:r>
              <a:rPr lang="en-US" sz="1000" b="0" i="1" u="none" strike="noStrike">
                <a:solidFill>
                  <a:srgbClr val="00B4D8"/>
                </a:solidFill>
                <a:effectLst/>
                <a:uFillTx/>
                <a:latin typeface="Calibri-Italic"/>
                <a:ea typeface="Calibri-Italic"/>
              </a:rPr>
              <a:t>construit sur</a:t>
            </a:r>
            <a:endParaRPr lang="en-US" sz="1000" b="0" u="none" strike="noStrike">
              <a:solidFill>
                <a:srgbClr val="000000"/>
              </a:solidFill>
              <a:effectLst/>
              <a:uFillTx/>
              <a:latin typeface="Arial"/>
            </a:endParaRPr>
          </a:p>
        </p:txBody>
      </p:sp>
      <p:sp>
        <p:nvSpPr>
          <p:cNvPr id="378" name=""/>
          <p:cNvSpPr/>
          <p:nvPr/>
        </p:nvSpPr>
        <p:spPr>
          <a:xfrm>
            <a:off x="6309360" y="1207080"/>
            <a:ext cx="5486760" cy="2149200"/>
          </a:xfrm>
          <a:custGeom>
            <a:avLst/>
            <a:gdLst/>
            <a:ahLst/>
            <a:rect l="0" t="0" r="r" b="b"/>
            <a:pathLst>
              <a:path w="15241" h="5970">
                <a:moveTo>
                  <a:pt x="0" y="0"/>
                </a:moveTo>
                <a:lnTo>
                  <a:pt x="15241" y="0"/>
                </a:lnTo>
                <a:lnTo>
                  <a:pt x="15241" y="5970"/>
                </a:lnTo>
                <a:lnTo>
                  <a:pt x="0" y="5970"/>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79" name=""/>
          <p:cNvSpPr txBox="1"/>
          <p:nvPr/>
        </p:nvSpPr>
        <p:spPr>
          <a:xfrm>
            <a:off x="6492240" y="1252800"/>
            <a:ext cx="5120640" cy="320040"/>
          </a:xfrm>
          <a:prstGeom prst="rect">
            <a:avLst/>
          </a:prstGeom>
          <a:noFill/>
          <a:ln w="0">
            <a:noFill/>
          </a:ln>
        </p:spPr>
        <p:txBody>
          <a:bodyPr lIns="90000" tIns="45000" rIns="90000" bIns="45000" anchor="t">
            <a:spAutoFit/>
          </a:bodyPr>
          <a:p>
            <a:r>
              <a:rPr lang="en-US" sz="1300" b="1" u="none" strike="noStrike">
                <a:solidFill>
                  <a:srgbClr val="00B4D8"/>
                </a:solidFill>
                <a:effectLst/>
                <a:uFillTx/>
                <a:latin typeface="Calibri-Bold"/>
                <a:ea typeface="Calibri-Bold"/>
              </a:rPr>
              <a:t>demo.ipynb — le notebook de démo</a:t>
            </a:r>
            <a:endParaRPr lang="en-US" sz="1300" b="0" u="none" strike="noStrike">
              <a:solidFill>
                <a:srgbClr val="000000"/>
              </a:solidFill>
              <a:effectLst/>
              <a:uFillTx/>
              <a:latin typeface="Arial"/>
            </a:endParaRPr>
          </a:p>
        </p:txBody>
      </p:sp>
      <p:sp>
        <p:nvSpPr>
          <p:cNvPr id="380" name=""/>
          <p:cNvSpPr txBox="1"/>
          <p:nvPr/>
        </p:nvSpPr>
        <p:spPr>
          <a:xfrm>
            <a:off x="6492240" y="1627560"/>
            <a:ext cx="5120640" cy="1600200"/>
          </a:xfrm>
          <a:prstGeom prst="rect">
            <a:avLst/>
          </a:prstGeom>
          <a:noFill/>
          <a:ln w="0">
            <a:noFill/>
          </a:ln>
        </p:spPr>
        <p:txBody>
          <a:bodyPr lIns="90000" tIns="45000" rIns="90000" bIns="45000" anchor="t">
            <a:spAutoFit/>
          </a:bodyPr>
          <a:p>
            <a:r>
              <a:rPr lang="en-US" sz="1200" b="0" u="none" strike="noStrike">
                <a:solidFill>
                  <a:srgbClr val="FFFFFF"/>
                </a:solidFill>
                <a:effectLst/>
                <a:uFillTx/>
                <a:latin typeface="Calibri"/>
                <a:ea typeface="Calibri"/>
              </a:rPr>
              <a:t>9</a:t>
            </a:r>
            <a:r>
              <a:rPr lang="en-US" sz="1200" b="0" u="none" strike="noStrike">
                <a:solidFill>
                  <a:srgbClr val="FFFFFF"/>
                </a:solidFill>
                <a:effectLst/>
                <a:uFillTx/>
                <a:latin typeface="Calibri"/>
                <a:ea typeface="Calibri"/>
              </a:rPr>
              <a:t> </a:t>
            </a:r>
            <a:r>
              <a:rPr lang="en-US" sz="1200" b="0" u="none" strike="noStrike">
                <a:solidFill>
                  <a:srgbClr val="FFFFFF"/>
                </a:solidFill>
                <a:effectLst/>
                <a:uFillTx/>
                <a:latin typeface="Calibri"/>
                <a:ea typeface="Calibri"/>
              </a:rPr>
              <a:t>sections interactives : ED → UC → SUC</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Visualisations intégrées (graphes, heatmaps, flux réseau)</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Lancer : jupyter notebook notebooks/demo.ipynb</a:t>
            </a:r>
            <a:endParaRPr lang="en-US" sz="1200" b="0" u="none" strike="noStrike">
              <a:solidFill>
                <a:srgbClr val="000000"/>
              </a:solidFill>
              <a:effectLst/>
              <a:uFillTx/>
              <a:latin typeface="Arial"/>
            </a:endParaRPr>
          </a:p>
          <a:p>
            <a:r>
              <a:rPr lang="en-US" sz="1200" b="0" u="none" strike="noStrike">
                <a:solidFill>
                  <a:srgbClr val="FFFFFF"/>
                </a:solidFill>
                <a:effectLst/>
                <a:uFillTx/>
                <a:latin typeface="Calibri"/>
                <a:ea typeface="Calibri"/>
              </a:rPr>
              <a:t>Mode rapide CLI : py main.py --fast</a:t>
            </a:r>
            <a:endParaRPr lang="en-US" sz="1200" b="0" u="none" strike="noStrike">
              <a:solidFill>
                <a:srgbClr val="000000"/>
              </a:solidFill>
              <a:effectLst/>
              <a:uFillTx/>
              <a:latin typeface="Arial"/>
            </a:endParaRPr>
          </a:p>
        </p:txBody>
      </p:sp>
      <p:sp>
        <p:nvSpPr>
          <p:cNvPr id="381" name=""/>
          <p:cNvSpPr/>
          <p:nvPr/>
        </p:nvSpPr>
        <p:spPr>
          <a:xfrm>
            <a:off x="6309360" y="3493080"/>
            <a:ext cx="5486760" cy="2286360"/>
          </a:xfrm>
          <a:custGeom>
            <a:avLst/>
            <a:gdLst/>
            <a:ahLst/>
            <a:rect l="0" t="0" r="r" b="b"/>
            <a:pathLst>
              <a:path w="15241" h="6351">
                <a:moveTo>
                  <a:pt x="0" y="0"/>
                </a:moveTo>
                <a:lnTo>
                  <a:pt x="15241" y="0"/>
                </a:lnTo>
                <a:lnTo>
                  <a:pt x="15241" y="6351"/>
                </a:lnTo>
                <a:lnTo>
                  <a:pt x="0" y="6351"/>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82" name=""/>
          <p:cNvSpPr txBox="1"/>
          <p:nvPr/>
        </p:nvSpPr>
        <p:spPr>
          <a:xfrm>
            <a:off x="6492240" y="3538800"/>
            <a:ext cx="5120640" cy="320040"/>
          </a:xfrm>
          <a:prstGeom prst="rect">
            <a:avLst/>
          </a:prstGeom>
          <a:noFill/>
          <a:ln w="0">
            <a:noFill/>
          </a:ln>
        </p:spPr>
        <p:txBody>
          <a:bodyPr lIns="90000" tIns="45000" rIns="90000" bIns="45000" anchor="t">
            <a:spAutoFit/>
          </a:bodyPr>
          <a:p>
            <a:r>
              <a:rPr lang="en-US" sz="1300" b="1" u="none" strike="noStrike">
                <a:solidFill>
                  <a:srgbClr val="00B4D8"/>
                </a:solidFill>
                <a:effectLst/>
                <a:uFillTx/>
                <a:latin typeface="Calibri-Bold"/>
                <a:ea typeface="Calibri-Bold"/>
              </a:rPr>
              <a:t>3</a:t>
            </a:r>
            <a:r>
              <a:rPr lang="en-US" sz="1300" b="1" u="none" strike="noStrike">
                <a:solidFill>
                  <a:srgbClr val="00B4D8"/>
                </a:solidFill>
                <a:effectLst/>
                <a:uFillTx/>
                <a:latin typeface="Calibri-Bold"/>
                <a:ea typeface="Calibri-Bold"/>
              </a:rPr>
              <a:t> </a:t>
            </a:r>
            <a:r>
              <a:rPr lang="en-US" sz="1300" b="1" u="none" strike="noStrike">
                <a:solidFill>
                  <a:srgbClr val="00B4D8"/>
                </a:solidFill>
                <a:effectLst/>
                <a:uFillTx/>
                <a:latin typeface="Calibri-Bold"/>
                <a:ea typeface="Calibri-Bold"/>
              </a:rPr>
              <a:t>réseaux de test</a:t>
            </a:r>
            <a:endParaRPr lang="en-US" sz="1300" b="0" u="none" strike="noStrike">
              <a:solidFill>
                <a:srgbClr val="000000"/>
              </a:solidFill>
              <a:effectLst/>
              <a:uFillTx/>
              <a:latin typeface="Arial"/>
            </a:endParaRPr>
          </a:p>
        </p:txBody>
      </p:sp>
      <p:sp>
        <p:nvSpPr>
          <p:cNvPr id="383" name=""/>
          <p:cNvSpPr/>
          <p:nvPr/>
        </p:nvSpPr>
        <p:spPr>
          <a:xfrm>
            <a:off x="6400800" y="3931920"/>
            <a:ext cx="137520" cy="549000"/>
          </a:xfrm>
          <a:custGeom>
            <a:avLst/>
            <a:gdLst/>
            <a:ahLst/>
            <a:rect l="0" t="0" r="r" b="b"/>
            <a:pathLst>
              <a:path w="382" h="1525">
                <a:moveTo>
                  <a:pt x="0" y="0"/>
                </a:moveTo>
                <a:lnTo>
                  <a:pt x="382" y="0"/>
                </a:lnTo>
                <a:lnTo>
                  <a:pt x="382" y="1525"/>
                </a:lnTo>
                <a:lnTo>
                  <a:pt x="0" y="1525"/>
                </a:lnTo>
                <a:lnTo>
                  <a:pt x="0" y="0"/>
                </a:lnTo>
                <a:close/>
              </a:path>
            </a:pathLst>
          </a:custGeom>
          <a:solidFill>
            <a:srgbClr val="2DCC7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84" name=""/>
          <p:cNvSpPr txBox="1"/>
          <p:nvPr/>
        </p:nvSpPr>
        <p:spPr>
          <a:xfrm>
            <a:off x="6702480" y="3950280"/>
            <a:ext cx="1920240" cy="261000"/>
          </a:xfrm>
          <a:prstGeom prst="rect">
            <a:avLst/>
          </a:prstGeom>
          <a:noFill/>
          <a:ln w="0">
            <a:noFill/>
          </a:ln>
        </p:spPr>
        <p:txBody>
          <a:bodyPr lIns="90000" tIns="45000" rIns="90000" bIns="45000" anchor="t">
            <a:spAutoFit/>
          </a:bodyPr>
          <a:p>
            <a:r>
              <a:rPr lang="en-US" sz="1200" b="1" u="none" strike="noStrike">
                <a:solidFill>
                  <a:srgbClr val="2DCC70"/>
                </a:solidFill>
                <a:effectLst/>
                <a:uFillTx/>
                <a:latin typeface="Calibri-Bold"/>
                <a:ea typeface="Calibri-Bold"/>
              </a:rPr>
              <a:t>three_bus_toy</a:t>
            </a:r>
            <a:endParaRPr lang="en-US" sz="1200" b="0" u="none" strike="noStrike">
              <a:solidFill>
                <a:srgbClr val="000000"/>
              </a:solidFill>
              <a:effectLst/>
              <a:uFillTx/>
              <a:latin typeface="Arial"/>
            </a:endParaRPr>
          </a:p>
        </p:txBody>
      </p:sp>
      <p:sp>
        <p:nvSpPr>
          <p:cNvPr id="385" name=""/>
          <p:cNvSpPr txBox="1"/>
          <p:nvPr/>
        </p:nvSpPr>
        <p:spPr>
          <a:xfrm>
            <a:off x="6702480" y="4206240"/>
            <a:ext cx="2194560" cy="230400"/>
          </a:xfrm>
          <a:prstGeom prst="rect">
            <a:avLst/>
          </a:prstGeom>
          <a:noFill/>
          <a:ln w="0">
            <a:noFill/>
          </a:ln>
        </p:spPr>
        <p:txBody>
          <a:bodyPr lIns="90000" tIns="45000" rIns="90000" bIns="45000" anchor="t">
            <a:spAutoFit/>
          </a:bodyPr>
          <a:p>
            <a:r>
              <a:rPr lang="en-US" sz="1100" b="0" u="none" strike="noStrike">
                <a:solidFill>
                  <a:srgbClr val="CCCCCC"/>
                </a:solidFill>
                <a:effectLst/>
                <a:uFillTx/>
                <a:latin typeface="Calibri"/>
                <a:ea typeface="Calibri"/>
              </a:rPr>
              <a:t>3</a:t>
            </a:r>
            <a:r>
              <a:rPr lang="en-US" sz="1100" b="0" u="none" strike="noStrike">
                <a:solidFill>
                  <a:srgbClr val="CCCCCC"/>
                </a:solidFill>
                <a:effectLst/>
                <a:uFillTx/>
                <a:latin typeface="Calibri"/>
                <a:ea typeface="Calibri"/>
              </a:rPr>
              <a:t> </a:t>
            </a:r>
            <a:r>
              <a:rPr lang="en-US" sz="1100" b="0" u="none" strike="noStrike">
                <a:solidFill>
                  <a:srgbClr val="CCCCCC"/>
                </a:solidFill>
                <a:effectLst/>
                <a:uFillTx/>
                <a:latin typeface="Calibri"/>
                <a:ea typeface="Calibri"/>
              </a:rPr>
              <a:t>bus · 3 gén · ~300 MW</a:t>
            </a:r>
            <a:endParaRPr lang="en-US" sz="1100" b="0" u="none" strike="noStrike">
              <a:solidFill>
                <a:srgbClr val="000000"/>
              </a:solidFill>
              <a:effectLst/>
              <a:uFillTx/>
              <a:latin typeface="Arial"/>
            </a:endParaRPr>
          </a:p>
        </p:txBody>
      </p:sp>
      <p:sp>
        <p:nvSpPr>
          <p:cNvPr id="386" name=""/>
          <p:cNvSpPr txBox="1"/>
          <p:nvPr/>
        </p:nvSpPr>
        <p:spPr>
          <a:xfrm>
            <a:off x="9052560" y="4041720"/>
            <a:ext cx="2468880" cy="280800"/>
          </a:xfrm>
          <a:prstGeom prst="rect">
            <a:avLst/>
          </a:prstGeom>
          <a:noFill/>
          <a:ln w="0">
            <a:noFill/>
          </a:ln>
        </p:spPr>
        <p:txBody>
          <a:bodyPr lIns="90000" tIns="45000" rIns="90000" bIns="45000" anchor="t">
            <a:spAutoFit/>
          </a:bodyPr>
          <a:p>
            <a:r>
              <a:rPr lang="en-US" sz="1100" b="0" i="1" u="none" strike="noStrike">
                <a:solidFill>
                  <a:srgbClr val="FFFFFF"/>
                </a:solidFill>
                <a:effectLst/>
                <a:uFillTx/>
                <a:latin typeface="Calibri-Italic"/>
                <a:ea typeface="Calibri-Italic"/>
              </a:rPr>
              <a:t>→ </a:t>
            </a:r>
            <a:r>
              <a:rPr lang="en-US" sz="1100" b="0" i="1" u="none" strike="noStrike">
                <a:solidFill>
                  <a:srgbClr val="FFFFFF"/>
                </a:solidFill>
                <a:effectLst/>
                <a:uFillTx/>
                <a:latin typeface="Calibri-Italic"/>
                <a:ea typeface="Calibri-Italic"/>
              </a:rPr>
              <a:t>Validation rapide (&lt; 1 s)</a:t>
            </a:r>
            <a:endParaRPr lang="en-US" sz="1100" b="0" u="none" strike="noStrike">
              <a:solidFill>
                <a:srgbClr val="000000"/>
              </a:solidFill>
              <a:effectLst/>
              <a:uFillTx/>
              <a:latin typeface="Arial"/>
            </a:endParaRPr>
          </a:p>
        </p:txBody>
      </p:sp>
      <p:sp>
        <p:nvSpPr>
          <p:cNvPr id="387" name=""/>
          <p:cNvSpPr/>
          <p:nvPr/>
        </p:nvSpPr>
        <p:spPr>
          <a:xfrm>
            <a:off x="6400800" y="4590360"/>
            <a:ext cx="137520" cy="549000"/>
          </a:xfrm>
          <a:custGeom>
            <a:avLst/>
            <a:gdLst/>
            <a:ahLst/>
            <a:rect l="0" t="0" r="r" b="b"/>
            <a:pathLst>
              <a:path w="382" h="1525">
                <a:moveTo>
                  <a:pt x="0" y="0"/>
                </a:moveTo>
                <a:lnTo>
                  <a:pt x="382" y="0"/>
                </a:lnTo>
                <a:lnTo>
                  <a:pt x="382" y="1525"/>
                </a:lnTo>
                <a:lnTo>
                  <a:pt x="0" y="1525"/>
                </a:lnTo>
                <a:lnTo>
                  <a:pt x="0" y="0"/>
                </a:lnTo>
                <a:close/>
              </a:path>
            </a:pathLst>
          </a:custGeom>
          <a:solidFill>
            <a:srgbClr val="F39C11"/>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388" name=""/>
          <p:cNvSpPr txBox="1"/>
          <p:nvPr/>
        </p:nvSpPr>
        <p:spPr>
          <a:xfrm>
            <a:off x="6702480" y="4608720"/>
            <a:ext cx="1920240" cy="261000"/>
          </a:xfrm>
          <a:prstGeom prst="rect">
            <a:avLst/>
          </a:prstGeom>
          <a:noFill/>
          <a:ln w="0">
            <a:noFill/>
          </a:ln>
        </p:spPr>
        <p:txBody>
          <a:bodyPr lIns="90000" tIns="45000" rIns="90000" bIns="45000" anchor="t">
            <a:spAutoFit/>
          </a:bodyPr>
          <a:p>
            <a:r>
              <a:rPr lang="en-US" sz="1200" b="1" u="none" strike="noStrike">
                <a:solidFill>
                  <a:srgbClr val="F39C11"/>
                </a:solidFill>
                <a:effectLst/>
                <a:uFillTx/>
                <a:latin typeface="Calibri-Bold"/>
                <a:ea typeface="Calibri-Bold"/>
              </a:rPr>
              <a:t>six_bus_congested</a:t>
            </a:r>
            <a:endParaRPr lang="en-US" sz="1200" b="0" u="none" strike="noStrike">
              <a:solidFill>
                <a:srgbClr val="000000"/>
              </a:solidFill>
              <a:effectLst/>
              <a:uFillTx/>
              <a:latin typeface="Arial"/>
            </a:endParaRPr>
          </a:p>
        </p:txBody>
      </p:sp>
      <p:sp>
        <p:nvSpPr>
          <p:cNvPr id="389" name=""/>
          <p:cNvSpPr txBox="1"/>
          <p:nvPr/>
        </p:nvSpPr>
        <p:spPr>
          <a:xfrm>
            <a:off x="6702480" y="4864680"/>
            <a:ext cx="2194560" cy="230400"/>
          </a:xfrm>
          <a:prstGeom prst="rect">
            <a:avLst/>
          </a:prstGeom>
          <a:noFill/>
          <a:ln w="0">
            <a:noFill/>
          </a:ln>
        </p:spPr>
        <p:txBody>
          <a:bodyPr lIns="90000" tIns="45000" rIns="90000" bIns="45000" anchor="t">
            <a:spAutoFit/>
          </a:bodyPr>
          <a:p>
            <a:r>
              <a:rPr lang="en-US" sz="1100" b="0" u="none" strike="noStrike">
                <a:solidFill>
                  <a:srgbClr val="CCCCCC"/>
                </a:solidFill>
                <a:effectLst/>
                <a:uFillTx/>
                <a:latin typeface="Calibri"/>
                <a:ea typeface="Calibri"/>
              </a:rPr>
              <a:t>6</a:t>
            </a:r>
            <a:r>
              <a:rPr lang="en-US" sz="1100" b="0" u="none" strike="noStrike">
                <a:solidFill>
                  <a:srgbClr val="CCCCCC"/>
                </a:solidFill>
                <a:effectLst/>
                <a:uFillTx/>
                <a:latin typeface="Calibri"/>
                <a:ea typeface="Calibri"/>
              </a:rPr>
              <a:t> </a:t>
            </a:r>
            <a:r>
              <a:rPr lang="en-US" sz="1100" b="0" u="none" strike="noStrike">
                <a:solidFill>
                  <a:srgbClr val="CCCCCC"/>
                </a:solidFill>
                <a:effectLst/>
                <a:uFillTx/>
                <a:latin typeface="Calibri"/>
                <a:ea typeface="Calibri"/>
              </a:rPr>
              <a:t>bus · 7 lignes · 4 gén</a:t>
            </a:r>
            <a:endParaRPr lang="en-US" sz="1100" b="0" u="none" strike="noStrike">
              <a:solidFill>
                <a:srgbClr val="000000"/>
              </a:solidFill>
              <a:effectLst/>
              <a:uFillTx/>
              <a:latin typeface="Arial"/>
            </a:endParaRPr>
          </a:p>
        </p:txBody>
      </p:sp>
      <p:sp>
        <p:nvSpPr>
          <p:cNvPr id="390" name=""/>
          <p:cNvSpPr txBox="1"/>
          <p:nvPr/>
        </p:nvSpPr>
        <p:spPr>
          <a:xfrm>
            <a:off x="9052560" y="4700160"/>
            <a:ext cx="2468880" cy="280800"/>
          </a:xfrm>
          <a:prstGeom prst="rect">
            <a:avLst/>
          </a:prstGeom>
          <a:noFill/>
          <a:ln w="0">
            <a:noFill/>
          </a:ln>
        </p:spPr>
        <p:txBody>
          <a:bodyPr lIns="90000" tIns="45000" rIns="90000" bIns="45000" anchor="t">
            <a:spAutoFit/>
          </a:bodyPr>
          <a:p>
            <a:r>
              <a:rPr lang="en-US" sz="1100" b="0" i="1" u="none" strike="noStrike">
                <a:solidFill>
                  <a:srgbClr val="FFFFFF"/>
                </a:solidFill>
                <a:effectLst/>
                <a:uFillTx/>
                <a:latin typeface="Calibri-Italic"/>
                <a:ea typeface="Calibri-Italic"/>
              </a:rPr>
              <a:t>→ </a:t>
            </a:r>
            <a:r>
              <a:rPr lang="en-US" sz="1100" b="0" i="1" u="none" strike="noStrike">
                <a:solidFill>
                  <a:srgbClr val="FFFFFF"/>
                </a:solidFill>
                <a:effectLst/>
                <a:uFillTx/>
                <a:latin typeface="Calibri-Italic"/>
                <a:ea typeface="Calibri-Italic"/>
              </a:rPr>
              <a:t>Test de congestion</a:t>
            </a:r>
            <a:endParaRPr lang="en-US" sz="1100" b="0" u="none" strike="noStrike">
              <a:solidFill>
                <a:srgbClr val="000000"/>
              </a:solidFill>
              <a:effectLst/>
              <a:uFillTx/>
              <a:latin typeface="Arial"/>
            </a:endParaRPr>
          </a:p>
        </p:txBody>
      </p:sp>
      <p:sp>
        <p:nvSpPr>
          <p:cNvPr id="391" name=""/>
          <p:cNvSpPr/>
          <p:nvPr/>
        </p:nvSpPr>
        <p:spPr>
          <a:xfrm>
            <a:off x="6400800" y="5248800"/>
            <a:ext cx="137520" cy="549000"/>
          </a:xfrm>
          <a:custGeom>
            <a:avLst/>
            <a:gdLst/>
            <a:ahLst/>
            <a:rect l="0" t="0" r="r" b="b"/>
            <a:pathLst>
              <a:path w="382" h="1525">
                <a:moveTo>
                  <a:pt x="0" y="0"/>
                </a:moveTo>
                <a:lnTo>
                  <a:pt x="382" y="0"/>
                </a:lnTo>
                <a:lnTo>
                  <a:pt x="382" y="1525"/>
                </a:lnTo>
                <a:lnTo>
                  <a:pt x="0" y="1525"/>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92" name=""/>
          <p:cNvSpPr txBox="1"/>
          <p:nvPr/>
        </p:nvSpPr>
        <p:spPr>
          <a:xfrm>
            <a:off x="6702480" y="5266800"/>
            <a:ext cx="1920240" cy="261000"/>
          </a:xfrm>
          <a:prstGeom prst="rect">
            <a:avLst/>
          </a:prstGeom>
          <a:noFill/>
          <a:ln w="0">
            <a:noFill/>
          </a:ln>
        </p:spPr>
        <p:txBody>
          <a:bodyPr lIns="90000" tIns="45000" rIns="90000" bIns="45000" anchor="t">
            <a:spAutoFit/>
          </a:bodyPr>
          <a:p>
            <a:r>
              <a:rPr lang="en-US" sz="1200" b="1" u="none" strike="noStrike">
                <a:solidFill>
                  <a:srgbClr val="E86916"/>
                </a:solidFill>
                <a:effectLst/>
                <a:uFillTx/>
                <a:latin typeface="Calibri-Bold"/>
                <a:ea typeface="Calibri-Bold"/>
              </a:rPr>
              <a:t>ieee14</a:t>
            </a:r>
            <a:endParaRPr lang="en-US" sz="1200" b="0" u="none" strike="noStrike">
              <a:solidFill>
                <a:srgbClr val="000000"/>
              </a:solidFill>
              <a:effectLst/>
              <a:uFillTx/>
              <a:latin typeface="Arial"/>
            </a:endParaRPr>
          </a:p>
        </p:txBody>
      </p:sp>
      <p:sp>
        <p:nvSpPr>
          <p:cNvPr id="393" name=""/>
          <p:cNvSpPr txBox="1"/>
          <p:nvPr/>
        </p:nvSpPr>
        <p:spPr>
          <a:xfrm>
            <a:off x="6702480" y="5523120"/>
            <a:ext cx="2194560" cy="230400"/>
          </a:xfrm>
          <a:prstGeom prst="rect">
            <a:avLst/>
          </a:prstGeom>
          <a:noFill/>
          <a:ln w="0">
            <a:noFill/>
          </a:ln>
        </p:spPr>
        <p:txBody>
          <a:bodyPr lIns="90000" tIns="45000" rIns="90000" bIns="45000" anchor="t">
            <a:spAutoFit/>
          </a:bodyPr>
          <a:p>
            <a:r>
              <a:rPr lang="en-US" sz="1100" b="0" u="none" strike="noStrike">
                <a:solidFill>
                  <a:srgbClr val="CCCCCC"/>
                </a:solidFill>
                <a:effectLst/>
                <a:uFillTx/>
                <a:latin typeface="Calibri"/>
                <a:ea typeface="Calibri"/>
              </a:rPr>
              <a:t>14</a:t>
            </a:r>
            <a:r>
              <a:rPr lang="en-US" sz="1100" b="0" u="none" strike="noStrike">
                <a:solidFill>
                  <a:srgbClr val="CCCCCC"/>
                </a:solidFill>
                <a:effectLst/>
                <a:uFillTx/>
                <a:latin typeface="Calibri"/>
                <a:ea typeface="Calibri"/>
              </a:rPr>
              <a:t> </a:t>
            </a:r>
            <a:r>
              <a:rPr lang="en-US" sz="1100" b="0" u="none" strike="noStrike">
                <a:solidFill>
                  <a:srgbClr val="CCCCCC"/>
                </a:solidFill>
                <a:effectLst/>
                <a:uFillTx/>
                <a:latin typeface="Calibri"/>
                <a:ea typeface="Calibri"/>
              </a:rPr>
              <a:t>bus · 20 lignes · 5 gén</a:t>
            </a:r>
            <a:endParaRPr lang="en-US" sz="1100" b="0" u="none" strike="noStrike">
              <a:solidFill>
                <a:srgbClr val="000000"/>
              </a:solidFill>
              <a:effectLst/>
              <a:uFillTx/>
              <a:latin typeface="Arial"/>
            </a:endParaRPr>
          </a:p>
        </p:txBody>
      </p:sp>
      <p:sp>
        <p:nvSpPr>
          <p:cNvPr id="394" name=""/>
          <p:cNvSpPr txBox="1"/>
          <p:nvPr/>
        </p:nvSpPr>
        <p:spPr>
          <a:xfrm>
            <a:off x="9052560" y="5358240"/>
            <a:ext cx="2468880" cy="280800"/>
          </a:xfrm>
          <a:prstGeom prst="rect">
            <a:avLst/>
          </a:prstGeom>
          <a:noFill/>
          <a:ln w="0">
            <a:noFill/>
          </a:ln>
        </p:spPr>
        <p:txBody>
          <a:bodyPr lIns="90000" tIns="45000" rIns="90000" bIns="45000" anchor="t">
            <a:spAutoFit/>
          </a:bodyPr>
          <a:p>
            <a:r>
              <a:rPr lang="en-US" sz="1100" b="0" i="1" u="none" strike="noStrike">
                <a:solidFill>
                  <a:srgbClr val="FFFFFF"/>
                </a:solidFill>
                <a:effectLst/>
                <a:uFillTx/>
                <a:latin typeface="Calibri-Italic"/>
                <a:ea typeface="Calibri-Italic"/>
              </a:rPr>
              <a:t>→ </a:t>
            </a:r>
            <a:r>
              <a:rPr lang="en-US" sz="1100" b="0" i="1" u="none" strike="noStrike">
                <a:solidFill>
                  <a:srgbClr val="FFFFFF"/>
                </a:solidFill>
                <a:effectLst/>
                <a:uFillTx/>
                <a:latin typeface="Calibri-Italic"/>
                <a:ea typeface="Calibri-Italic"/>
              </a:rPr>
              <a:t>Benchmark industriel (IEEE)</a:t>
            </a: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95"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5203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96"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397"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398" name=""/>
          <p:cNvSpPr/>
          <p:nvPr/>
        </p:nvSpPr>
        <p:spPr>
          <a:xfrm>
            <a:off x="457200" y="155520"/>
            <a:ext cx="2926440" cy="293040"/>
          </a:xfrm>
          <a:custGeom>
            <a:avLst/>
            <a:gdLst/>
            <a:ahLst/>
            <a:rect l="0" t="0" r="r" b="b"/>
            <a:pathLst>
              <a:path w="8129" h="814">
                <a:moveTo>
                  <a:pt x="0" y="0"/>
                </a:moveTo>
                <a:lnTo>
                  <a:pt x="8129" y="0"/>
                </a:lnTo>
                <a:lnTo>
                  <a:pt x="8129" y="814"/>
                </a:lnTo>
                <a:lnTo>
                  <a:pt x="0" y="814"/>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399" name=""/>
          <p:cNvSpPr txBox="1"/>
          <p:nvPr/>
        </p:nvSpPr>
        <p:spPr>
          <a:xfrm>
            <a:off x="502920" y="155520"/>
            <a:ext cx="2834640" cy="292680"/>
          </a:xfrm>
          <a:prstGeom prst="rect">
            <a:avLst/>
          </a:prstGeom>
          <a:noFill/>
          <a:ln w="0">
            <a:noFill/>
          </a:ln>
        </p:spPr>
        <p:txBody>
          <a:bodyPr lIns="90000" tIns="45000" rIns="90000" bIns="45000" anchor="t">
            <a:spAutoFit/>
          </a:bodyPr>
          <a:p>
            <a:pPr algn="ctr" rtl="1"/>
            <a:r>
              <a:rPr lang="en-US" sz="1000" b="1" u="none" strike="noStrike">
                <a:solidFill>
                  <a:srgbClr val="FFFFFF"/>
                </a:solidFill>
                <a:effectLst/>
                <a:uFillTx/>
                <a:latin typeface="Calibri-Bold"/>
                <a:ea typeface="Calibri-Bold"/>
              </a:rPr>
              <a:t>CONCLUSION</a:t>
            </a:r>
            <a:endParaRPr lang="en-US" sz="1000" b="0" u="none" strike="noStrike">
              <a:solidFill>
                <a:srgbClr val="000000"/>
              </a:solidFill>
              <a:effectLst/>
              <a:uFillTx/>
              <a:latin typeface="Arial"/>
            </a:endParaRPr>
          </a:p>
        </p:txBody>
      </p:sp>
      <p:sp>
        <p:nvSpPr>
          <p:cNvPr id="400" name=""/>
          <p:cNvSpPr txBox="1"/>
          <p:nvPr/>
        </p:nvSpPr>
        <p:spPr>
          <a:xfrm>
            <a:off x="502920" y="530280"/>
            <a:ext cx="11612880" cy="594360"/>
          </a:xfrm>
          <a:prstGeom prst="rect">
            <a:avLst/>
          </a:prstGeom>
          <a:noFill/>
          <a:ln w="0">
            <a:noFill/>
          </a:ln>
        </p:spPr>
        <p:txBody>
          <a:bodyPr lIns="90000" tIns="45000" rIns="90000" bIns="45000" anchor="t">
            <a:spAutoFit/>
          </a:bodyPr>
          <a:p>
            <a:r>
              <a:rPr lang="en-US" sz="3000" b="1" u="none" strike="noStrike">
                <a:solidFill>
                  <a:srgbClr val="FFFFFF"/>
                </a:solidFill>
                <a:effectLst/>
                <a:uFillTx/>
                <a:latin typeface="Calibri-Bold"/>
                <a:ea typeface="Calibri-Bold"/>
              </a:rPr>
              <a:t>Ce que l’on retient</a:t>
            </a:r>
            <a:endParaRPr lang="en-US" sz="3000" b="0" u="none" strike="noStrike">
              <a:solidFill>
                <a:srgbClr val="000000"/>
              </a:solidFill>
              <a:effectLst/>
              <a:uFillTx/>
              <a:latin typeface="Arial"/>
            </a:endParaRPr>
          </a:p>
        </p:txBody>
      </p:sp>
      <p:sp>
        <p:nvSpPr>
          <p:cNvPr id="401" name=""/>
          <p:cNvSpPr/>
          <p:nvPr/>
        </p:nvSpPr>
        <p:spPr>
          <a:xfrm>
            <a:off x="365760" y="1234440"/>
            <a:ext cx="11430360" cy="1097640"/>
          </a:xfrm>
          <a:custGeom>
            <a:avLst/>
            <a:gdLst/>
            <a:ahLst/>
            <a:rect l="0" t="0" r="r" b="b"/>
            <a:pathLst>
              <a:path w="31751" h="3049">
                <a:moveTo>
                  <a:pt x="0" y="0"/>
                </a:moveTo>
                <a:lnTo>
                  <a:pt x="31751" y="0"/>
                </a:lnTo>
                <a:lnTo>
                  <a:pt x="31751" y="3049"/>
                </a:lnTo>
                <a:lnTo>
                  <a:pt x="0" y="304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402" name=""/>
          <p:cNvSpPr/>
          <p:nvPr/>
        </p:nvSpPr>
        <p:spPr>
          <a:xfrm>
            <a:off x="365760" y="1234440"/>
            <a:ext cx="55080" cy="1097640"/>
          </a:xfrm>
          <a:custGeom>
            <a:avLst/>
            <a:gdLst/>
            <a:ahLst/>
            <a:rect l="0" t="0" r="r" b="b"/>
            <a:pathLst>
              <a:path w="153" h="3049">
                <a:moveTo>
                  <a:pt x="0" y="0"/>
                </a:moveTo>
                <a:lnTo>
                  <a:pt x="153" y="0"/>
                </a:lnTo>
                <a:lnTo>
                  <a:pt x="153" y="3049"/>
                </a:lnTo>
                <a:lnTo>
                  <a:pt x="0" y="3049"/>
                </a:lnTo>
                <a:lnTo>
                  <a:pt x="0" y="0"/>
                </a:lnTo>
                <a:close/>
              </a:path>
            </a:pathLst>
          </a:custGeom>
          <a:solidFill>
            <a:srgbClr val="2DCC7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403" name=""/>
          <p:cNvSpPr/>
          <p:nvPr/>
        </p:nvSpPr>
        <p:spPr>
          <a:xfrm>
            <a:off x="502920" y="134424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2DCC70"/>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404" name=""/>
          <p:cNvSpPr txBox="1"/>
          <p:nvPr/>
        </p:nvSpPr>
        <p:spPr>
          <a:xfrm>
            <a:off x="548640" y="1362600"/>
            <a:ext cx="411480" cy="471600"/>
          </a:xfrm>
          <a:prstGeom prst="rect">
            <a:avLst/>
          </a:prstGeom>
          <a:noFill/>
          <a:ln w="0">
            <a:noFill/>
          </a:ln>
        </p:spPr>
        <p:txBody>
          <a:bodyPr lIns="90000" tIns="45000" rIns="90000" bIns="45000" anchor="t">
            <a:spAutoFit/>
          </a:bodyPr>
          <a:p>
            <a:pPr algn="ctr" rtl="1"/>
            <a:r>
              <a:rPr lang="en-US" sz="2200" b="1" u="none" strike="noStrike">
                <a:solidFill>
                  <a:srgbClr val="FFFFFF"/>
                </a:solidFill>
                <a:effectLst/>
                <a:uFillTx/>
                <a:latin typeface="Helvetica-Bold"/>
                <a:ea typeface="Helvetica-Bold"/>
              </a:rPr>
              <a:t>✓</a:t>
            </a:r>
            <a:endParaRPr lang="en-US" sz="2200" b="0" u="none" strike="noStrike">
              <a:solidFill>
                <a:srgbClr val="000000"/>
              </a:solidFill>
              <a:effectLst/>
              <a:uFillTx/>
              <a:latin typeface="Arial"/>
            </a:endParaRPr>
          </a:p>
        </p:txBody>
      </p:sp>
      <p:sp>
        <p:nvSpPr>
          <p:cNvPr id="405" name=""/>
          <p:cNvSpPr txBox="1"/>
          <p:nvPr/>
        </p:nvSpPr>
        <p:spPr>
          <a:xfrm>
            <a:off x="1188720" y="1307520"/>
            <a:ext cx="10424160" cy="311040"/>
          </a:xfrm>
          <a:prstGeom prst="rect">
            <a:avLst/>
          </a:prstGeom>
          <a:noFill/>
          <a:ln w="0">
            <a:noFill/>
          </a:ln>
        </p:spPr>
        <p:txBody>
          <a:bodyPr lIns="90000" tIns="45000" rIns="90000" bIns="45000" anchor="t">
            <a:spAutoFit/>
          </a:bodyPr>
          <a:p>
            <a:r>
              <a:rPr lang="en-US" sz="1500" b="1" u="none" strike="noStrike">
                <a:solidFill>
                  <a:srgbClr val="2DCC70"/>
                </a:solidFill>
                <a:effectLst/>
                <a:uFillTx/>
                <a:latin typeface="Calibri-Bold"/>
                <a:ea typeface="Calibri-Bold"/>
              </a:rPr>
              <a:t>Un vrai problème industriel</a:t>
            </a:r>
            <a:endParaRPr lang="en-US" sz="1500" b="0" u="none" strike="noStrike">
              <a:solidFill>
                <a:srgbClr val="000000"/>
              </a:solidFill>
              <a:effectLst/>
              <a:uFillTx/>
              <a:latin typeface="Arial"/>
            </a:endParaRPr>
          </a:p>
        </p:txBody>
      </p:sp>
      <p:sp>
        <p:nvSpPr>
          <p:cNvPr id="406" name=""/>
          <p:cNvSpPr txBox="1"/>
          <p:nvPr/>
        </p:nvSpPr>
        <p:spPr>
          <a:xfrm>
            <a:off x="1188720" y="1636920"/>
            <a:ext cx="10424160" cy="60336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Le dispatch économique gère l'électricité de millions de foyers chaque jour. Gagner 1% = économies énormes. C'est le bon terrain pour la PPC</a:t>
            </a:r>
            <a:r>
              <a:rPr lang="en-US" sz="1300" b="0" u="none" strike="noStrike">
                <a:solidFill>
                  <a:srgbClr val="CCCCCC"/>
                </a:solidFill>
                <a:effectLst/>
                <a:uFillTx/>
                <a:latin typeface="Calibri"/>
                <a:ea typeface="Calibri"/>
              </a:rPr>
              <a:t>.</a:t>
            </a:r>
            <a:endParaRPr lang="en-US" sz="1300" b="0" u="none" strike="noStrike">
              <a:solidFill>
                <a:srgbClr val="000000"/>
              </a:solidFill>
              <a:effectLst/>
              <a:uFillTx/>
              <a:latin typeface="Arial"/>
            </a:endParaRPr>
          </a:p>
        </p:txBody>
      </p:sp>
      <p:sp>
        <p:nvSpPr>
          <p:cNvPr id="407" name=""/>
          <p:cNvSpPr/>
          <p:nvPr/>
        </p:nvSpPr>
        <p:spPr>
          <a:xfrm>
            <a:off x="365760" y="2423160"/>
            <a:ext cx="11430360" cy="1097640"/>
          </a:xfrm>
          <a:custGeom>
            <a:avLst/>
            <a:gdLst/>
            <a:ahLst/>
            <a:rect l="0" t="0" r="r" b="b"/>
            <a:pathLst>
              <a:path w="31751" h="3049">
                <a:moveTo>
                  <a:pt x="0" y="0"/>
                </a:moveTo>
                <a:lnTo>
                  <a:pt x="31751" y="0"/>
                </a:lnTo>
                <a:lnTo>
                  <a:pt x="31751" y="3049"/>
                </a:lnTo>
                <a:lnTo>
                  <a:pt x="0" y="304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408" name=""/>
          <p:cNvSpPr/>
          <p:nvPr/>
        </p:nvSpPr>
        <p:spPr>
          <a:xfrm>
            <a:off x="365760" y="2423160"/>
            <a:ext cx="55080" cy="1097640"/>
          </a:xfrm>
          <a:custGeom>
            <a:avLst/>
            <a:gdLst/>
            <a:ahLst/>
            <a:rect l="0" t="0" r="r" b="b"/>
            <a:pathLst>
              <a:path w="153" h="3049">
                <a:moveTo>
                  <a:pt x="0" y="0"/>
                </a:moveTo>
                <a:lnTo>
                  <a:pt x="153" y="0"/>
                </a:lnTo>
                <a:lnTo>
                  <a:pt x="153" y="3049"/>
                </a:lnTo>
                <a:lnTo>
                  <a:pt x="0" y="3049"/>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409" name=""/>
          <p:cNvSpPr/>
          <p:nvPr/>
        </p:nvSpPr>
        <p:spPr>
          <a:xfrm>
            <a:off x="502920" y="253296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00B4D8"/>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410" name=""/>
          <p:cNvSpPr txBox="1"/>
          <p:nvPr/>
        </p:nvSpPr>
        <p:spPr>
          <a:xfrm>
            <a:off x="548640" y="2551320"/>
            <a:ext cx="411480" cy="471600"/>
          </a:xfrm>
          <a:prstGeom prst="rect">
            <a:avLst/>
          </a:prstGeom>
          <a:noFill/>
          <a:ln w="0">
            <a:noFill/>
          </a:ln>
        </p:spPr>
        <p:txBody>
          <a:bodyPr lIns="90000" tIns="45000" rIns="90000" bIns="45000" anchor="t">
            <a:spAutoFit/>
          </a:bodyPr>
          <a:p>
            <a:pPr algn="ctr" rtl="1"/>
            <a:r>
              <a:rPr lang="en-US" sz="2200" b="1" u="none" strike="noStrike">
                <a:solidFill>
                  <a:srgbClr val="FFFFFF"/>
                </a:solidFill>
                <a:effectLst/>
                <a:uFillTx/>
                <a:latin typeface="Helvetica-Bold"/>
                <a:ea typeface="Helvetica-Bold"/>
              </a:rPr>
              <a:t>✓</a:t>
            </a:r>
            <a:endParaRPr lang="en-US" sz="2200" b="0" u="none" strike="noStrike">
              <a:solidFill>
                <a:srgbClr val="000000"/>
              </a:solidFill>
              <a:effectLst/>
              <a:uFillTx/>
              <a:latin typeface="Arial"/>
            </a:endParaRPr>
          </a:p>
        </p:txBody>
      </p:sp>
      <p:sp>
        <p:nvSpPr>
          <p:cNvPr id="411" name=""/>
          <p:cNvSpPr txBox="1"/>
          <p:nvPr/>
        </p:nvSpPr>
        <p:spPr>
          <a:xfrm>
            <a:off x="1188720" y="2496240"/>
            <a:ext cx="10424160" cy="311040"/>
          </a:xfrm>
          <a:prstGeom prst="rect">
            <a:avLst/>
          </a:prstGeom>
          <a:noFill/>
          <a:ln w="0">
            <a:noFill/>
          </a:ln>
        </p:spPr>
        <p:txBody>
          <a:bodyPr lIns="90000" tIns="45000" rIns="90000" bIns="45000" anchor="t">
            <a:spAutoFit/>
          </a:bodyPr>
          <a:p>
            <a:r>
              <a:rPr lang="en-US" sz="1500" b="1" u="none" strike="noStrike">
                <a:solidFill>
                  <a:srgbClr val="00B4D8"/>
                </a:solidFill>
                <a:effectLst/>
                <a:uFillTx/>
                <a:latin typeface="Calibri-Bold"/>
                <a:ea typeface="Calibri-Bold"/>
              </a:rPr>
              <a:t>La programmation par contraintes, c'est adapté</a:t>
            </a:r>
            <a:endParaRPr lang="en-US" sz="1500" b="0" u="none" strike="noStrike">
              <a:solidFill>
                <a:srgbClr val="000000"/>
              </a:solidFill>
              <a:effectLst/>
              <a:uFillTx/>
              <a:latin typeface="Arial"/>
            </a:endParaRPr>
          </a:p>
        </p:txBody>
      </p:sp>
      <p:sp>
        <p:nvSpPr>
          <p:cNvPr id="412" name=""/>
          <p:cNvSpPr txBox="1"/>
          <p:nvPr/>
        </p:nvSpPr>
        <p:spPr>
          <a:xfrm>
            <a:off x="1188720" y="2825640"/>
            <a:ext cx="10424160" cy="60336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CP-SAT (OR-Tools) gère naturellement les variables binaires (ON/OFF), les contraintes physiques, et optimise un objectif numérique. Tout en un</a:t>
            </a:r>
            <a:r>
              <a:rPr lang="en-US" sz="1300" b="0" u="none" strike="noStrike">
                <a:solidFill>
                  <a:srgbClr val="CCCCCC"/>
                </a:solidFill>
                <a:effectLst/>
                <a:uFillTx/>
                <a:latin typeface="Calibri"/>
                <a:ea typeface="Calibri"/>
              </a:rPr>
              <a:t>.</a:t>
            </a:r>
            <a:endParaRPr lang="en-US" sz="1300" b="0" u="none" strike="noStrike">
              <a:solidFill>
                <a:srgbClr val="000000"/>
              </a:solidFill>
              <a:effectLst/>
              <a:uFillTx/>
              <a:latin typeface="Arial"/>
            </a:endParaRPr>
          </a:p>
        </p:txBody>
      </p:sp>
      <p:sp>
        <p:nvSpPr>
          <p:cNvPr id="413" name=""/>
          <p:cNvSpPr/>
          <p:nvPr/>
        </p:nvSpPr>
        <p:spPr>
          <a:xfrm>
            <a:off x="365760" y="3611880"/>
            <a:ext cx="11430360" cy="1097640"/>
          </a:xfrm>
          <a:custGeom>
            <a:avLst/>
            <a:gdLst/>
            <a:ahLst/>
            <a:rect l="0" t="0" r="r" b="b"/>
            <a:pathLst>
              <a:path w="31751" h="3049">
                <a:moveTo>
                  <a:pt x="0" y="0"/>
                </a:moveTo>
                <a:lnTo>
                  <a:pt x="31751" y="0"/>
                </a:lnTo>
                <a:lnTo>
                  <a:pt x="31751" y="3049"/>
                </a:lnTo>
                <a:lnTo>
                  <a:pt x="0" y="304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414" name=""/>
          <p:cNvSpPr/>
          <p:nvPr/>
        </p:nvSpPr>
        <p:spPr>
          <a:xfrm>
            <a:off x="365760" y="3611880"/>
            <a:ext cx="55080" cy="1097640"/>
          </a:xfrm>
          <a:custGeom>
            <a:avLst/>
            <a:gdLst/>
            <a:ahLst/>
            <a:rect l="0" t="0" r="r" b="b"/>
            <a:pathLst>
              <a:path w="153" h="3049">
                <a:moveTo>
                  <a:pt x="0" y="0"/>
                </a:moveTo>
                <a:lnTo>
                  <a:pt x="153" y="0"/>
                </a:lnTo>
                <a:lnTo>
                  <a:pt x="153" y="3049"/>
                </a:lnTo>
                <a:lnTo>
                  <a:pt x="0" y="3049"/>
                </a:lnTo>
                <a:lnTo>
                  <a:pt x="0" y="0"/>
                </a:lnTo>
                <a:close/>
              </a:path>
            </a:pathLst>
          </a:custGeom>
          <a:solidFill>
            <a:srgbClr val="F39C11"/>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415" name=""/>
          <p:cNvSpPr/>
          <p:nvPr/>
        </p:nvSpPr>
        <p:spPr>
          <a:xfrm>
            <a:off x="502920" y="372168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F39C11"/>
          </a:solidFill>
          <a:ln w="0">
            <a:noFill/>
          </a:ln>
        </p:spPr>
        <p:txBody>
          <a:bodyPr lIns="90000" tIns="45000" rIns="90000" bIns="45000" anchor="t">
            <a:noAutofit/>
          </a:bodyPr>
          <a:p>
            <a:endParaRPr lang="en-US" sz="1800" b="0" u="none" strike="noStrike">
              <a:solidFill>
                <a:srgbClr val="000000"/>
              </a:solidFill>
              <a:effectLst/>
              <a:uFillTx/>
              <a:latin typeface="Arial"/>
            </a:endParaRPr>
          </a:p>
        </p:txBody>
      </p:sp>
      <p:sp>
        <p:nvSpPr>
          <p:cNvPr id="416" name=""/>
          <p:cNvSpPr txBox="1"/>
          <p:nvPr/>
        </p:nvSpPr>
        <p:spPr>
          <a:xfrm>
            <a:off x="548640" y="3740040"/>
            <a:ext cx="411480" cy="471600"/>
          </a:xfrm>
          <a:prstGeom prst="rect">
            <a:avLst/>
          </a:prstGeom>
          <a:noFill/>
          <a:ln w="0">
            <a:noFill/>
          </a:ln>
        </p:spPr>
        <p:txBody>
          <a:bodyPr lIns="90000" tIns="45000" rIns="90000" bIns="45000" anchor="t">
            <a:spAutoFit/>
          </a:bodyPr>
          <a:p>
            <a:pPr algn="ctr" rtl="1"/>
            <a:r>
              <a:rPr lang="en-US" sz="2200" b="1" u="none" strike="noStrike">
                <a:solidFill>
                  <a:srgbClr val="FFFFFF"/>
                </a:solidFill>
                <a:effectLst/>
                <a:uFillTx/>
                <a:latin typeface="Helvetica-Bold"/>
                <a:ea typeface="Helvetica-Bold"/>
              </a:rPr>
              <a:t>✓</a:t>
            </a:r>
            <a:endParaRPr lang="en-US" sz="2200" b="0" u="none" strike="noStrike">
              <a:solidFill>
                <a:srgbClr val="000000"/>
              </a:solidFill>
              <a:effectLst/>
              <a:uFillTx/>
              <a:latin typeface="Arial"/>
            </a:endParaRPr>
          </a:p>
        </p:txBody>
      </p:sp>
      <p:sp>
        <p:nvSpPr>
          <p:cNvPr id="417" name=""/>
          <p:cNvSpPr txBox="1"/>
          <p:nvPr/>
        </p:nvSpPr>
        <p:spPr>
          <a:xfrm>
            <a:off x="1188720" y="3684960"/>
            <a:ext cx="10424160" cy="311040"/>
          </a:xfrm>
          <a:prstGeom prst="rect">
            <a:avLst/>
          </a:prstGeom>
          <a:noFill/>
          <a:ln w="0">
            <a:noFill/>
          </a:ln>
        </p:spPr>
        <p:txBody>
          <a:bodyPr lIns="90000" tIns="45000" rIns="90000" bIns="45000" anchor="t">
            <a:spAutoFit/>
          </a:bodyPr>
          <a:p>
            <a:r>
              <a:rPr lang="en-US" sz="1500" b="1" u="none" strike="noStrike">
                <a:solidFill>
                  <a:srgbClr val="F39C11"/>
                </a:solidFill>
                <a:effectLst/>
                <a:uFillTx/>
                <a:latin typeface="Calibri-Bold"/>
                <a:ea typeface="Calibri-Bold"/>
              </a:rPr>
              <a:t>Les contraintes, c'est ce qui rend le problème réaliste</a:t>
            </a:r>
            <a:endParaRPr lang="en-US" sz="1500" b="0" u="none" strike="noStrike">
              <a:solidFill>
                <a:srgbClr val="000000"/>
              </a:solidFill>
              <a:effectLst/>
              <a:uFillTx/>
              <a:latin typeface="Arial"/>
            </a:endParaRPr>
          </a:p>
        </p:txBody>
      </p:sp>
      <p:sp>
        <p:nvSpPr>
          <p:cNvPr id="418" name=""/>
          <p:cNvSpPr txBox="1"/>
          <p:nvPr/>
        </p:nvSpPr>
        <p:spPr>
          <a:xfrm>
            <a:off x="1188720" y="4014360"/>
            <a:ext cx="10424160" cy="60336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Sans min up-time, sans rampes, sans capacité de lignes : le problème est trivial. Ces contraintes capturent la vraie complexité du monde réel</a:t>
            </a:r>
            <a:r>
              <a:rPr lang="en-US" sz="1300" b="0" u="none" strike="noStrike">
                <a:solidFill>
                  <a:srgbClr val="CCCCCC"/>
                </a:solidFill>
                <a:effectLst/>
                <a:uFillTx/>
                <a:latin typeface="Calibri"/>
                <a:ea typeface="Calibri"/>
              </a:rPr>
              <a:t>.</a:t>
            </a:r>
            <a:endParaRPr lang="en-US" sz="1300" b="0" u="none" strike="noStrike">
              <a:solidFill>
                <a:srgbClr val="000000"/>
              </a:solidFill>
              <a:effectLst/>
              <a:uFillTx/>
              <a:latin typeface="Arial"/>
            </a:endParaRPr>
          </a:p>
        </p:txBody>
      </p:sp>
      <p:sp>
        <p:nvSpPr>
          <p:cNvPr id="419" name=""/>
          <p:cNvSpPr/>
          <p:nvPr/>
        </p:nvSpPr>
        <p:spPr>
          <a:xfrm>
            <a:off x="365760" y="4800600"/>
            <a:ext cx="11430360" cy="1097640"/>
          </a:xfrm>
          <a:custGeom>
            <a:avLst/>
            <a:gdLst/>
            <a:ahLst/>
            <a:rect l="0" t="0" r="r" b="b"/>
            <a:pathLst>
              <a:path w="31751" h="3049">
                <a:moveTo>
                  <a:pt x="0" y="0"/>
                </a:moveTo>
                <a:lnTo>
                  <a:pt x="31751" y="0"/>
                </a:lnTo>
                <a:lnTo>
                  <a:pt x="31751" y="3049"/>
                </a:lnTo>
                <a:lnTo>
                  <a:pt x="0" y="3049"/>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420" name=""/>
          <p:cNvSpPr/>
          <p:nvPr/>
        </p:nvSpPr>
        <p:spPr>
          <a:xfrm>
            <a:off x="365760" y="4800600"/>
            <a:ext cx="55080" cy="1097640"/>
          </a:xfrm>
          <a:custGeom>
            <a:avLst/>
            <a:gdLst/>
            <a:ahLst/>
            <a:rect l="0" t="0" r="r" b="b"/>
            <a:pathLst>
              <a:path w="153" h="3049">
                <a:moveTo>
                  <a:pt x="0" y="0"/>
                </a:moveTo>
                <a:lnTo>
                  <a:pt x="153" y="0"/>
                </a:lnTo>
                <a:lnTo>
                  <a:pt x="153" y="3049"/>
                </a:lnTo>
                <a:lnTo>
                  <a:pt x="0" y="3049"/>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421" name=""/>
          <p:cNvSpPr/>
          <p:nvPr/>
        </p:nvSpPr>
        <p:spPr>
          <a:xfrm>
            <a:off x="502920" y="4910400"/>
            <a:ext cx="503280" cy="503280"/>
          </a:xfrm>
          <a:custGeom>
            <a:avLst/>
            <a:gdLst/>
            <a:ahLst/>
            <a:rect l="0" t="0" r="r" b="b"/>
            <a:pathLst>
              <a:path w="1398" h="1398">
                <a:moveTo>
                  <a:pt x="0" y="0"/>
                </a:moveTo>
                <a:lnTo>
                  <a:pt x="1398" y="0"/>
                </a:lnTo>
                <a:lnTo>
                  <a:pt x="1398" y="1398"/>
                </a:lnTo>
                <a:lnTo>
                  <a:pt x="0" y="1398"/>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422" name=""/>
          <p:cNvSpPr txBox="1"/>
          <p:nvPr/>
        </p:nvSpPr>
        <p:spPr>
          <a:xfrm>
            <a:off x="548640" y="4928760"/>
            <a:ext cx="411480" cy="471600"/>
          </a:xfrm>
          <a:prstGeom prst="rect">
            <a:avLst/>
          </a:prstGeom>
          <a:noFill/>
          <a:ln w="0">
            <a:noFill/>
          </a:ln>
        </p:spPr>
        <p:txBody>
          <a:bodyPr lIns="90000" tIns="45000" rIns="90000" bIns="45000" anchor="t">
            <a:spAutoFit/>
          </a:bodyPr>
          <a:p>
            <a:pPr algn="ctr" rtl="1"/>
            <a:r>
              <a:rPr lang="en-US" sz="2200" b="1" u="none" strike="noStrike">
                <a:solidFill>
                  <a:srgbClr val="FFFFFF"/>
                </a:solidFill>
                <a:effectLst/>
                <a:uFillTx/>
                <a:latin typeface="Helvetica-Bold"/>
                <a:ea typeface="Helvetica-Bold"/>
              </a:rPr>
              <a:t>✓</a:t>
            </a:r>
            <a:endParaRPr lang="en-US" sz="2200" b="0" u="none" strike="noStrike">
              <a:solidFill>
                <a:srgbClr val="000000"/>
              </a:solidFill>
              <a:effectLst/>
              <a:uFillTx/>
              <a:latin typeface="Arial"/>
            </a:endParaRPr>
          </a:p>
        </p:txBody>
      </p:sp>
      <p:sp>
        <p:nvSpPr>
          <p:cNvPr id="423" name=""/>
          <p:cNvSpPr txBox="1"/>
          <p:nvPr/>
        </p:nvSpPr>
        <p:spPr>
          <a:xfrm>
            <a:off x="1188720" y="4873680"/>
            <a:ext cx="10424160" cy="311040"/>
          </a:xfrm>
          <a:prstGeom prst="rect">
            <a:avLst/>
          </a:prstGeom>
          <a:noFill/>
          <a:ln w="0">
            <a:noFill/>
          </a:ln>
        </p:spPr>
        <p:txBody>
          <a:bodyPr lIns="90000" tIns="45000" rIns="90000" bIns="45000" anchor="t">
            <a:spAutoFit/>
          </a:bodyPr>
          <a:p>
            <a:r>
              <a:rPr lang="en-US" sz="1500" b="1" u="none" strike="noStrike">
                <a:solidFill>
                  <a:srgbClr val="E86916"/>
                </a:solidFill>
                <a:effectLst/>
                <a:uFillTx/>
                <a:latin typeface="Calibri-Bold"/>
                <a:ea typeface="Calibri-Bold"/>
              </a:rPr>
              <a:t>L'incertitude, on peut la gérer</a:t>
            </a:r>
            <a:endParaRPr lang="en-US" sz="1500" b="0" u="none" strike="noStrike">
              <a:solidFill>
                <a:srgbClr val="000000"/>
              </a:solidFill>
              <a:effectLst/>
              <a:uFillTx/>
              <a:latin typeface="Arial"/>
            </a:endParaRPr>
          </a:p>
        </p:txBody>
      </p:sp>
      <p:sp>
        <p:nvSpPr>
          <p:cNvPr id="424" name=""/>
          <p:cNvSpPr txBox="1"/>
          <p:nvPr/>
        </p:nvSpPr>
        <p:spPr>
          <a:xfrm>
            <a:off x="1188720" y="5203080"/>
            <a:ext cx="10424160" cy="603360"/>
          </a:xfrm>
          <a:prstGeom prst="rect">
            <a:avLst/>
          </a:prstGeom>
          <a:noFill/>
          <a:ln w="0">
            <a:noFill/>
          </a:ln>
        </p:spPr>
        <p:txBody>
          <a:bodyPr lIns="90000" tIns="45000" rIns="90000" bIns="45000" anchor="t">
            <a:spAutoFit/>
          </a:bodyPr>
          <a:p>
            <a:r>
              <a:rPr lang="en-US" sz="1300" b="0" u="none" strike="noStrike">
                <a:solidFill>
                  <a:srgbClr val="CCCCCC"/>
                </a:solidFill>
                <a:effectLst/>
                <a:uFillTx/>
                <a:latin typeface="Calibri"/>
                <a:ea typeface="Calibri"/>
              </a:rPr>
              <a:t>Le modèle stochastique à 2 étapes permet de planifier malgré l'incertitude. Surcoût : ~2.5%. Bénéfice : plus de pannes imprévues</a:t>
            </a:r>
            <a:r>
              <a:rPr lang="en-US" sz="1300" b="0" u="none" strike="noStrike">
                <a:solidFill>
                  <a:srgbClr val="CCCCCC"/>
                </a:solidFill>
                <a:effectLst/>
                <a:uFillTx/>
                <a:latin typeface="Calibri"/>
                <a:ea typeface="Calibri"/>
              </a:rPr>
              <a:t>.</a:t>
            </a:r>
            <a:endParaRPr lang="en-US" sz="1300" b="0" u="none" strike="noStrike">
              <a:solidFill>
                <a:srgbClr val="000000"/>
              </a:solidFill>
              <a:effectLst/>
              <a:uFillTx/>
              <a:latin typeface="Arial"/>
            </a:endParaRPr>
          </a:p>
        </p:txBody>
      </p:sp>
      <p:sp>
        <p:nvSpPr>
          <p:cNvPr id="425" name=""/>
          <p:cNvSpPr/>
          <p:nvPr/>
        </p:nvSpPr>
        <p:spPr>
          <a:xfrm>
            <a:off x="365760" y="6035040"/>
            <a:ext cx="11430360" cy="503280"/>
          </a:xfrm>
          <a:custGeom>
            <a:avLst/>
            <a:gdLst/>
            <a:ahLst/>
            <a:rect l="0" t="0" r="r" b="b"/>
            <a:pathLst>
              <a:path w="31751" h="1398">
                <a:moveTo>
                  <a:pt x="0" y="0"/>
                </a:moveTo>
                <a:lnTo>
                  <a:pt x="31751" y="0"/>
                </a:lnTo>
                <a:lnTo>
                  <a:pt x="31751" y="1398"/>
                </a:lnTo>
                <a:lnTo>
                  <a:pt x="0" y="1398"/>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426" name=""/>
          <p:cNvSpPr/>
          <p:nvPr/>
        </p:nvSpPr>
        <p:spPr>
          <a:xfrm>
            <a:off x="365760" y="6035040"/>
            <a:ext cx="55080" cy="503280"/>
          </a:xfrm>
          <a:custGeom>
            <a:avLst/>
            <a:gdLst/>
            <a:ahLst/>
            <a:rect l="0" t="0" r="r" b="b"/>
            <a:pathLst>
              <a:path w="153" h="1398">
                <a:moveTo>
                  <a:pt x="0" y="0"/>
                </a:moveTo>
                <a:lnTo>
                  <a:pt x="153" y="0"/>
                </a:lnTo>
                <a:lnTo>
                  <a:pt x="153" y="1398"/>
                </a:lnTo>
                <a:lnTo>
                  <a:pt x="0" y="1398"/>
                </a:lnTo>
                <a:lnTo>
                  <a:pt x="0" y="0"/>
                </a:lnTo>
                <a:close/>
              </a:path>
            </a:pathLst>
          </a:custGeom>
          <a:solidFill>
            <a:srgbClr val="E86916"/>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427" name=""/>
          <p:cNvSpPr txBox="1"/>
          <p:nvPr/>
        </p:nvSpPr>
        <p:spPr>
          <a:xfrm>
            <a:off x="594360" y="6053400"/>
            <a:ext cx="11064240" cy="438840"/>
          </a:xfrm>
          <a:prstGeom prst="rect">
            <a:avLst/>
          </a:prstGeom>
          <a:noFill/>
          <a:ln w="0">
            <a:noFill/>
          </a:ln>
        </p:spPr>
        <p:txBody>
          <a:bodyPr lIns="90000" tIns="45000" rIns="90000" bIns="45000" anchor="t">
            <a:spAutoFit/>
          </a:bodyPr>
          <a:p>
            <a:r>
              <a:rPr lang="en-US" sz="1300" b="1" u="none" strike="noStrike">
                <a:solidFill>
                  <a:srgbClr val="FFFFFF"/>
                </a:solidFill>
                <a:effectLst/>
                <a:uFillTx/>
                <a:latin typeface="Calibri-Bold"/>
                <a:ea typeface="Calibri-Bold"/>
              </a:rPr>
              <a:t>En bref : 3 solveurs imbriqués (ED → UC → SUC) · OR-Tools CP-SAT · &lt; 2 min · gap &lt; 2% · 3 réseaux validés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8" name=""/>
          <p:cNvSpPr/>
          <p:nvPr/>
        </p:nvSpPr>
        <p:spPr>
          <a:xfrm>
            <a:off x="0" y="0"/>
            <a:ext cx="12189240" cy="6858360"/>
          </a:xfrm>
          <a:custGeom>
            <a:avLst/>
            <a:gdLst/>
            <a:ahLst/>
            <a:rect l="0" t="0" r="r" b="b"/>
            <a:pathLst>
              <a:path w="33859" h="19051">
                <a:moveTo>
                  <a:pt x="0" y="0"/>
                </a:moveTo>
                <a:lnTo>
                  <a:pt x="33859" y="0"/>
                </a:lnTo>
                <a:lnTo>
                  <a:pt x="33859" y="19051"/>
                </a:lnTo>
                <a:lnTo>
                  <a:pt x="0" y="19051"/>
                </a:lnTo>
                <a:lnTo>
                  <a:pt x="0" y="0"/>
                </a:lnTo>
                <a:close/>
              </a:path>
            </a:pathLst>
          </a:custGeom>
          <a:solidFill>
            <a:srgbClr val="19192D"/>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429" name=""/>
          <p:cNvSpPr/>
          <p:nvPr/>
        </p:nvSpPr>
        <p:spPr>
          <a:xfrm>
            <a:off x="0" y="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430" name=""/>
          <p:cNvSpPr/>
          <p:nvPr/>
        </p:nvSpPr>
        <p:spPr>
          <a:xfrm>
            <a:off x="0" y="6793920"/>
            <a:ext cx="12189240" cy="64440"/>
          </a:xfrm>
          <a:custGeom>
            <a:avLst/>
            <a:gdLst/>
            <a:ahLst/>
            <a:rect l="0" t="0" r="r" b="b"/>
            <a:pathLst>
              <a:path w="33859" h="179">
                <a:moveTo>
                  <a:pt x="0" y="0"/>
                </a:moveTo>
                <a:lnTo>
                  <a:pt x="33859" y="0"/>
                </a:lnTo>
                <a:lnTo>
                  <a:pt x="33859" y="179"/>
                </a:lnTo>
                <a:lnTo>
                  <a:pt x="0" y="179"/>
                </a:lnTo>
                <a:lnTo>
                  <a:pt x="0" y="0"/>
                </a:lnTo>
                <a:close/>
              </a:path>
            </a:pathLst>
          </a:custGeom>
          <a:solidFill>
            <a:srgbClr val="E86916"/>
          </a:solidFill>
          <a:ln w="0">
            <a:noFill/>
          </a:ln>
        </p:spPr>
        <p:txBody>
          <a:bodyPr lIns="90000" tIns="19440" rIns="90000" bIns="19440" anchor="t">
            <a:noAutofit/>
          </a:bodyPr>
          <a:p>
            <a:endParaRPr lang="en-US" sz="1800" b="0" u="none" strike="noStrike">
              <a:solidFill>
                <a:srgbClr val="FFFFFF"/>
              </a:solidFill>
              <a:effectLst/>
              <a:uFillTx/>
              <a:latin typeface="Arial"/>
            </a:endParaRPr>
          </a:p>
        </p:txBody>
      </p:sp>
      <p:sp>
        <p:nvSpPr>
          <p:cNvPr id="431" name=""/>
          <p:cNvSpPr/>
          <p:nvPr/>
        </p:nvSpPr>
        <p:spPr>
          <a:xfrm>
            <a:off x="8686800" y="1371600"/>
            <a:ext cx="4572000" cy="4572000"/>
          </a:xfrm>
          <a:custGeom>
            <a:avLst/>
            <a:gdLst/>
            <a:ahLst/>
            <a:rect l="0" t="0" r="r" b="b"/>
            <a:pathLst>
              <a:path w="12700" h="12700">
                <a:moveTo>
                  <a:pt x="10841" y="1859"/>
                </a:moveTo>
                <a:cubicBezTo>
                  <a:pt x="13320" y="4339"/>
                  <a:pt x="13320" y="8361"/>
                  <a:pt x="10841" y="10841"/>
                </a:cubicBezTo>
                <a:cubicBezTo>
                  <a:pt x="8361" y="13320"/>
                  <a:pt x="4339" y="13320"/>
                  <a:pt x="1859" y="10841"/>
                </a:cubicBezTo>
                <a:cubicBezTo>
                  <a:pt x="-619" y="8361"/>
                  <a:pt x="-619" y="4339"/>
                  <a:pt x="1859" y="1859"/>
                </a:cubicBezTo>
                <a:cubicBezTo>
                  <a:pt x="4339" y="-619"/>
                  <a:pt x="8361" y="-619"/>
                  <a:pt x="10841" y="1859"/>
                </a:cubicBez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432" name=""/>
          <p:cNvSpPr txBox="1"/>
          <p:nvPr/>
        </p:nvSpPr>
        <p:spPr>
          <a:xfrm>
            <a:off x="960120" y="1371600"/>
            <a:ext cx="9966960" cy="1645920"/>
          </a:xfrm>
          <a:prstGeom prst="rect">
            <a:avLst/>
          </a:prstGeom>
          <a:noFill/>
          <a:ln w="0">
            <a:noFill/>
          </a:ln>
        </p:spPr>
        <p:txBody>
          <a:bodyPr lIns="90000" tIns="45000" rIns="90000" bIns="45000" anchor="t">
            <a:spAutoFit/>
          </a:bodyPr>
          <a:p>
            <a:pPr algn="ctr" rtl="1"/>
            <a:r>
              <a:rPr lang="en-US" sz="7200" b="1" u="none" strike="noStrike">
                <a:solidFill>
                  <a:srgbClr val="FFFFFF"/>
                </a:solidFill>
                <a:effectLst/>
                <a:uFillTx/>
                <a:latin typeface="Calibri-Bold"/>
                <a:ea typeface="Calibri-Bold"/>
              </a:rPr>
              <a:t>Questions</a:t>
            </a:r>
            <a:r>
              <a:rPr lang="en-US" sz="7200" b="1" u="none" strike="noStrike">
                <a:solidFill>
                  <a:srgbClr val="FFFFFF"/>
                </a:solidFill>
                <a:effectLst/>
                <a:uFillTx/>
                <a:latin typeface="Calibri-Bold"/>
                <a:ea typeface="Calibri-Bold"/>
              </a:rPr>
              <a:t> ?</a:t>
            </a:r>
            <a:endParaRPr lang="en-US" sz="7200" b="0" u="none" strike="noStrike">
              <a:solidFill>
                <a:srgbClr val="000000"/>
              </a:solidFill>
              <a:effectLst/>
              <a:uFillTx/>
              <a:latin typeface="Arial"/>
            </a:endParaRPr>
          </a:p>
        </p:txBody>
      </p:sp>
      <p:sp>
        <p:nvSpPr>
          <p:cNvPr id="433" name=""/>
          <p:cNvSpPr/>
          <p:nvPr/>
        </p:nvSpPr>
        <p:spPr>
          <a:xfrm>
            <a:off x="2286000" y="3108960"/>
            <a:ext cx="7589880" cy="55080"/>
          </a:xfrm>
          <a:custGeom>
            <a:avLst/>
            <a:gdLst/>
            <a:ahLst/>
            <a:rect l="0" t="0" r="r" b="b"/>
            <a:pathLst>
              <a:path w="21083" h="153">
                <a:moveTo>
                  <a:pt x="0" y="0"/>
                </a:moveTo>
                <a:lnTo>
                  <a:pt x="21083" y="0"/>
                </a:lnTo>
                <a:lnTo>
                  <a:pt x="21083" y="153"/>
                </a:lnTo>
                <a:lnTo>
                  <a:pt x="0" y="153"/>
                </a:lnTo>
                <a:lnTo>
                  <a:pt x="0" y="0"/>
                </a:lnTo>
                <a:close/>
              </a:path>
            </a:pathLst>
          </a:custGeom>
          <a:solidFill>
            <a:srgbClr val="00B4D8"/>
          </a:solidFill>
          <a:ln w="0">
            <a:noFill/>
          </a:ln>
        </p:spPr>
        <p:txBody>
          <a:bodyPr lIns="90000" tIns="10080" rIns="90000" bIns="10080" anchor="t">
            <a:noAutofit/>
          </a:bodyPr>
          <a:p>
            <a:endParaRPr lang="en-US" sz="1800" b="0" u="none" strike="noStrike">
              <a:solidFill>
                <a:srgbClr val="000000"/>
              </a:solidFill>
              <a:effectLst/>
              <a:uFillTx/>
              <a:latin typeface="Arial"/>
            </a:endParaRPr>
          </a:p>
        </p:txBody>
      </p:sp>
      <p:sp>
        <p:nvSpPr>
          <p:cNvPr id="434" name=""/>
          <p:cNvSpPr txBox="1"/>
          <p:nvPr/>
        </p:nvSpPr>
        <p:spPr>
          <a:xfrm>
            <a:off x="960120" y="3291840"/>
            <a:ext cx="9966960" cy="548640"/>
          </a:xfrm>
          <a:prstGeom prst="rect">
            <a:avLst/>
          </a:prstGeom>
          <a:noFill/>
          <a:ln w="0">
            <a:noFill/>
          </a:ln>
        </p:spPr>
        <p:txBody>
          <a:bodyPr lIns="90000" tIns="45000" rIns="90000" bIns="45000" anchor="t">
            <a:spAutoFit/>
          </a:bodyPr>
          <a:p>
            <a:pPr algn="ctr" rtl="1"/>
            <a:r>
              <a:rPr lang="en-US" sz="2200" b="0" i="1" u="none" strike="noStrike">
                <a:solidFill>
                  <a:srgbClr val="CCCCCC"/>
                </a:solidFill>
                <a:effectLst/>
                <a:uFillTx/>
                <a:latin typeface="Calibri-Italic"/>
                <a:ea typeface="Calibri-Italic"/>
              </a:rPr>
              <a:t>Merci pour votre attention</a:t>
            </a:r>
            <a:endParaRPr lang="en-US" sz="2200" b="0" u="none" strike="noStrike">
              <a:solidFill>
                <a:srgbClr val="000000"/>
              </a:solidFill>
              <a:effectLst/>
              <a:uFillTx/>
              <a:latin typeface="Arial"/>
            </a:endParaRPr>
          </a:p>
        </p:txBody>
      </p:sp>
      <p:sp>
        <p:nvSpPr>
          <p:cNvPr id="435" name=""/>
          <p:cNvSpPr/>
          <p:nvPr/>
        </p:nvSpPr>
        <p:spPr>
          <a:xfrm>
            <a:off x="1828800" y="4114800"/>
            <a:ext cx="8504280" cy="2103480"/>
          </a:xfrm>
          <a:custGeom>
            <a:avLst/>
            <a:gdLst/>
            <a:ahLst/>
            <a:rect l="0" t="0" r="r" b="b"/>
            <a:pathLst>
              <a:path w="23623" h="5843">
                <a:moveTo>
                  <a:pt x="0" y="0"/>
                </a:moveTo>
                <a:lnTo>
                  <a:pt x="23623" y="0"/>
                </a:lnTo>
                <a:lnTo>
                  <a:pt x="23623" y="5843"/>
                </a:lnTo>
                <a:lnTo>
                  <a:pt x="0" y="5843"/>
                </a:lnTo>
                <a:lnTo>
                  <a:pt x="0" y="0"/>
                </a:lnTo>
                <a:close/>
              </a:path>
            </a:pathLst>
          </a:custGeom>
          <a:solidFill>
            <a:srgbClr val="0E3B77"/>
          </a:solidFill>
          <a:ln w="0">
            <a:noFill/>
          </a:ln>
        </p:spPr>
        <p:txBody>
          <a:bodyPr lIns="90000" tIns="45000" rIns="90000" bIns="45000" anchor="t">
            <a:noAutofit/>
          </a:bodyPr>
          <a:p>
            <a:endParaRPr lang="en-US" sz="1800" b="0" u="none" strike="noStrike">
              <a:solidFill>
                <a:srgbClr val="FFFFFF"/>
              </a:solidFill>
              <a:effectLst/>
              <a:uFillTx/>
              <a:latin typeface="Arial"/>
            </a:endParaRPr>
          </a:p>
        </p:txBody>
      </p:sp>
      <p:sp>
        <p:nvSpPr>
          <p:cNvPr id="436" name=""/>
          <p:cNvSpPr txBox="1"/>
          <p:nvPr/>
        </p:nvSpPr>
        <p:spPr>
          <a:xfrm>
            <a:off x="2148840" y="4251960"/>
            <a:ext cx="7955280" cy="1828800"/>
          </a:xfrm>
          <a:prstGeom prst="rect">
            <a:avLst/>
          </a:prstGeom>
          <a:noFill/>
          <a:ln w="0">
            <a:noFill/>
          </a:ln>
        </p:spPr>
        <p:txBody>
          <a:bodyPr lIns="90000" tIns="45000" rIns="90000" bIns="45000" anchor="t">
            <a:spAutoFit/>
          </a:bodyPr>
          <a:p>
            <a:r>
              <a:rPr lang="en-US" sz="1500" b="0" u="none" strike="noStrike">
                <a:solidFill>
                  <a:srgbClr val="FFFFFF"/>
                </a:solidFill>
                <a:effectLst/>
                <a:uFillTx/>
                <a:latin typeface="Calibri"/>
                <a:ea typeface="Calibri"/>
              </a:rPr>
              <a:t>Démo live : jupyter notebook notebooks/demo.ipynb</a:t>
            </a:r>
            <a:endParaRPr lang="en-US" sz="1500" b="0" u="none" strike="noStrike">
              <a:solidFill>
                <a:srgbClr val="000000"/>
              </a:solidFill>
              <a:effectLst/>
              <a:uFillTx/>
              <a:latin typeface="Arial"/>
            </a:endParaRPr>
          </a:p>
          <a:p>
            <a:r>
              <a:rPr lang="en-US" sz="1500" b="0" u="none" strike="noStrike">
                <a:solidFill>
                  <a:srgbClr val="FFFFFF"/>
                </a:solidFill>
                <a:effectLst/>
                <a:uFillTx/>
                <a:latin typeface="Calibri"/>
                <a:ea typeface="Calibri"/>
              </a:rPr>
              <a:t> </a:t>
            </a:r>
            <a:r>
              <a:rPr lang="en-US" sz="1500" b="0" u="none" strike="noStrike">
                <a:solidFill>
                  <a:srgbClr val="FFFFFF"/>
                </a:solidFill>
                <a:effectLst/>
                <a:uFillTx/>
                <a:latin typeface="Calibri"/>
                <a:ea typeface="Calibri"/>
              </a:rPr>
              <a:t>Mode rapide : py main.py --fast</a:t>
            </a:r>
            <a:endParaRPr lang="en-US" sz="1500" b="0" u="none" strike="noStrike">
              <a:solidFill>
                <a:srgbClr val="000000"/>
              </a:solidFill>
              <a:effectLst/>
              <a:uFillTx/>
              <a:latin typeface="Arial"/>
            </a:endParaRPr>
          </a:p>
          <a:p>
            <a:r>
              <a:rPr lang="en-US" sz="1500" b="0" u="none" strike="noStrike">
                <a:solidFill>
                  <a:srgbClr val="FFFFFF"/>
                </a:solidFill>
                <a:effectLst/>
                <a:uFillTx/>
                <a:latin typeface="Calibri"/>
                <a:ea typeface="Calibri"/>
              </a:rPr>
              <a:t>Documentation : README.md · DOCUMENTATION.md</a:t>
            </a:r>
            <a:endParaRPr lang="en-US" sz="1500" b="0" u="none" strike="noStrike">
              <a:solidFill>
                <a:srgbClr val="000000"/>
              </a:solidFill>
              <a:effectLst/>
              <a:uFillTx/>
              <a:latin typeface="Arial"/>
            </a:endParaRPr>
          </a:p>
          <a:p>
            <a:r>
              <a:rPr lang="en-US" sz="1500" b="0" u="none" strike="noStrike">
                <a:solidFill>
                  <a:srgbClr val="FFFFFF"/>
                </a:solidFill>
                <a:effectLst/>
                <a:uFillTx/>
                <a:latin typeface="Calibri"/>
                <a:ea typeface="Calibri"/>
              </a:rPr>
              <a:t>Code source : src/  (dispatch_solver, unit_commitment, stochastic)</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