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3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609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Nous allons vous présenter notre projet de Programmation par Contraintes : la Coordination de drones par Multi-Agent Path Finding. Je suis Matteo Atkinson, et voici Paul Witkowski. Le sujet : une flotte de drones, chacun avec un départ et une cible, et on veut calculer les trajectoires qui amènent tout le monde à destination sans collision. On pose le problème, on parle des algorithmes, et ensuite démo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 un solveur Python couplé à un visualiseur 3D. On charge un scénario — une ville avec bâtiments et plusieurs drones, chacun avec son départ et sa cible — on choisit une méthode, et on visualise les trajectoires calculées. La problématique : comment coordonner N drones dans un espace partagé en garantissant l'absence de collision, et comment un solveur de contraintes généraliste comme CP-SAT se compare aux algorithmes spécialisés MAPF de la littérature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se résume en deux conflits à éviter. Conflit de sommet : deux drones ne peuvent pas être dans la même cellule au même pas de temps. Conflit d'arête, ou échange : deux drones ne peuvent pas se croiser sur la même arête en swappant leurs positions — physiquement, ils se rentrent dedans. Tout le reste découle de ces deux contraintes. C'est NP-difficile dans le cas général.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briques. Un solveur Python avec quatre algorithmes derrière une interface commune. Une API Flask qui charge les scénarios et dispatche vers la méthode choisie. Et un visualiseur 3D Three.js qui anime les drones sur leurs trajectoires. Trois briques découplées — c'est ce qui nous a permis d'itérer vite.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CP-SAT. L'approche par programmation par contraintes — celle du cours. On déclare des variables 'agent a en position p au temps t', on encode les règles comme contraintes, et OR-Tools cherche la solution. Avantages : déclaratif, optimum garanti, code lisible. Inconvénients : le nombre de contraintes scale en quadratique, donc timeout au-delà de ~8 drones sur notre scénario big_city. C'est notre baseline.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CBS — Conflict-Based Search. Idée : on planifie chaque drone tout seul avec un A* en espace-temps, puis on résout les conflits un à un. À chaque conflit, on crée deux branches — l'une interdit la cellule à l'agent A, l'autre à l'agent B — et on re-planifie. Avantages : optimal, beaucoup plus rapide que CP-SAT s'il y a peu de conflits, conceptuellement simple. Inconvénient : l'arbre peut exploser dans les couloirs étroits. Sharon et al. 2015.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ECBS — Enhanced CBS. C'est CBS, mais on remplace 'le moins cher' par 'le moins conflictuel parmi les pas trop chers'. Concrètement : on prend tous les nœuds dont le coût est dans w fois le minimum — w égal 1.3 chez nous — et on étend celui qui a le moins de conflits. Avantages : ×10 à ×100 plus rapide que CBS, sous la seconde sur big_city, w contrôle le compromis. Inconvénient : solution bornée à w fois l'optimum, plus strictement optimale. C'est la méthode qu'on utilise par défaut dans la démo. Felner et al. 2017.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 — A* avec Décomposition d'Opérateurs. Un seul A* sur l'espace JOINT — un état = la position de tous les drones — mais on bouge les agents un à un dans un ordre fixe. Dès qu'un coup intermédiaire crée un conflit avec un agent déjà placé, on coupe la branche. Heuristique : somme des distances BFS, admissible, donc A* reste optimal. Avantages : optimal, branchement bien plus petit que A* multi-agent naïf. Inconvénient : la mémoire et le temps explosent au-delà de 6-7 drones parce qu'on garde tout l'état joint.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quatre méthodes, deux familles. Programmation par contraintes pour CP-SAT, recherche heuristique pour les trois autres. Trois sur quatre garantissent l'optimum exact ; ECBS est borné à w fois l'optimum. En pratique : CP-SAT timeout dès 8 drones, CBS et OD-A* tiennent jusqu'à 6-7, ECBS scale beaucoup mieux. Toutes partagent la même interface — on peut switcher d'algorithme dans le front sans rien changer ailleurs.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maintenant, la démo. Backend Flask sur 5050, front Three.js sur 8080. On vous montre comment les drones se coordonnent sur plusieurs scénarios, et on compare CBS, ECBS et OD-A* en direct grâce au sélecteur de méthode. Merci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16482060"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G3 · PROGRAMMATION PAR CONTRAINTES · EPITA 2026</a:t>
            </a:r>
            <a:endParaRPr lang="en-US" sz="1800" dirty="0"/>
          </a:p>
        </p:txBody>
      </p:sp>
      <p:sp>
        <p:nvSpPr>
          <p:cNvPr id="3" name="Text 1"/>
          <p:cNvSpPr/>
          <p:nvPr/>
        </p:nvSpPr>
        <p:spPr>
          <a:xfrm>
            <a:off x="1143000" y="3600133"/>
            <a:ext cx="15697200" cy="201930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273" dirty="0">
                <a:solidFill>
                  <a:srgbClr val="1A1A1A"/>
                </a:solidFill>
                <a:latin typeface="IBM Plex Sans" pitchFamily="34" charset="0"/>
                <a:ea typeface="IBM Plex Sans" pitchFamily="34" charset="-122"/>
                <a:cs typeface="IBM Plex Sans" pitchFamily="34" charset="-120"/>
              </a:rPr>
              <a:t>Coordination de drones par </a:t>
            </a:r>
            <a:r>
              <a:rPr lang="en-US" sz="7800" kern="0" spc="-273" dirty="0">
                <a:solidFill>
                  <a:srgbClr val="2A75BA"/>
                </a:solidFill>
                <a:latin typeface="IBM Plex Sans" pitchFamily="34" charset="0"/>
                <a:ea typeface="IBM Plex Sans" pitchFamily="34" charset="-122"/>
                <a:cs typeface="IBM Plex Sans" pitchFamily="34" charset="-120"/>
              </a:rPr>
              <a:t>Multi-Agent Path Finding</a:t>
            </a:r>
            <a:r>
              <a:rPr lang="en-US" sz="7800" kern="0" spc="-273" dirty="0">
                <a:solidFill>
                  <a:srgbClr val="1A1A1A"/>
                </a:solidFill>
                <a:latin typeface="IBM Plex Sans" pitchFamily="34" charset="0"/>
                <a:ea typeface="IBM Plex Sans" pitchFamily="34" charset="-122"/>
                <a:cs typeface="IBM Plex Sans" pitchFamily="34" charset="-120"/>
              </a:rPr>
              <a:t>.</a:t>
            </a:r>
            <a:endParaRPr lang="en-US" sz="7800" dirty="0"/>
          </a:p>
        </p:txBody>
      </p:sp>
      <p:sp>
        <p:nvSpPr>
          <p:cNvPr id="4" name="Shape 2"/>
          <p:cNvSpPr/>
          <p:nvPr/>
        </p:nvSpPr>
        <p:spPr>
          <a:xfrm>
            <a:off x="1143000" y="7968615"/>
            <a:ext cx="16002000" cy="9525"/>
          </a:xfrm>
          <a:prstGeom prst="rect">
            <a:avLst/>
          </a:prstGeom>
          <a:solidFill>
            <a:srgbClr val="E5E2DA"/>
          </a:solidFill>
          <a:ln/>
        </p:spPr>
        <p:txBody>
          <a:bodyPr/>
          <a:lstStyle/>
          <a:p>
            <a:endParaRPr lang="en-US"/>
          </a:p>
        </p:txBody>
      </p:sp>
      <p:sp>
        <p:nvSpPr>
          <p:cNvPr id="5" name="Text 3"/>
          <p:cNvSpPr/>
          <p:nvPr/>
        </p:nvSpPr>
        <p:spPr>
          <a:xfrm>
            <a:off x="1143000" y="8317865"/>
            <a:ext cx="4905375"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A8A86"/>
                </a:solidFill>
                <a:latin typeface="IBM Plex Mono" pitchFamily="34" charset="0"/>
                <a:ea typeface="IBM Plex Mono" pitchFamily="34" charset="-122"/>
                <a:cs typeface="IBM Plex Mono" pitchFamily="34" charset="-120"/>
              </a:rPr>
              <a:t>AUTEURS</a:t>
            </a:r>
            <a:endParaRPr lang="en-US" sz="1800" dirty="0"/>
          </a:p>
        </p:txBody>
      </p:sp>
      <p:sp>
        <p:nvSpPr>
          <p:cNvPr id="6" name="Text 4"/>
          <p:cNvSpPr/>
          <p:nvPr/>
        </p:nvSpPr>
        <p:spPr>
          <a:xfrm>
            <a:off x="1143000" y="8730615"/>
            <a:ext cx="4905375" cy="75628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1A1A1A"/>
                </a:solidFill>
                <a:latin typeface="IBM Plex Mono" pitchFamily="34" charset="0"/>
                <a:ea typeface="IBM Plex Mono" pitchFamily="34" charset="-122"/>
                <a:cs typeface="IBM Plex Mono" pitchFamily="34" charset="-120"/>
              </a:rPr>
              <a:t>Matteo Atkinson Paul Witkowski</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1393190"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CONTEXTE</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02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Cadre &amp; problématique.</a:t>
            </a:r>
            <a:endParaRPr lang="en-US" sz="5100" dirty="0"/>
          </a:p>
        </p:txBody>
      </p:sp>
      <p:sp>
        <p:nvSpPr>
          <p:cNvPr id="5" name="Shape 3"/>
          <p:cNvSpPr/>
          <p:nvPr/>
        </p:nvSpPr>
        <p:spPr>
          <a:xfrm>
            <a:off x="1143000" y="2845435"/>
            <a:ext cx="7810500" cy="9525"/>
          </a:xfrm>
          <a:prstGeom prst="rect">
            <a:avLst/>
          </a:prstGeom>
          <a:solidFill>
            <a:srgbClr val="1A1A1A"/>
          </a:solidFill>
          <a:ln/>
        </p:spPr>
        <p:txBody>
          <a:bodyPr/>
          <a:lstStyle/>
          <a:p>
            <a:endParaRPr lang="en-US"/>
          </a:p>
        </p:txBody>
      </p:sp>
      <p:sp>
        <p:nvSpPr>
          <p:cNvPr id="6" name="Text 4"/>
          <p:cNvSpPr/>
          <p:nvPr/>
        </p:nvSpPr>
        <p:spPr>
          <a:xfrm>
            <a:off x="1143000" y="3194685"/>
            <a:ext cx="8044815"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LE PROJET</a:t>
            </a:r>
            <a:endParaRPr lang="en-US" sz="1800" dirty="0"/>
          </a:p>
        </p:txBody>
      </p:sp>
      <p:sp>
        <p:nvSpPr>
          <p:cNvPr id="7" name="Text 5"/>
          <p:cNvSpPr/>
          <p:nvPr/>
        </p:nvSpPr>
        <p:spPr>
          <a:xfrm>
            <a:off x="1143000" y="3759835"/>
            <a:ext cx="8044815" cy="12382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1A1A1A"/>
                </a:solidFill>
                <a:latin typeface="IBM Plex Sans" pitchFamily="34" charset="0"/>
                <a:ea typeface="IBM Plex Sans" pitchFamily="34" charset="-122"/>
                <a:cs typeface="IBM Plex Sans" pitchFamily="34" charset="-120"/>
              </a:rPr>
              <a:t>Un solveur Python couplé à un visualiseur 3D : on charge un scénario (ville, bâtiments, drones avec départ &amp; cible), on choisit une méthode, et on rejoue les trajectoires calculées.</a:t>
            </a:r>
            <a:endParaRPr lang="en-US" sz="2250" dirty="0"/>
          </a:p>
        </p:txBody>
      </p:sp>
      <p:sp>
        <p:nvSpPr>
          <p:cNvPr id="9" name="Shape 7"/>
          <p:cNvSpPr/>
          <p:nvPr/>
        </p:nvSpPr>
        <p:spPr>
          <a:xfrm>
            <a:off x="9715500" y="2845435"/>
            <a:ext cx="7429500" cy="9525"/>
          </a:xfrm>
          <a:prstGeom prst="rect">
            <a:avLst/>
          </a:prstGeom>
          <a:solidFill>
            <a:srgbClr val="1A1A1A"/>
          </a:solidFill>
          <a:ln/>
        </p:spPr>
        <p:txBody>
          <a:bodyPr/>
          <a:lstStyle/>
          <a:p>
            <a:endParaRPr lang="en-US"/>
          </a:p>
        </p:txBody>
      </p:sp>
      <p:sp>
        <p:nvSpPr>
          <p:cNvPr id="10" name="Text 8"/>
          <p:cNvSpPr/>
          <p:nvPr/>
        </p:nvSpPr>
        <p:spPr>
          <a:xfrm>
            <a:off x="9715500" y="3194685"/>
            <a:ext cx="7652385"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PROBLÉMATIQUE</a:t>
            </a:r>
            <a:endParaRPr lang="en-US" sz="1800" dirty="0"/>
          </a:p>
        </p:txBody>
      </p:sp>
      <p:sp>
        <p:nvSpPr>
          <p:cNvPr id="11" name="Text 9"/>
          <p:cNvSpPr/>
          <p:nvPr/>
        </p:nvSpPr>
        <p:spPr>
          <a:xfrm>
            <a:off x="9715500" y="3759835"/>
            <a:ext cx="7652385" cy="16383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1A1A1A"/>
                </a:solidFill>
                <a:latin typeface="IBM Plex Sans" pitchFamily="34" charset="0"/>
                <a:ea typeface="IBM Plex Sans" pitchFamily="34" charset="-122"/>
                <a:cs typeface="IBM Plex Sans" pitchFamily="34" charset="-120"/>
              </a:rPr>
              <a:t>Comment coordonner </a:t>
            </a:r>
            <a:r>
              <a:rPr lang="en-US" sz="2250" dirty="0">
                <a:solidFill>
                  <a:srgbClr val="2A75BA"/>
                </a:solidFill>
                <a:latin typeface="IBM Plex Sans" pitchFamily="34" charset="0"/>
                <a:ea typeface="IBM Plex Sans" pitchFamily="34" charset="-122"/>
                <a:cs typeface="IBM Plex Sans" pitchFamily="34" charset="-120"/>
              </a:rPr>
              <a:t>N drones </a:t>
            </a:r>
            <a:r>
              <a:rPr lang="en-US" sz="2250" dirty="0">
                <a:solidFill>
                  <a:srgbClr val="1A1A1A"/>
                </a:solidFill>
                <a:latin typeface="IBM Plex Sans" pitchFamily="34" charset="0"/>
                <a:ea typeface="IBM Plex Sans" pitchFamily="34" charset="-122"/>
                <a:cs typeface="IBM Plex Sans" pitchFamily="34" charset="-120"/>
              </a:rPr>
              <a:t>dans un espace partagé en garantissant l'absence de collision, et comment un solveur de contraintes généraliste se compare aux </a:t>
            </a:r>
            <a:r>
              <a:rPr lang="en-US" sz="2250" dirty="0">
                <a:solidFill>
                  <a:srgbClr val="2A75BA"/>
                </a:solidFill>
                <a:latin typeface="IBM Plex Sans" pitchFamily="34" charset="0"/>
                <a:ea typeface="IBM Plex Sans" pitchFamily="34" charset="-122"/>
                <a:cs typeface="IBM Plex Sans" pitchFamily="34" charset="-120"/>
              </a:rPr>
              <a:t>algorithmes spécialisés MAPF </a:t>
            </a:r>
            <a:r>
              <a:rPr lang="en-US" sz="2250" dirty="0">
                <a:solidFill>
                  <a:srgbClr val="1A1A1A"/>
                </a:solidFill>
                <a:latin typeface="IBM Plex Sans" pitchFamily="34" charset="0"/>
                <a:ea typeface="IBM Plex Sans" pitchFamily="34" charset="-122"/>
                <a:cs typeface="IBM Plex Sans" pitchFamily="34" charset="-120"/>
              </a:rPr>
              <a:t>de la littérature ?</a:t>
            </a:r>
            <a:endParaRPr lang="en-US" sz="2250" dirty="0"/>
          </a:p>
        </p:txBody>
      </p:sp>
      <p:pic>
        <p:nvPicPr>
          <p:cNvPr id="13" name="Picture 12">
            <a:extLst>
              <a:ext uri="{FF2B5EF4-FFF2-40B4-BE49-F238E27FC236}">
                <a16:creationId xmlns:a16="http://schemas.microsoft.com/office/drawing/2014/main" id="{2FF8839A-DCAD-0AC4-6F05-52052DF3A52A}"/>
              </a:ext>
            </a:extLst>
          </p:cNvPr>
          <p:cNvPicPr>
            <a:picLocks noChangeAspect="1"/>
          </p:cNvPicPr>
          <p:nvPr/>
        </p:nvPicPr>
        <p:blipFill>
          <a:blip r:embed="rId3"/>
          <a:stretch>
            <a:fillRect/>
          </a:stretch>
        </p:blipFill>
        <p:spPr>
          <a:xfrm>
            <a:off x="2205083" y="5226685"/>
            <a:ext cx="5686334" cy="49142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1887061"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LE PROBLÈME</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03 / 10</a:t>
            </a:r>
            <a:endParaRPr lang="en-US" sz="1800" dirty="0"/>
          </a:p>
        </p:txBody>
      </p:sp>
      <p:sp>
        <p:nvSpPr>
          <p:cNvPr id="4" name="Text 2"/>
          <p:cNvSpPr/>
          <p:nvPr/>
        </p:nvSpPr>
        <p:spPr>
          <a:xfrm>
            <a:off x="1143000" y="1746250"/>
            <a:ext cx="16482060" cy="139827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Router chaque drone vers son objectif — sans aucune collision.</a:t>
            </a:r>
            <a:endParaRPr lang="en-US" sz="5100" dirty="0"/>
          </a:p>
        </p:txBody>
      </p:sp>
      <p:sp>
        <p:nvSpPr>
          <p:cNvPr id="5" name="Shape 3"/>
          <p:cNvSpPr/>
          <p:nvPr/>
        </p:nvSpPr>
        <p:spPr>
          <a:xfrm>
            <a:off x="1143000" y="3525520"/>
            <a:ext cx="7620000" cy="6303010"/>
          </a:xfrm>
          <a:prstGeom prst="roundRect">
            <a:avLst>
              <a:gd name="adj" fmla="val 604"/>
            </a:avLst>
          </a:prstGeom>
          <a:solidFill>
            <a:srgbClr val="FFFFFF"/>
          </a:solidFill>
          <a:ln w="6350">
            <a:solidFill>
              <a:srgbClr val="E5E2DA"/>
            </a:solidFill>
            <a:prstDash val="solid"/>
          </a:ln>
        </p:spPr>
        <p:txBody>
          <a:bodyPr/>
          <a:lstStyle/>
          <a:p>
            <a:endParaRPr lang="en-US"/>
          </a:p>
        </p:txBody>
      </p:sp>
      <p:sp>
        <p:nvSpPr>
          <p:cNvPr id="6" name="Text 4"/>
          <p:cNvSpPr/>
          <p:nvPr/>
        </p:nvSpPr>
        <p:spPr>
          <a:xfrm>
            <a:off x="1606550" y="3950970"/>
            <a:ext cx="6893687"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A8A86"/>
                </a:solidFill>
                <a:latin typeface="IBM Plex Mono" pitchFamily="34" charset="0"/>
                <a:ea typeface="IBM Plex Mono" pitchFamily="34" charset="-122"/>
                <a:cs typeface="IBM Plex Mono" pitchFamily="34" charset="-120"/>
              </a:rPr>
              <a:t>TYPE DE CONFLIT · 01</a:t>
            </a:r>
            <a:endParaRPr lang="en-US" sz="1800" dirty="0"/>
          </a:p>
        </p:txBody>
      </p:sp>
      <p:sp>
        <p:nvSpPr>
          <p:cNvPr id="7" name="Text 5"/>
          <p:cNvSpPr/>
          <p:nvPr/>
        </p:nvSpPr>
        <p:spPr>
          <a:xfrm>
            <a:off x="1606550" y="4458970"/>
            <a:ext cx="6893687" cy="730250"/>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1A1A1A"/>
                </a:solidFill>
                <a:latin typeface="IBM Plex Sans" pitchFamily="34" charset="0"/>
                <a:ea typeface="IBM Plex Sans" pitchFamily="34" charset="-122"/>
                <a:cs typeface="IBM Plex Sans" pitchFamily="34" charset="-120"/>
              </a:rPr>
              <a:t>Sommet</a:t>
            </a:r>
            <a:endParaRPr lang="en-US" sz="4200" dirty="0"/>
          </a:p>
        </p:txBody>
      </p:sp>
      <p:sp>
        <p:nvSpPr>
          <p:cNvPr id="8" name="Shape 6"/>
          <p:cNvSpPr/>
          <p:nvPr/>
        </p:nvSpPr>
        <p:spPr>
          <a:xfrm>
            <a:off x="1606550" y="5360670"/>
            <a:ext cx="6692900" cy="3124200"/>
          </a:xfrm>
          <a:prstGeom prst="roundRect">
            <a:avLst>
              <a:gd name="adj" fmla="val 1220"/>
            </a:avLst>
          </a:prstGeom>
          <a:solidFill>
            <a:srgbClr val="F3F1EA"/>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835150" y="5589270"/>
            <a:ext cx="6235700" cy="2667000"/>
          </a:xfrm>
          <a:prstGeom prst="rect">
            <a:avLst/>
          </a:prstGeom>
        </p:spPr>
      </p:pic>
      <p:sp>
        <p:nvSpPr>
          <p:cNvPr id="10" name="Text 7"/>
          <p:cNvSpPr/>
          <p:nvPr/>
        </p:nvSpPr>
        <p:spPr>
          <a:xfrm>
            <a:off x="1606550" y="8694420"/>
            <a:ext cx="6893687" cy="784860"/>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4A4A4A"/>
                </a:solidFill>
                <a:latin typeface="IBM Plex Sans" pitchFamily="34" charset="0"/>
                <a:ea typeface="IBM Plex Sans" pitchFamily="34" charset="-122"/>
                <a:cs typeface="IBM Plex Sans" pitchFamily="34" charset="-120"/>
              </a:rPr>
              <a:t>Deux drones occupent la même cellule au même pas de temps.</a:t>
            </a:r>
            <a:endParaRPr lang="en-US" sz="2100" dirty="0"/>
          </a:p>
        </p:txBody>
      </p:sp>
      <p:sp>
        <p:nvSpPr>
          <p:cNvPr id="11" name="Shape 8"/>
          <p:cNvSpPr/>
          <p:nvPr/>
        </p:nvSpPr>
        <p:spPr>
          <a:xfrm>
            <a:off x="9525000" y="3525520"/>
            <a:ext cx="7620000" cy="6303010"/>
          </a:xfrm>
          <a:prstGeom prst="roundRect">
            <a:avLst>
              <a:gd name="adj" fmla="val 604"/>
            </a:avLst>
          </a:prstGeom>
          <a:solidFill>
            <a:srgbClr val="FFFFFF"/>
          </a:solidFill>
          <a:ln w="6350">
            <a:solidFill>
              <a:srgbClr val="E5E2DA"/>
            </a:solidFill>
            <a:prstDash val="solid"/>
          </a:ln>
        </p:spPr>
        <p:txBody>
          <a:bodyPr/>
          <a:lstStyle/>
          <a:p>
            <a:endParaRPr lang="en-US"/>
          </a:p>
        </p:txBody>
      </p:sp>
      <p:sp>
        <p:nvSpPr>
          <p:cNvPr id="12" name="Text 9"/>
          <p:cNvSpPr/>
          <p:nvPr/>
        </p:nvSpPr>
        <p:spPr>
          <a:xfrm>
            <a:off x="9988550" y="3950970"/>
            <a:ext cx="6893687"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A8A86"/>
                </a:solidFill>
                <a:latin typeface="IBM Plex Mono" pitchFamily="34" charset="0"/>
                <a:ea typeface="IBM Plex Mono" pitchFamily="34" charset="-122"/>
                <a:cs typeface="IBM Plex Mono" pitchFamily="34" charset="-120"/>
              </a:rPr>
              <a:t>TYPE DE CONFLIT · 02</a:t>
            </a:r>
            <a:endParaRPr lang="en-US" sz="1800" dirty="0"/>
          </a:p>
        </p:txBody>
      </p:sp>
      <p:sp>
        <p:nvSpPr>
          <p:cNvPr id="13" name="Text 10"/>
          <p:cNvSpPr/>
          <p:nvPr/>
        </p:nvSpPr>
        <p:spPr>
          <a:xfrm>
            <a:off x="9988550" y="4458970"/>
            <a:ext cx="6893687" cy="730250"/>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1A1A1A"/>
                </a:solidFill>
                <a:latin typeface="IBM Plex Sans" pitchFamily="34" charset="0"/>
                <a:ea typeface="IBM Plex Sans" pitchFamily="34" charset="-122"/>
                <a:cs typeface="IBM Plex Sans" pitchFamily="34" charset="-120"/>
              </a:rPr>
              <a:t>Arête (échange)</a:t>
            </a:r>
            <a:endParaRPr lang="en-US" sz="4200" dirty="0"/>
          </a:p>
        </p:txBody>
      </p:sp>
      <p:sp>
        <p:nvSpPr>
          <p:cNvPr id="14" name="Shape 11"/>
          <p:cNvSpPr/>
          <p:nvPr/>
        </p:nvSpPr>
        <p:spPr>
          <a:xfrm>
            <a:off x="9988550" y="5360670"/>
            <a:ext cx="6692900" cy="3124200"/>
          </a:xfrm>
          <a:prstGeom prst="roundRect">
            <a:avLst>
              <a:gd name="adj" fmla="val 1220"/>
            </a:avLst>
          </a:prstGeom>
          <a:solidFill>
            <a:srgbClr val="F3F1EA"/>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10217150" y="5589270"/>
            <a:ext cx="6235700" cy="2667000"/>
          </a:xfrm>
          <a:prstGeom prst="rect">
            <a:avLst/>
          </a:prstGeom>
        </p:spPr>
      </p:pic>
      <p:sp>
        <p:nvSpPr>
          <p:cNvPr id="16" name="Text 12"/>
          <p:cNvSpPr/>
          <p:nvPr/>
        </p:nvSpPr>
        <p:spPr>
          <a:xfrm>
            <a:off x="9988550" y="8694420"/>
            <a:ext cx="6893687" cy="784860"/>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4A4A4A"/>
                </a:solidFill>
                <a:latin typeface="IBM Plex Sans" pitchFamily="34" charset="0"/>
                <a:ea typeface="IBM Plex Sans" pitchFamily="34" charset="-122"/>
                <a:cs typeface="IBM Plex Sans" pitchFamily="34" charset="-120"/>
              </a:rPr>
              <a:t>Deux drones traversent la même arête en sens opposé entre t et t+1.</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3391249"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CE QU'ON A CONSTRUIT</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04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Un solveur, une API, un visualiseur 3D.</a:t>
            </a:r>
            <a:endParaRPr lang="en-US" sz="5100" dirty="0"/>
          </a:p>
        </p:txBody>
      </p:sp>
      <p:sp>
        <p:nvSpPr>
          <p:cNvPr id="5" name="Shape 3"/>
          <p:cNvSpPr/>
          <p:nvPr/>
        </p:nvSpPr>
        <p:spPr>
          <a:xfrm>
            <a:off x="1143000" y="2845435"/>
            <a:ext cx="5029200" cy="6603365"/>
          </a:xfrm>
          <a:prstGeom prst="roundRect">
            <a:avLst>
              <a:gd name="adj" fmla="val 758"/>
            </a:avLst>
          </a:prstGeom>
          <a:solidFill>
            <a:srgbClr val="FFFFFF"/>
          </a:solidFill>
          <a:ln w="6350">
            <a:solidFill>
              <a:srgbClr val="E5E2DA"/>
            </a:solidFill>
            <a:prstDash val="solid"/>
          </a:ln>
        </p:spPr>
        <p:txBody>
          <a:bodyPr/>
          <a:lstStyle/>
          <a:p>
            <a:endParaRPr lang="en-US"/>
          </a:p>
        </p:txBody>
      </p:sp>
      <p:sp>
        <p:nvSpPr>
          <p:cNvPr id="6" name="Text 4"/>
          <p:cNvSpPr/>
          <p:nvPr/>
        </p:nvSpPr>
        <p:spPr>
          <a:xfrm>
            <a:off x="1606550" y="4830445"/>
            <a:ext cx="4225163"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2A75BA"/>
                </a:solidFill>
                <a:latin typeface="IBM Plex Mono" pitchFamily="34" charset="0"/>
                <a:ea typeface="IBM Plex Mono" pitchFamily="34" charset="-122"/>
                <a:cs typeface="IBM Plex Mono" pitchFamily="34" charset="-120"/>
              </a:rPr>
              <a:t>01 · CŒUR</a:t>
            </a:r>
            <a:endParaRPr lang="en-US" sz="1800" dirty="0"/>
          </a:p>
        </p:txBody>
      </p:sp>
      <p:sp>
        <p:nvSpPr>
          <p:cNvPr id="7" name="Text 5"/>
          <p:cNvSpPr/>
          <p:nvPr/>
        </p:nvSpPr>
        <p:spPr>
          <a:xfrm>
            <a:off x="1606550" y="5395595"/>
            <a:ext cx="4225163" cy="679450"/>
          </a:xfrm>
          <a:prstGeom prst="rect">
            <a:avLst/>
          </a:prstGeom>
          <a:noFill/>
          <a:ln/>
        </p:spPr>
        <p:txBody>
          <a:bodyPr wrap="square" lIns="25400" tIns="25400" rIns="25400" bIns="25400" rtlCol="0" anchor="t">
            <a:normAutofit/>
          </a:bodyPr>
          <a:lstStyle/>
          <a:p>
            <a:pPr marL="0" indent="0" algn="l">
              <a:buNone/>
            </a:pPr>
            <a:r>
              <a:rPr lang="en-US" sz="3900" kern="0" spc="-58" dirty="0">
                <a:solidFill>
                  <a:srgbClr val="1A1A1A"/>
                </a:solidFill>
                <a:latin typeface="IBM Plex Sans" pitchFamily="34" charset="0"/>
                <a:ea typeface="IBM Plex Sans" pitchFamily="34" charset="-122"/>
                <a:cs typeface="IBM Plex Sans" pitchFamily="34" charset="-120"/>
              </a:rPr>
              <a:t>Solveur</a:t>
            </a:r>
            <a:endParaRPr lang="en-US" sz="3900" dirty="0"/>
          </a:p>
        </p:txBody>
      </p:sp>
      <p:sp>
        <p:nvSpPr>
          <p:cNvPr id="8" name="Text 6"/>
          <p:cNvSpPr/>
          <p:nvPr/>
        </p:nvSpPr>
        <p:spPr>
          <a:xfrm>
            <a:off x="1606550" y="6303645"/>
            <a:ext cx="4225163" cy="119824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4A4A4A"/>
                </a:solidFill>
                <a:latin typeface="IBM Plex Sans" pitchFamily="34" charset="0"/>
                <a:ea typeface="IBM Plex Sans" pitchFamily="34" charset="-122"/>
                <a:cs typeface="IBM Plex Sans" pitchFamily="34" charset="-120"/>
              </a:rPr>
              <a:t>Quatre algorithmes MAPF interchangeables, derrière une interface commune.</a:t>
            </a:r>
            <a:endParaRPr lang="en-US" sz="2100" dirty="0"/>
          </a:p>
        </p:txBody>
      </p:sp>
      <p:sp>
        <p:nvSpPr>
          <p:cNvPr id="9" name="Shape 7"/>
          <p:cNvSpPr/>
          <p:nvPr/>
        </p:nvSpPr>
        <p:spPr>
          <a:xfrm>
            <a:off x="6629400" y="2845435"/>
            <a:ext cx="5029200" cy="6603365"/>
          </a:xfrm>
          <a:prstGeom prst="roundRect">
            <a:avLst>
              <a:gd name="adj" fmla="val 758"/>
            </a:avLst>
          </a:prstGeom>
          <a:solidFill>
            <a:srgbClr val="FFFFFF"/>
          </a:solidFill>
          <a:ln w="6350">
            <a:solidFill>
              <a:srgbClr val="E5E2DA"/>
            </a:solidFill>
            <a:prstDash val="solid"/>
          </a:ln>
        </p:spPr>
        <p:txBody>
          <a:bodyPr/>
          <a:lstStyle/>
          <a:p>
            <a:endParaRPr lang="en-US"/>
          </a:p>
        </p:txBody>
      </p:sp>
      <p:sp>
        <p:nvSpPr>
          <p:cNvPr id="10" name="Text 8"/>
          <p:cNvSpPr/>
          <p:nvPr/>
        </p:nvSpPr>
        <p:spPr>
          <a:xfrm>
            <a:off x="7092950" y="4830445"/>
            <a:ext cx="4225163"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2A75BA"/>
                </a:solidFill>
                <a:latin typeface="IBM Plex Mono" pitchFamily="34" charset="0"/>
                <a:ea typeface="IBM Plex Mono" pitchFamily="34" charset="-122"/>
                <a:cs typeface="IBM Plex Mono" pitchFamily="34" charset="-120"/>
              </a:rPr>
              <a:t>02 · SERVICE</a:t>
            </a:r>
            <a:endParaRPr lang="en-US" sz="1800" dirty="0"/>
          </a:p>
        </p:txBody>
      </p:sp>
      <p:sp>
        <p:nvSpPr>
          <p:cNvPr id="11" name="Text 9"/>
          <p:cNvSpPr/>
          <p:nvPr/>
        </p:nvSpPr>
        <p:spPr>
          <a:xfrm>
            <a:off x="7092950" y="5395595"/>
            <a:ext cx="4225163" cy="679450"/>
          </a:xfrm>
          <a:prstGeom prst="rect">
            <a:avLst/>
          </a:prstGeom>
          <a:noFill/>
          <a:ln/>
        </p:spPr>
        <p:txBody>
          <a:bodyPr wrap="square" lIns="25400" tIns="25400" rIns="25400" bIns="25400" rtlCol="0" anchor="t">
            <a:normAutofit/>
          </a:bodyPr>
          <a:lstStyle/>
          <a:p>
            <a:pPr marL="0" indent="0" algn="l">
              <a:buNone/>
            </a:pPr>
            <a:r>
              <a:rPr lang="en-US" sz="3900" kern="0" spc="-58" dirty="0">
                <a:solidFill>
                  <a:srgbClr val="1A1A1A"/>
                </a:solidFill>
                <a:latin typeface="IBM Plex Sans" pitchFamily="34" charset="0"/>
                <a:ea typeface="IBM Plex Sans" pitchFamily="34" charset="-122"/>
                <a:cs typeface="IBM Plex Sans" pitchFamily="34" charset="-120"/>
              </a:rPr>
              <a:t>API</a:t>
            </a:r>
            <a:endParaRPr lang="en-US" sz="3900" dirty="0"/>
          </a:p>
        </p:txBody>
      </p:sp>
      <p:sp>
        <p:nvSpPr>
          <p:cNvPr id="12" name="Text 10"/>
          <p:cNvSpPr/>
          <p:nvPr/>
        </p:nvSpPr>
        <p:spPr>
          <a:xfrm>
            <a:off x="7092950" y="6303645"/>
            <a:ext cx="4225163" cy="119824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4A4A4A"/>
                </a:solidFill>
                <a:latin typeface="IBM Plex Sans" pitchFamily="34" charset="0"/>
                <a:ea typeface="IBM Plex Sans" pitchFamily="34" charset="-122"/>
                <a:cs typeface="IBM Plex Sans" pitchFamily="34" charset="-120"/>
              </a:rPr>
              <a:t>Backend Flask qui charge les scénarios et dispatche vers la méthode choisie.</a:t>
            </a:r>
            <a:endParaRPr lang="en-US" sz="2100" dirty="0"/>
          </a:p>
        </p:txBody>
      </p:sp>
      <p:sp>
        <p:nvSpPr>
          <p:cNvPr id="13" name="Shape 11"/>
          <p:cNvSpPr/>
          <p:nvPr/>
        </p:nvSpPr>
        <p:spPr>
          <a:xfrm>
            <a:off x="12115800" y="2845435"/>
            <a:ext cx="5029200" cy="6603365"/>
          </a:xfrm>
          <a:prstGeom prst="roundRect">
            <a:avLst>
              <a:gd name="adj" fmla="val 758"/>
            </a:avLst>
          </a:prstGeom>
          <a:solidFill>
            <a:srgbClr val="FFFFFF"/>
          </a:solidFill>
          <a:ln w="6350">
            <a:solidFill>
              <a:srgbClr val="E5E2DA"/>
            </a:solidFill>
            <a:prstDash val="solid"/>
          </a:ln>
        </p:spPr>
        <p:txBody>
          <a:bodyPr/>
          <a:lstStyle/>
          <a:p>
            <a:endParaRPr lang="en-US"/>
          </a:p>
        </p:txBody>
      </p:sp>
      <p:sp>
        <p:nvSpPr>
          <p:cNvPr id="14" name="Text 12"/>
          <p:cNvSpPr/>
          <p:nvPr/>
        </p:nvSpPr>
        <p:spPr>
          <a:xfrm>
            <a:off x="12579350" y="4830445"/>
            <a:ext cx="4225163"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2A75BA"/>
                </a:solidFill>
                <a:latin typeface="IBM Plex Mono" pitchFamily="34" charset="0"/>
                <a:ea typeface="IBM Plex Mono" pitchFamily="34" charset="-122"/>
                <a:cs typeface="IBM Plex Mono" pitchFamily="34" charset="-120"/>
              </a:rPr>
              <a:t>03 · DÉMO</a:t>
            </a:r>
            <a:endParaRPr lang="en-US" sz="1800" dirty="0"/>
          </a:p>
        </p:txBody>
      </p:sp>
      <p:sp>
        <p:nvSpPr>
          <p:cNvPr id="15" name="Text 13"/>
          <p:cNvSpPr/>
          <p:nvPr/>
        </p:nvSpPr>
        <p:spPr>
          <a:xfrm>
            <a:off x="12579350" y="5395595"/>
            <a:ext cx="4225163" cy="679450"/>
          </a:xfrm>
          <a:prstGeom prst="rect">
            <a:avLst/>
          </a:prstGeom>
          <a:noFill/>
          <a:ln/>
        </p:spPr>
        <p:txBody>
          <a:bodyPr wrap="square" lIns="25400" tIns="25400" rIns="25400" bIns="25400" rtlCol="0" anchor="t">
            <a:normAutofit/>
          </a:bodyPr>
          <a:lstStyle/>
          <a:p>
            <a:pPr marL="0" indent="0" algn="l">
              <a:buNone/>
            </a:pPr>
            <a:r>
              <a:rPr lang="en-US" sz="3900" kern="0" spc="-58" dirty="0">
                <a:solidFill>
                  <a:srgbClr val="1A1A1A"/>
                </a:solidFill>
                <a:latin typeface="IBM Plex Sans" pitchFamily="34" charset="0"/>
                <a:ea typeface="IBM Plex Sans" pitchFamily="34" charset="-122"/>
                <a:cs typeface="IBM Plex Sans" pitchFamily="34" charset="-120"/>
              </a:rPr>
              <a:t>Visualiseur 3D</a:t>
            </a:r>
            <a:endParaRPr lang="en-US" sz="3900" dirty="0"/>
          </a:p>
        </p:txBody>
      </p:sp>
      <p:sp>
        <p:nvSpPr>
          <p:cNvPr id="16" name="Text 14"/>
          <p:cNvSpPr/>
          <p:nvPr/>
        </p:nvSpPr>
        <p:spPr>
          <a:xfrm>
            <a:off x="12579350" y="6303645"/>
            <a:ext cx="4225163" cy="119824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4A4A4A"/>
                </a:solidFill>
                <a:latin typeface="IBM Plex Sans" pitchFamily="34" charset="0"/>
                <a:ea typeface="IBM Plex Sans" pitchFamily="34" charset="-122"/>
                <a:cs typeface="IBM Plex Sans" pitchFamily="34" charset="-120"/>
              </a:rPr>
              <a:t>Front Three.js — sélecteur de scénario, drones animés, rejouage.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3626707"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ALGORITHME · 01 </a:t>
            </a:r>
            <a:r>
              <a:rPr lang="en-US" sz="1800" kern="0" spc="216" dirty="0">
                <a:solidFill>
                  <a:srgbClr val="1A1A1A"/>
                </a:solidFill>
                <a:latin typeface="IBM Plex Mono" pitchFamily="34" charset="0"/>
                <a:ea typeface="IBM Plex Mono" pitchFamily="34" charset="-122"/>
                <a:cs typeface="IBM Plex Mono" pitchFamily="34" charset="-120"/>
              </a:rPr>
              <a:t>CPSAT</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05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CP-SAT</a:t>
            </a:r>
            <a:endParaRPr lang="en-US" sz="5100" dirty="0"/>
          </a:p>
        </p:txBody>
      </p:sp>
      <p:sp>
        <p:nvSpPr>
          <p:cNvPr id="5" name="Text 3"/>
          <p:cNvSpPr/>
          <p:nvPr/>
        </p:nvSpPr>
        <p:spPr>
          <a:xfrm>
            <a:off x="1143000" y="2597785"/>
            <a:ext cx="15697200"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4A4A4A"/>
                </a:solidFill>
                <a:latin typeface="IBM Plex Sans" pitchFamily="34" charset="0"/>
                <a:ea typeface="IBM Plex Sans" pitchFamily="34" charset="-122"/>
                <a:cs typeface="IBM Plex Sans" pitchFamily="34" charset="-120"/>
              </a:rPr>
              <a:t>On </a:t>
            </a:r>
            <a:r>
              <a:rPr lang="en-US" sz="2850" dirty="0">
                <a:solidFill>
                  <a:srgbClr val="2A75BA"/>
                </a:solidFill>
                <a:latin typeface="IBM Plex Sans" pitchFamily="34" charset="0"/>
                <a:ea typeface="IBM Plex Sans" pitchFamily="34" charset="-122"/>
                <a:cs typeface="IBM Plex Sans" pitchFamily="34" charset="-120"/>
              </a:rPr>
              <a:t>décrit </a:t>
            </a:r>
            <a:r>
              <a:rPr lang="en-US" sz="2850" dirty="0">
                <a:solidFill>
                  <a:srgbClr val="4A4A4A"/>
                </a:solidFill>
                <a:latin typeface="IBM Plex Sans" pitchFamily="34" charset="0"/>
                <a:ea typeface="IBM Plex Sans" pitchFamily="34" charset="-122"/>
                <a:cs typeface="IBM Plex Sans" pitchFamily="34" charset="-120"/>
              </a:rPr>
              <a:t>le problème comme un modèle de contraintes ; OR-Tools cherche la solution.</a:t>
            </a:r>
            <a:endParaRPr lang="en-US" sz="2850" dirty="0"/>
          </a:p>
        </p:txBody>
      </p:sp>
      <p:sp>
        <p:nvSpPr>
          <p:cNvPr id="6" name="Shape 4"/>
          <p:cNvSpPr/>
          <p:nvPr/>
        </p:nvSpPr>
        <p:spPr>
          <a:xfrm>
            <a:off x="11430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7" name="Shape 5"/>
          <p:cNvSpPr/>
          <p:nvPr/>
        </p:nvSpPr>
        <p:spPr>
          <a:xfrm>
            <a:off x="1492250" y="3966845"/>
            <a:ext cx="114300" cy="114300"/>
          </a:xfrm>
          <a:prstGeom prst="ellipse">
            <a:avLst/>
          </a:prstGeom>
          <a:solidFill>
            <a:srgbClr val="2A75BA"/>
          </a:solidFill>
          <a:ln/>
        </p:spPr>
        <p:txBody>
          <a:bodyPr/>
          <a:lstStyle/>
          <a:p>
            <a:endParaRPr lang="en-US"/>
          </a:p>
        </p:txBody>
      </p:sp>
      <p:sp>
        <p:nvSpPr>
          <p:cNvPr id="8" name="Text 6"/>
          <p:cNvSpPr/>
          <p:nvPr/>
        </p:nvSpPr>
        <p:spPr>
          <a:xfrm>
            <a:off x="1739900" y="3874770"/>
            <a:ext cx="1474946"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AVANTAGES</a:t>
            </a:r>
            <a:endParaRPr lang="en-US" sz="1800" dirty="0"/>
          </a:p>
        </p:txBody>
      </p:sp>
      <p:sp>
        <p:nvSpPr>
          <p:cNvPr id="9" name="Text 7"/>
          <p:cNvSpPr/>
          <p:nvPr/>
        </p:nvSpPr>
        <p:spPr>
          <a:xfrm>
            <a:off x="1305560" y="4401820"/>
            <a:ext cx="4669790" cy="146113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Approche purement déclarative</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Optimum garanti (makespan)</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Modèle court et lisible</a:t>
            </a:r>
            <a:endParaRPr lang="en-US" sz="2100" dirty="0"/>
          </a:p>
        </p:txBody>
      </p:sp>
      <p:sp>
        <p:nvSpPr>
          <p:cNvPr id="10" name="Shape 8"/>
          <p:cNvSpPr/>
          <p:nvPr/>
        </p:nvSpPr>
        <p:spPr>
          <a:xfrm>
            <a:off x="65913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1" name="Shape 9"/>
          <p:cNvSpPr/>
          <p:nvPr/>
        </p:nvSpPr>
        <p:spPr>
          <a:xfrm>
            <a:off x="6940550" y="3966845"/>
            <a:ext cx="114300" cy="114300"/>
          </a:xfrm>
          <a:prstGeom prst="ellipse">
            <a:avLst/>
          </a:prstGeom>
          <a:solidFill>
            <a:srgbClr val="B76B1C"/>
          </a:solidFill>
          <a:ln/>
        </p:spPr>
        <p:txBody>
          <a:bodyPr/>
          <a:lstStyle/>
          <a:p>
            <a:endParaRPr lang="en-US"/>
          </a:p>
        </p:txBody>
      </p:sp>
      <p:sp>
        <p:nvSpPr>
          <p:cNvPr id="12" name="Text 10"/>
          <p:cNvSpPr/>
          <p:nvPr/>
        </p:nvSpPr>
        <p:spPr>
          <a:xfrm>
            <a:off x="7188200" y="3874770"/>
            <a:ext cx="2096611"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INCONVÉNIENTS</a:t>
            </a:r>
            <a:endParaRPr lang="en-US" sz="1800" dirty="0"/>
          </a:p>
        </p:txBody>
      </p:sp>
      <p:sp>
        <p:nvSpPr>
          <p:cNvPr id="13" name="Text 11"/>
          <p:cNvSpPr/>
          <p:nvPr/>
        </p:nvSpPr>
        <p:spPr>
          <a:xfrm>
            <a:off x="7169150" y="4401820"/>
            <a:ext cx="4310507" cy="75819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Scaling quadratique des contraintes</a:t>
            </a:r>
            <a:endParaRPr lang="en-US" sz="2100" dirty="0"/>
          </a:p>
        </p:txBody>
      </p:sp>
      <p:sp>
        <p:nvSpPr>
          <p:cNvPr id="14" name="Text 12"/>
          <p:cNvSpPr/>
          <p:nvPr/>
        </p:nvSpPr>
        <p:spPr>
          <a:xfrm>
            <a:off x="7169150" y="5293360"/>
            <a:ext cx="431050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Timeout dès ~10 drones</a:t>
            </a:r>
            <a:endParaRPr lang="en-US" sz="2100" dirty="0"/>
          </a:p>
        </p:txBody>
      </p:sp>
      <p:sp>
        <p:nvSpPr>
          <p:cNvPr id="15" name="Shape 13"/>
          <p:cNvSpPr/>
          <p:nvPr/>
        </p:nvSpPr>
        <p:spPr>
          <a:xfrm>
            <a:off x="120396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6" name="Shape 14"/>
          <p:cNvSpPr/>
          <p:nvPr/>
        </p:nvSpPr>
        <p:spPr>
          <a:xfrm>
            <a:off x="12388850" y="3966845"/>
            <a:ext cx="114300" cy="114300"/>
          </a:xfrm>
          <a:prstGeom prst="ellipse">
            <a:avLst/>
          </a:prstGeom>
          <a:solidFill>
            <a:srgbClr val="E5E2DA"/>
          </a:solidFill>
          <a:ln/>
        </p:spPr>
        <p:txBody>
          <a:bodyPr/>
          <a:lstStyle/>
          <a:p>
            <a:endParaRPr lang="en-US"/>
          </a:p>
        </p:txBody>
      </p:sp>
      <p:sp>
        <p:nvSpPr>
          <p:cNvPr id="17" name="Text 15"/>
          <p:cNvSpPr/>
          <p:nvPr/>
        </p:nvSpPr>
        <p:spPr>
          <a:xfrm>
            <a:off x="12636500" y="3874770"/>
            <a:ext cx="2562860"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CARACTÉRISTIQUES</a:t>
            </a:r>
            <a:endParaRPr lang="en-US" sz="1800" dirty="0"/>
          </a:p>
        </p:txBody>
      </p:sp>
      <p:sp>
        <p:nvSpPr>
          <p:cNvPr id="18" name="Text 16"/>
          <p:cNvSpPr/>
          <p:nvPr/>
        </p:nvSpPr>
        <p:spPr>
          <a:xfrm>
            <a:off x="12388850" y="44018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FAMILLE</a:t>
            </a:r>
            <a:endParaRPr lang="en-US" sz="1800" dirty="0"/>
          </a:p>
        </p:txBody>
      </p:sp>
      <p:sp>
        <p:nvSpPr>
          <p:cNvPr id="19" name="Text 17"/>
          <p:cNvSpPr/>
          <p:nvPr/>
        </p:nvSpPr>
        <p:spPr>
          <a:xfrm>
            <a:off x="12388850" y="47383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CP / SAT</a:t>
            </a:r>
            <a:endParaRPr lang="en-US" sz="1950" dirty="0"/>
          </a:p>
        </p:txBody>
      </p:sp>
      <p:sp>
        <p:nvSpPr>
          <p:cNvPr id="20" name="Text 18"/>
          <p:cNvSpPr/>
          <p:nvPr/>
        </p:nvSpPr>
        <p:spPr>
          <a:xfrm>
            <a:off x="12388850" y="523367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SOLVEUR</a:t>
            </a:r>
            <a:endParaRPr lang="en-US" sz="1800" dirty="0"/>
          </a:p>
        </p:txBody>
      </p:sp>
      <p:sp>
        <p:nvSpPr>
          <p:cNvPr id="21" name="Text 19"/>
          <p:cNvSpPr/>
          <p:nvPr/>
        </p:nvSpPr>
        <p:spPr>
          <a:xfrm>
            <a:off x="12388850" y="557022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OR-Tools CP-SAT</a:t>
            </a:r>
            <a:endParaRPr lang="en-US" sz="1950" dirty="0"/>
          </a:p>
        </p:txBody>
      </p:sp>
      <p:sp>
        <p:nvSpPr>
          <p:cNvPr id="22" name="Text 20"/>
          <p:cNvSpPr/>
          <p:nvPr/>
        </p:nvSpPr>
        <p:spPr>
          <a:xfrm>
            <a:off x="12388850" y="60655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OPTIMALITÉ</a:t>
            </a:r>
            <a:endParaRPr lang="en-US" sz="1800" dirty="0"/>
          </a:p>
        </p:txBody>
      </p:sp>
      <p:sp>
        <p:nvSpPr>
          <p:cNvPr id="23" name="Text 21"/>
          <p:cNvSpPr/>
          <p:nvPr/>
        </p:nvSpPr>
        <p:spPr>
          <a:xfrm>
            <a:off x="12388850" y="64020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optimale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3287582"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ALGORITHME · 02 </a:t>
            </a:r>
            <a:r>
              <a:rPr lang="en-US" sz="1800" kern="0" spc="216" dirty="0">
                <a:solidFill>
                  <a:srgbClr val="1A1A1A"/>
                </a:solidFill>
                <a:latin typeface="IBM Plex Mono" pitchFamily="34" charset="0"/>
                <a:ea typeface="IBM Plex Mono" pitchFamily="34" charset="-122"/>
                <a:cs typeface="IBM Plex Mono" pitchFamily="34" charset="-120"/>
              </a:rPr>
              <a:t>CBS</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06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Conflict-Based Search</a:t>
            </a:r>
            <a:endParaRPr lang="en-US" sz="5100" dirty="0"/>
          </a:p>
        </p:txBody>
      </p:sp>
      <p:sp>
        <p:nvSpPr>
          <p:cNvPr id="5" name="Text 3"/>
          <p:cNvSpPr/>
          <p:nvPr/>
        </p:nvSpPr>
        <p:spPr>
          <a:xfrm>
            <a:off x="1143000" y="2597785"/>
            <a:ext cx="15697200"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4A4A4A"/>
                </a:solidFill>
                <a:latin typeface="IBM Plex Sans" pitchFamily="34" charset="0"/>
                <a:ea typeface="IBM Plex Sans" pitchFamily="34" charset="-122"/>
                <a:cs typeface="IBM Plex Sans" pitchFamily="34" charset="-120"/>
              </a:rPr>
              <a:t>On planifie chaque drone </a:t>
            </a:r>
            <a:r>
              <a:rPr lang="en-US" sz="2850" dirty="0">
                <a:solidFill>
                  <a:srgbClr val="2A75BA"/>
                </a:solidFill>
                <a:latin typeface="IBM Plex Sans" pitchFamily="34" charset="0"/>
                <a:ea typeface="IBM Plex Sans" pitchFamily="34" charset="-122"/>
                <a:cs typeface="IBM Plex Sans" pitchFamily="34" charset="-120"/>
              </a:rPr>
              <a:t>seul</a:t>
            </a:r>
            <a:r>
              <a:rPr lang="en-US" sz="2850" dirty="0">
                <a:solidFill>
                  <a:srgbClr val="4A4A4A"/>
                </a:solidFill>
                <a:latin typeface="IBM Plex Sans" pitchFamily="34" charset="0"/>
                <a:ea typeface="IBM Plex Sans" pitchFamily="34" charset="-122"/>
                <a:cs typeface="IBM Plex Sans" pitchFamily="34" charset="-120"/>
              </a:rPr>
              <a:t>, puis on résout les conflits un à un en branchant.</a:t>
            </a:r>
            <a:endParaRPr lang="en-US" sz="2850" dirty="0"/>
          </a:p>
        </p:txBody>
      </p:sp>
      <p:sp>
        <p:nvSpPr>
          <p:cNvPr id="6" name="Shape 4"/>
          <p:cNvSpPr/>
          <p:nvPr/>
        </p:nvSpPr>
        <p:spPr>
          <a:xfrm>
            <a:off x="11430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7" name="Shape 5"/>
          <p:cNvSpPr/>
          <p:nvPr/>
        </p:nvSpPr>
        <p:spPr>
          <a:xfrm>
            <a:off x="1492250" y="3966845"/>
            <a:ext cx="114300" cy="114300"/>
          </a:xfrm>
          <a:prstGeom prst="ellipse">
            <a:avLst/>
          </a:prstGeom>
          <a:solidFill>
            <a:srgbClr val="2A75BA"/>
          </a:solidFill>
          <a:ln/>
        </p:spPr>
        <p:txBody>
          <a:bodyPr/>
          <a:lstStyle/>
          <a:p>
            <a:endParaRPr lang="en-US"/>
          </a:p>
        </p:txBody>
      </p:sp>
      <p:sp>
        <p:nvSpPr>
          <p:cNvPr id="8" name="Text 6"/>
          <p:cNvSpPr/>
          <p:nvPr/>
        </p:nvSpPr>
        <p:spPr>
          <a:xfrm>
            <a:off x="1739900" y="3874770"/>
            <a:ext cx="1474946"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AVANTAGES</a:t>
            </a:r>
            <a:endParaRPr lang="en-US" sz="1800" dirty="0"/>
          </a:p>
        </p:txBody>
      </p:sp>
      <p:sp>
        <p:nvSpPr>
          <p:cNvPr id="9" name="Text 7"/>
          <p:cNvSpPr/>
          <p:nvPr/>
        </p:nvSpPr>
        <p:spPr>
          <a:xfrm>
            <a:off x="1305560" y="4401820"/>
            <a:ext cx="4669790" cy="218122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Optimal en somme de coûts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Beaucoup plus rapide que CP-SAT s'il y a peu de conflits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Algorithme conceptuellement simple</a:t>
            </a:r>
            <a:endParaRPr lang="en-US" sz="2100" dirty="0"/>
          </a:p>
        </p:txBody>
      </p:sp>
      <p:sp>
        <p:nvSpPr>
          <p:cNvPr id="10" name="Shape 8"/>
          <p:cNvSpPr/>
          <p:nvPr/>
        </p:nvSpPr>
        <p:spPr>
          <a:xfrm>
            <a:off x="65913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1" name="Shape 9"/>
          <p:cNvSpPr/>
          <p:nvPr/>
        </p:nvSpPr>
        <p:spPr>
          <a:xfrm>
            <a:off x="6940550" y="3966845"/>
            <a:ext cx="114300" cy="114300"/>
          </a:xfrm>
          <a:prstGeom prst="ellipse">
            <a:avLst/>
          </a:prstGeom>
          <a:solidFill>
            <a:srgbClr val="B76B1C"/>
          </a:solidFill>
          <a:ln/>
        </p:spPr>
        <p:txBody>
          <a:bodyPr/>
          <a:lstStyle/>
          <a:p>
            <a:endParaRPr lang="en-US"/>
          </a:p>
        </p:txBody>
      </p:sp>
      <p:sp>
        <p:nvSpPr>
          <p:cNvPr id="12" name="Text 10"/>
          <p:cNvSpPr/>
          <p:nvPr/>
        </p:nvSpPr>
        <p:spPr>
          <a:xfrm>
            <a:off x="7188200" y="3874770"/>
            <a:ext cx="2096611"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INCONVÉNIENTS</a:t>
            </a:r>
            <a:endParaRPr lang="en-US" sz="1800" dirty="0"/>
          </a:p>
        </p:txBody>
      </p:sp>
      <p:sp>
        <p:nvSpPr>
          <p:cNvPr id="13" name="Text 11"/>
          <p:cNvSpPr/>
          <p:nvPr/>
        </p:nvSpPr>
        <p:spPr>
          <a:xfrm>
            <a:off x="6753860" y="4401820"/>
            <a:ext cx="4669790" cy="128968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L'arbre de contraintes explose dans les couloirs étroits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Coût en mémoire élevé</a:t>
            </a:r>
            <a:endParaRPr lang="en-US" sz="2100" dirty="0"/>
          </a:p>
        </p:txBody>
      </p:sp>
      <p:sp>
        <p:nvSpPr>
          <p:cNvPr id="14" name="Shape 12"/>
          <p:cNvSpPr/>
          <p:nvPr/>
        </p:nvSpPr>
        <p:spPr>
          <a:xfrm>
            <a:off x="120396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5" name="Shape 13"/>
          <p:cNvSpPr/>
          <p:nvPr/>
        </p:nvSpPr>
        <p:spPr>
          <a:xfrm>
            <a:off x="12388850" y="3966845"/>
            <a:ext cx="114300" cy="114300"/>
          </a:xfrm>
          <a:prstGeom prst="ellipse">
            <a:avLst/>
          </a:prstGeom>
          <a:solidFill>
            <a:srgbClr val="E5E2DA"/>
          </a:solidFill>
          <a:ln/>
        </p:spPr>
        <p:txBody>
          <a:bodyPr/>
          <a:lstStyle/>
          <a:p>
            <a:endParaRPr lang="en-US"/>
          </a:p>
        </p:txBody>
      </p:sp>
      <p:sp>
        <p:nvSpPr>
          <p:cNvPr id="16" name="Text 14"/>
          <p:cNvSpPr/>
          <p:nvPr/>
        </p:nvSpPr>
        <p:spPr>
          <a:xfrm>
            <a:off x="12636500" y="3874770"/>
            <a:ext cx="2562860"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CARACTÉRISTIQUES</a:t>
            </a:r>
            <a:endParaRPr lang="en-US" sz="1800" dirty="0"/>
          </a:p>
        </p:txBody>
      </p:sp>
      <p:sp>
        <p:nvSpPr>
          <p:cNvPr id="17" name="Text 15"/>
          <p:cNvSpPr/>
          <p:nvPr/>
        </p:nvSpPr>
        <p:spPr>
          <a:xfrm>
            <a:off x="12388850" y="44018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FAMILLE</a:t>
            </a:r>
            <a:endParaRPr lang="en-US" sz="1800" dirty="0"/>
          </a:p>
        </p:txBody>
      </p:sp>
      <p:sp>
        <p:nvSpPr>
          <p:cNvPr id="18" name="Text 16"/>
          <p:cNvSpPr/>
          <p:nvPr/>
        </p:nvSpPr>
        <p:spPr>
          <a:xfrm>
            <a:off x="12388850" y="47383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Recherche · 2 niveaux</a:t>
            </a:r>
            <a:endParaRPr lang="en-US" sz="1950" dirty="0"/>
          </a:p>
        </p:txBody>
      </p:sp>
      <p:sp>
        <p:nvSpPr>
          <p:cNvPr id="19" name="Text 17"/>
          <p:cNvSpPr/>
          <p:nvPr/>
        </p:nvSpPr>
        <p:spPr>
          <a:xfrm>
            <a:off x="12388850" y="523367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SOURCE</a:t>
            </a:r>
            <a:endParaRPr lang="en-US" sz="1800" dirty="0"/>
          </a:p>
        </p:txBody>
      </p:sp>
      <p:sp>
        <p:nvSpPr>
          <p:cNvPr id="20" name="Text 18"/>
          <p:cNvSpPr/>
          <p:nvPr/>
        </p:nvSpPr>
        <p:spPr>
          <a:xfrm>
            <a:off x="12388850" y="557022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Sharon et al. 2015</a:t>
            </a:r>
            <a:endParaRPr lang="en-US" sz="1950" dirty="0"/>
          </a:p>
        </p:txBody>
      </p:sp>
      <p:sp>
        <p:nvSpPr>
          <p:cNvPr id="21" name="Text 19"/>
          <p:cNvSpPr/>
          <p:nvPr/>
        </p:nvSpPr>
        <p:spPr>
          <a:xfrm>
            <a:off x="12388850" y="60655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OPTIMALITÉ</a:t>
            </a:r>
            <a:endParaRPr lang="en-US" sz="1800" dirty="0"/>
          </a:p>
        </p:txBody>
      </p:sp>
      <p:sp>
        <p:nvSpPr>
          <p:cNvPr id="22" name="Text 20"/>
          <p:cNvSpPr/>
          <p:nvPr/>
        </p:nvSpPr>
        <p:spPr>
          <a:xfrm>
            <a:off x="12388850" y="64020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optimale (somme)</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3457145"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ALGORITHME · 03 </a:t>
            </a:r>
            <a:r>
              <a:rPr lang="en-US" sz="1800" kern="0" spc="216" dirty="0">
                <a:solidFill>
                  <a:srgbClr val="1A1A1A"/>
                </a:solidFill>
                <a:latin typeface="IBM Plex Mono" pitchFamily="34" charset="0"/>
                <a:ea typeface="IBM Plex Mono" pitchFamily="34" charset="-122"/>
                <a:cs typeface="IBM Plex Mono" pitchFamily="34" charset="-120"/>
              </a:rPr>
              <a:t>ECBS</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07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Enhanced CBS</a:t>
            </a:r>
            <a:endParaRPr lang="en-US" sz="5100" dirty="0"/>
          </a:p>
        </p:txBody>
      </p:sp>
      <p:sp>
        <p:nvSpPr>
          <p:cNvPr id="5" name="Text 3"/>
          <p:cNvSpPr/>
          <p:nvPr/>
        </p:nvSpPr>
        <p:spPr>
          <a:xfrm>
            <a:off x="1143000" y="2597785"/>
            <a:ext cx="15697200"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4A4A4A"/>
                </a:solidFill>
                <a:latin typeface="IBM Plex Sans" pitchFamily="34" charset="0"/>
                <a:ea typeface="IBM Plex Sans" pitchFamily="34" charset="-122"/>
                <a:cs typeface="IBM Plex Sans" pitchFamily="34" charset="-120"/>
              </a:rPr>
              <a:t>CBS, mais on étend la branche </a:t>
            </a:r>
            <a:r>
              <a:rPr lang="en-US" sz="2850" dirty="0">
                <a:solidFill>
                  <a:srgbClr val="2A75BA"/>
                </a:solidFill>
                <a:latin typeface="IBM Plex Sans" pitchFamily="34" charset="0"/>
                <a:ea typeface="IBM Plex Sans" pitchFamily="34" charset="-122"/>
                <a:cs typeface="IBM Plex Sans" pitchFamily="34" charset="-120"/>
              </a:rPr>
              <a:t>la moins conflictuelle </a:t>
            </a:r>
            <a:r>
              <a:rPr lang="en-US" sz="2850" dirty="0">
                <a:solidFill>
                  <a:srgbClr val="4A4A4A"/>
                </a:solidFill>
                <a:latin typeface="IBM Plex Sans" pitchFamily="34" charset="0"/>
                <a:ea typeface="IBM Plex Sans" pitchFamily="34" charset="-122"/>
                <a:cs typeface="IBM Plex Sans" pitchFamily="34" charset="-120"/>
              </a:rPr>
              <a:t>plutôt que la moins chère.</a:t>
            </a:r>
            <a:endParaRPr lang="en-US" sz="2850" dirty="0"/>
          </a:p>
        </p:txBody>
      </p:sp>
      <p:sp>
        <p:nvSpPr>
          <p:cNvPr id="6" name="Shape 4"/>
          <p:cNvSpPr/>
          <p:nvPr/>
        </p:nvSpPr>
        <p:spPr>
          <a:xfrm>
            <a:off x="11430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7" name="Shape 5"/>
          <p:cNvSpPr/>
          <p:nvPr/>
        </p:nvSpPr>
        <p:spPr>
          <a:xfrm>
            <a:off x="1492250" y="3966845"/>
            <a:ext cx="114300" cy="114300"/>
          </a:xfrm>
          <a:prstGeom prst="ellipse">
            <a:avLst/>
          </a:prstGeom>
          <a:solidFill>
            <a:srgbClr val="2A75BA"/>
          </a:solidFill>
          <a:ln/>
        </p:spPr>
        <p:txBody>
          <a:bodyPr/>
          <a:lstStyle/>
          <a:p>
            <a:endParaRPr lang="en-US"/>
          </a:p>
        </p:txBody>
      </p:sp>
      <p:sp>
        <p:nvSpPr>
          <p:cNvPr id="8" name="Text 6"/>
          <p:cNvSpPr/>
          <p:nvPr/>
        </p:nvSpPr>
        <p:spPr>
          <a:xfrm>
            <a:off x="1739900" y="3874770"/>
            <a:ext cx="1474946"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AVANTAGES</a:t>
            </a:r>
            <a:endParaRPr lang="en-US" sz="1800" dirty="0"/>
          </a:p>
        </p:txBody>
      </p:sp>
      <p:sp>
        <p:nvSpPr>
          <p:cNvPr id="9" name="Text 7"/>
          <p:cNvSpPr/>
          <p:nvPr/>
        </p:nvSpPr>
        <p:spPr>
          <a:xfrm>
            <a:off x="1305560" y="4401820"/>
            <a:ext cx="4669790" cy="254127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×10 plus rapide que CBS dans le meilleur cas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Borne d'optimalité contrôlable via w</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Reste très rapide sur les grands scénarios</a:t>
            </a:r>
            <a:endParaRPr lang="en-US" sz="2100" dirty="0"/>
          </a:p>
        </p:txBody>
      </p:sp>
      <p:sp>
        <p:nvSpPr>
          <p:cNvPr id="10" name="Shape 8"/>
          <p:cNvSpPr/>
          <p:nvPr/>
        </p:nvSpPr>
        <p:spPr>
          <a:xfrm>
            <a:off x="65913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1" name="Shape 9"/>
          <p:cNvSpPr/>
          <p:nvPr/>
        </p:nvSpPr>
        <p:spPr>
          <a:xfrm>
            <a:off x="6940550" y="3966845"/>
            <a:ext cx="114300" cy="114300"/>
          </a:xfrm>
          <a:prstGeom prst="ellipse">
            <a:avLst/>
          </a:prstGeom>
          <a:solidFill>
            <a:srgbClr val="B76B1C"/>
          </a:solidFill>
          <a:ln/>
        </p:spPr>
        <p:txBody>
          <a:bodyPr/>
          <a:lstStyle/>
          <a:p>
            <a:endParaRPr lang="en-US"/>
          </a:p>
        </p:txBody>
      </p:sp>
      <p:sp>
        <p:nvSpPr>
          <p:cNvPr id="12" name="Text 10"/>
          <p:cNvSpPr/>
          <p:nvPr/>
        </p:nvSpPr>
        <p:spPr>
          <a:xfrm>
            <a:off x="7188200" y="3874770"/>
            <a:ext cx="2096611"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INCONVÉNIENTS</a:t>
            </a:r>
            <a:endParaRPr lang="en-US" sz="1800" dirty="0"/>
          </a:p>
        </p:txBody>
      </p:sp>
      <p:sp>
        <p:nvSpPr>
          <p:cNvPr id="13" name="Text 11"/>
          <p:cNvSpPr/>
          <p:nvPr/>
        </p:nvSpPr>
        <p:spPr>
          <a:xfrm>
            <a:off x="6753860" y="4401820"/>
            <a:ext cx="4669790" cy="164973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Solution sous-optimale : ≤ w × optimum</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Choix basé sur une heuristique inadmissible</a:t>
            </a:r>
            <a:endParaRPr lang="en-US" sz="2100" dirty="0"/>
          </a:p>
        </p:txBody>
      </p:sp>
      <p:sp>
        <p:nvSpPr>
          <p:cNvPr id="14" name="Shape 12"/>
          <p:cNvSpPr/>
          <p:nvPr/>
        </p:nvSpPr>
        <p:spPr>
          <a:xfrm>
            <a:off x="120396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5" name="Shape 13"/>
          <p:cNvSpPr/>
          <p:nvPr/>
        </p:nvSpPr>
        <p:spPr>
          <a:xfrm>
            <a:off x="12388850" y="3966845"/>
            <a:ext cx="114300" cy="114300"/>
          </a:xfrm>
          <a:prstGeom prst="ellipse">
            <a:avLst/>
          </a:prstGeom>
          <a:solidFill>
            <a:srgbClr val="E5E2DA"/>
          </a:solidFill>
          <a:ln/>
        </p:spPr>
        <p:txBody>
          <a:bodyPr/>
          <a:lstStyle/>
          <a:p>
            <a:endParaRPr lang="en-US"/>
          </a:p>
        </p:txBody>
      </p:sp>
      <p:sp>
        <p:nvSpPr>
          <p:cNvPr id="16" name="Text 14"/>
          <p:cNvSpPr/>
          <p:nvPr/>
        </p:nvSpPr>
        <p:spPr>
          <a:xfrm>
            <a:off x="12636500" y="3874770"/>
            <a:ext cx="2562860"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CARACTÉRISTIQUES</a:t>
            </a:r>
            <a:endParaRPr lang="en-US" sz="1800" dirty="0"/>
          </a:p>
        </p:txBody>
      </p:sp>
      <p:sp>
        <p:nvSpPr>
          <p:cNvPr id="17" name="Text 15"/>
          <p:cNvSpPr/>
          <p:nvPr/>
        </p:nvSpPr>
        <p:spPr>
          <a:xfrm>
            <a:off x="12388850" y="44018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FAMILLE</a:t>
            </a:r>
            <a:endParaRPr lang="en-US" sz="1800" dirty="0"/>
          </a:p>
        </p:txBody>
      </p:sp>
      <p:sp>
        <p:nvSpPr>
          <p:cNvPr id="18" name="Text 16"/>
          <p:cNvSpPr/>
          <p:nvPr/>
        </p:nvSpPr>
        <p:spPr>
          <a:xfrm>
            <a:off x="12388850" y="47383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CBS + FOCAL</a:t>
            </a:r>
            <a:endParaRPr lang="en-US" sz="1950" dirty="0"/>
          </a:p>
        </p:txBody>
      </p:sp>
      <p:sp>
        <p:nvSpPr>
          <p:cNvPr id="19" name="Text 17"/>
          <p:cNvSpPr/>
          <p:nvPr/>
        </p:nvSpPr>
        <p:spPr>
          <a:xfrm>
            <a:off x="12388850" y="523367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SOURCE</a:t>
            </a:r>
            <a:endParaRPr lang="en-US" sz="1800" dirty="0"/>
          </a:p>
        </p:txBody>
      </p:sp>
      <p:sp>
        <p:nvSpPr>
          <p:cNvPr id="20" name="Text 18"/>
          <p:cNvSpPr/>
          <p:nvPr/>
        </p:nvSpPr>
        <p:spPr>
          <a:xfrm>
            <a:off x="12388850" y="557022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Felner et al. 2017</a:t>
            </a:r>
            <a:endParaRPr lang="en-US" sz="1950" dirty="0"/>
          </a:p>
        </p:txBody>
      </p:sp>
      <p:sp>
        <p:nvSpPr>
          <p:cNvPr id="21" name="Text 19"/>
          <p:cNvSpPr/>
          <p:nvPr/>
        </p:nvSpPr>
        <p:spPr>
          <a:xfrm>
            <a:off x="12388850" y="60655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OPTIMALITÉ</a:t>
            </a:r>
            <a:endParaRPr lang="en-US" sz="1800" dirty="0"/>
          </a:p>
        </p:txBody>
      </p:sp>
      <p:sp>
        <p:nvSpPr>
          <p:cNvPr id="22" name="Text 20"/>
          <p:cNvSpPr/>
          <p:nvPr/>
        </p:nvSpPr>
        <p:spPr>
          <a:xfrm>
            <a:off x="12388850" y="64020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w-bornée</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4135395"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ALGORITHME · 04 </a:t>
            </a:r>
            <a:r>
              <a:rPr lang="en-US" sz="1800" kern="0" spc="216" dirty="0">
                <a:solidFill>
                  <a:srgbClr val="1A1A1A"/>
                </a:solidFill>
                <a:latin typeface="IBM Plex Mono" pitchFamily="34" charset="0"/>
                <a:ea typeface="IBM Plex Mono" pitchFamily="34" charset="-122"/>
                <a:cs typeface="IBM Plex Mono" pitchFamily="34" charset="-120"/>
              </a:rPr>
              <a:t>OD_ASTAR</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08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A* avec Décomposition d'Opérateurs</a:t>
            </a:r>
            <a:endParaRPr lang="en-US" sz="5100" dirty="0"/>
          </a:p>
        </p:txBody>
      </p:sp>
      <p:sp>
        <p:nvSpPr>
          <p:cNvPr id="5" name="Text 3"/>
          <p:cNvSpPr/>
          <p:nvPr/>
        </p:nvSpPr>
        <p:spPr>
          <a:xfrm>
            <a:off x="1143000" y="2597785"/>
            <a:ext cx="15697200" cy="508635"/>
          </a:xfrm>
          <a:prstGeom prst="rect">
            <a:avLst/>
          </a:prstGeom>
          <a:noFill/>
          <a:ln/>
        </p:spPr>
        <p:txBody>
          <a:bodyPr wrap="square" lIns="25400" tIns="25400" rIns="25400" bIns="25400" rtlCol="0" anchor="t">
            <a:normAutofit/>
          </a:bodyPr>
          <a:lstStyle/>
          <a:p>
            <a:pPr marL="0" indent="0" algn="l">
              <a:lnSpc>
                <a:spcPct val="130000"/>
              </a:lnSpc>
              <a:buNone/>
            </a:pPr>
            <a:r>
              <a:rPr lang="en-US" sz="2850" dirty="0">
                <a:solidFill>
                  <a:srgbClr val="4A4A4A"/>
                </a:solidFill>
                <a:latin typeface="IBM Plex Sans" pitchFamily="34" charset="0"/>
                <a:ea typeface="IBM Plex Sans" pitchFamily="34" charset="-122"/>
                <a:cs typeface="IBM Plex Sans" pitchFamily="34" charset="-120"/>
              </a:rPr>
              <a:t>Un A* sur l'espace </a:t>
            </a:r>
            <a:r>
              <a:rPr lang="en-US" sz="2850" dirty="0">
                <a:solidFill>
                  <a:srgbClr val="2A75BA"/>
                </a:solidFill>
                <a:latin typeface="IBM Plex Sans" pitchFamily="34" charset="0"/>
                <a:ea typeface="IBM Plex Sans" pitchFamily="34" charset="-122"/>
                <a:cs typeface="IBM Plex Sans" pitchFamily="34" charset="-120"/>
              </a:rPr>
              <a:t>joint</a:t>
            </a:r>
            <a:r>
              <a:rPr lang="en-US" sz="2850" dirty="0">
                <a:solidFill>
                  <a:srgbClr val="4A4A4A"/>
                </a:solidFill>
                <a:latin typeface="IBM Plex Sans" pitchFamily="34" charset="0"/>
                <a:ea typeface="IBM Plex Sans" pitchFamily="34" charset="-122"/>
                <a:cs typeface="IBM Plex Sans" pitchFamily="34" charset="-120"/>
              </a:rPr>
              <a:t>, en déplaçant les agents un à un pour élaguer.</a:t>
            </a:r>
            <a:endParaRPr lang="en-US" sz="2850" dirty="0"/>
          </a:p>
        </p:txBody>
      </p:sp>
      <p:sp>
        <p:nvSpPr>
          <p:cNvPr id="6" name="Shape 4"/>
          <p:cNvSpPr/>
          <p:nvPr/>
        </p:nvSpPr>
        <p:spPr>
          <a:xfrm>
            <a:off x="11430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7" name="Shape 5"/>
          <p:cNvSpPr/>
          <p:nvPr/>
        </p:nvSpPr>
        <p:spPr>
          <a:xfrm>
            <a:off x="1492250" y="3966845"/>
            <a:ext cx="114300" cy="114300"/>
          </a:xfrm>
          <a:prstGeom prst="ellipse">
            <a:avLst/>
          </a:prstGeom>
          <a:solidFill>
            <a:srgbClr val="2A75BA"/>
          </a:solidFill>
          <a:ln/>
        </p:spPr>
        <p:txBody>
          <a:bodyPr/>
          <a:lstStyle/>
          <a:p>
            <a:endParaRPr lang="en-US"/>
          </a:p>
        </p:txBody>
      </p:sp>
      <p:sp>
        <p:nvSpPr>
          <p:cNvPr id="8" name="Text 6"/>
          <p:cNvSpPr/>
          <p:nvPr/>
        </p:nvSpPr>
        <p:spPr>
          <a:xfrm>
            <a:off x="1739900" y="3874770"/>
            <a:ext cx="1474946"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AVANTAGES</a:t>
            </a:r>
            <a:endParaRPr lang="en-US" sz="1800" dirty="0"/>
          </a:p>
        </p:txBody>
      </p:sp>
      <p:sp>
        <p:nvSpPr>
          <p:cNvPr id="9" name="Text 7"/>
          <p:cNvSpPr/>
          <p:nvPr/>
        </p:nvSpPr>
        <p:spPr>
          <a:xfrm>
            <a:off x="1305560" y="4401820"/>
            <a:ext cx="4669790" cy="128968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Optimal en somme de coûts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Branchement bien réduit vs A* multi-agent naïf</a:t>
            </a:r>
            <a:endParaRPr lang="en-US" sz="2100" dirty="0"/>
          </a:p>
        </p:txBody>
      </p:sp>
      <p:sp>
        <p:nvSpPr>
          <p:cNvPr id="10" name="Shape 8"/>
          <p:cNvSpPr/>
          <p:nvPr/>
        </p:nvSpPr>
        <p:spPr>
          <a:xfrm>
            <a:off x="65913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1" name="Shape 9"/>
          <p:cNvSpPr/>
          <p:nvPr/>
        </p:nvSpPr>
        <p:spPr>
          <a:xfrm>
            <a:off x="6940550" y="3966845"/>
            <a:ext cx="114300" cy="114300"/>
          </a:xfrm>
          <a:prstGeom prst="ellipse">
            <a:avLst/>
          </a:prstGeom>
          <a:solidFill>
            <a:srgbClr val="B76B1C"/>
          </a:solidFill>
          <a:ln/>
        </p:spPr>
        <p:txBody>
          <a:bodyPr/>
          <a:lstStyle/>
          <a:p>
            <a:endParaRPr lang="en-US"/>
          </a:p>
        </p:txBody>
      </p:sp>
      <p:sp>
        <p:nvSpPr>
          <p:cNvPr id="12" name="Text 10"/>
          <p:cNvSpPr/>
          <p:nvPr/>
        </p:nvSpPr>
        <p:spPr>
          <a:xfrm>
            <a:off x="7188200" y="3874770"/>
            <a:ext cx="2096611"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INCONVÉNIENTS</a:t>
            </a:r>
            <a:endParaRPr lang="en-US" sz="1800" dirty="0"/>
          </a:p>
        </p:txBody>
      </p:sp>
      <p:sp>
        <p:nvSpPr>
          <p:cNvPr id="13" name="Text 11"/>
          <p:cNvSpPr/>
          <p:nvPr/>
        </p:nvSpPr>
        <p:spPr>
          <a:xfrm>
            <a:off x="6753860" y="4401820"/>
            <a:ext cx="4669790" cy="128968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Mémoire et temps explosent au-delà de ~20 drones</a:t>
            </a:r>
            <a:endParaRPr lang="en-US" sz="2100" dirty="0"/>
          </a:p>
          <a:p>
            <a:pPr marL="0" indent="0" algn="l">
              <a:lnSpc>
                <a:spcPct val="135000"/>
              </a:lnSpc>
              <a:buNone/>
            </a:pPr>
            <a:r>
              <a:rPr lang="en-US" sz="2100" dirty="0">
                <a:solidFill>
                  <a:srgbClr val="1A1A1A"/>
                </a:solidFill>
                <a:latin typeface="IBM Plex Sans" pitchFamily="34" charset="0"/>
                <a:ea typeface="IBM Plex Sans" pitchFamily="34" charset="-122"/>
                <a:cs typeface="IBM Plex Sans" pitchFamily="34" charset="-120"/>
              </a:rPr>
              <a:t>Garde tout l'état joint en mémoire</a:t>
            </a:r>
            <a:endParaRPr lang="en-US" sz="2100" dirty="0"/>
          </a:p>
        </p:txBody>
      </p:sp>
      <p:sp>
        <p:nvSpPr>
          <p:cNvPr id="14" name="Shape 12"/>
          <p:cNvSpPr/>
          <p:nvPr/>
        </p:nvSpPr>
        <p:spPr>
          <a:xfrm>
            <a:off x="12039600" y="3487420"/>
            <a:ext cx="5105400" cy="5961380"/>
          </a:xfrm>
          <a:prstGeom prst="roundRect">
            <a:avLst>
              <a:gd name="adj" fmla="val 746"/>
            </a:avLst>
          </a:prstGeom>
          <a:solidFill>
            <a:srgbClr val="FFFFFF"/>
          </a:solidFill>
          <a:ln w="6350">
            <a:solidFill>
              <a:srgbClr val="E5E2DA"/>
            </a:solidFill>
            <a:prstDash val="solid"/>
          </a:ln>
        </p:spPr>
        <p:txBody>
          <a:bodyPr/>
          <a:lstStyle/>
          <a:p>
            <a:endParaRPr lang="en-US"/>
          </a:p>
        </p:txBody>
      </p:sp>
      <p:sp>
        <p:nvSpPr>
          <p:cNvPr id="15" name="Shape 13"/>
          <p:cNvSpPr/>
          <p:nvPr/>
        </p:nvSpPr>
        <p:spPr>
          <a:xfrm>
            <a:off x="12388850" y="3966845"/>
            <a:ext cx="114300" cy="114300"/>
          </a:xfrm>
          <a:prstGeom prst="ellipse">
            <a:avLst/>
          </a:prstGeom>
          <a:solidFill>
            <a:srgbClr val="E5E2DA"/>
          </a:solidFill>
          <a:ln/>
        </p:spPr>
        <p:txBody>
          <a:bodyPr/>
          <a:lstStyle/>
          <a:p>
            <a:endParaRPr lang="en-US"/>
          </a:p>
        </p:txBody>
      </p:sp>
      <p:sp>
        <p:nvSpPr>
          <p:cNvPr id="16" name="Text 14"/>
          <p:cNvSpPr/>
          <p:nvPr/>
        </p:nvSpPr>
        <p:spPr>
          <a:xfrm>
            <a:off x="12636500" y="3874770"/>
            <a:ext cx="2562860" cy="336550"/>
          </a:xfrm>
          <a:prstGeom prst="rect">
            <a:avLst/>
          </a:prstGeom>
          <a:noFill/>
          <a:ln/>
        </p:spPr>
        <p:txBody>
          <a:bodyPr wrap="square" lIns="0" tIns="0" rIns="0" bIns="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CARACTÉRISTIQUES</a:t>
            </a:r>
            <a:endParaRPr lang="en-US" sz="1800" dirty="0"/>
          </a:p>
        </p:txBody>
      </p:sp>
      <p:sp>
        <p:nvSpPr>
          <p:cNvPr id="17" name="Text 15"/>
          <p:cNvSpPr/>
          <p:nvPr/>
        </p:nvSpPr>
        <p:spPr>
          <a:xfrm>
            <a:off x="12388850" y="44018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FAMILLE</a:t>
            </a:r>
            <a:endParaRPr lang="en-US" sz="1800" dirty="0"/>
          </a:p>
        </p:txBody>
      </p:sp>
      <p:sp>
        <p:nvSpPr>
          <p:cNvPr id="18" name="Text 16"/>
          <p:cNvSpPr/>
          <p:nvPr/>
        </p:nvSpPr>
        <p:spPr>
          <a:xfrm>
            <a:off x="12388850" y="47383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A* sur espace joint</a:t>
            </a:r>
            <a:endParaRPr lang="en-US" sz="1950" dirty="0"/>
          </a:p>
        </p:txBody>
      </p:sp>
      <p:sp>
        <p:nvSpPr>
          <p:cNvPr id="19" name="Text 17"/>
          <p:cNvSpPr/>
          <p:nvPr/>
        </p:nvSpPr>
        <p:spPr>
          <a:xfrm>
            <a:off x="12388850" y="523367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HEURISTIQUE</a:t>
            </a:r>
            <a:endParaRPr lang="en-US" sz="1800" dirty="0"/>
          </a:p>
        </p:txBody>
      </p:sp>
      <p:sp>
        <p:nvSpPr>
          <p:cNvPr id="20" name="Text 18"/>
          <p:cNvSpPr/>
          <p:nvPr/>
        </p:nvSpPr>
        <p:spPr>
          <a:xfrm>
            <a:off x="12388850" y="557022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Σ BFS (admissible)</a:t>
            </a:r>
            <a:endParaRPr lang="en-US" sz="1950" dirty="0"/>
          </a:p>
        </p:txBody>
      </p:sp>
      <p:sp>
        <p:nvSpPr>
          <p:cNvPr id="21" name="Text 19"/>
          <p:cNvSpPr/>
          <p:nvPr/>
        </p:nvSpPr>
        <p:spPr>
          <a:xfrm>
            <a:off x="12388850" y="6065520"/>
            <a:ext cx="4539107"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A8A86"/>
                </a:solidFill>
                <a:latin typeface="IBM Plex Mono" pitchFamily="34" charset="0"/>
                <a:ea typeface="IBM Plex Mono" pitchFamily="34" charset="-122"/>
                <a:cs typeface="IBM Plex Mono" pitchFamily="34" charset="-120"/>
              </a:rPr>
              <a:t>OPTIMALITÉ</a:t>
            </a:r>
            <a:endParaRPr lang="en-US" sz="1800" dirty="0"/>
          </a:p>
        </p:txBody>
      </p:sp>
      <p:sp>
        <p:nvSpPr>
          <p:cNvPr id="22" name="Text 20"/>
          <p:cNvSpPr/>
          <p:nvPr/>
        </p:nvSpPr>
        <p:spPr>
          <a:xfrm>
            <a:off x="12388850" y="6402070"/>
            <a:ext cx="4539107"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A1A1A"/>
                </a:solidFill>
                <a:latin typeface="IBM Plex Mono" pitchFamily="34" charset="0"/>
                <a:ea typeface="IBM Plex Mono" pitchFamily="34" charset="-122"/>
                <a:cs typeface="IBM Plex Mono" pitchFamily="34" charset="-120"/>
              </a:rPr>
              <a:t>optimale (somme)</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4069499"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COMPARAISON DES MÉTHODES</a:t>
            </a:r>
            <a:endParaRPr lang="en-US" sz="1800" dirty="0"/>
          </a:p>
        </p:txBody>
      </p:sp>
      <p:sp>
        <p:nvSpPr>
          <p:cNvPr id="3" name="Text 1"/>
          <p:cNvSpPr/>
          <p:nvPr/>
        </p:nvSpPr>
        <p:spPr>
          <a:xfrm>
            <a:off x="16057086" y="914400"/>
            <a:ext cx="1164114" cy="33655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09 / 10</a:t>
            </a:r>
            <a:endParaRPr lang="en-US" sz="1800" dirty="0"/>
          </a:p>
        </p:txBody>
      </p:sp>
      <p:sp>
        <p:nvSpPr>
          <p:cNvPr id="4" name="Text 2"/>
          <p:cNvSpPr/>
          <p:nvPr/>
        </p:nvSpPr>
        <p:spPr>
          <a:xfrm>
            <a:off x="1143000" y="1746250"/>
            <a:ext cx="16482060" cy="718185"/>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102" dirty="0">
                <a:solidFill>
                  <a:srgbClr val="1A1A1A"/>
                </a:solidFill>
                <a:latin typeface="IBM Plex Sans" pitchFamily="34" charset="0"/>
                <a:ea typeface="IBM Plex Sans" pitchFamily="34" charset="-122"/>
                <a:cs typeface="IBM Plex Sans" pitchFamily="34" charset="-120"/>
              </a:rPr>
              <a:t>Quatre solveurs, une seule interface.</a:t>
            </a:r>
            <a:endParaRPr lang="en-US" sz="5100" dirty="0"/>
          </a:p>
        </p:txBody>
      </p:sp>
      <p:sp>
        <p:nvSpPr>
          <p:cNvPr id="5" name="Shape 3"/>
          <p:cNvSpPr/>
          <p:nvPr/>
        </p:nvSpPr>
        <p:spPr>
          <a:xfrm>
            <a:off x="1143000" y="3559810"/>
            <a:ext cx="2880360" cy="9525"/>
          </a:xfrm>
          <a:prstGeom prst="rect">
            <a:avLst/>
          </a:prstGeom>
          <a:solidFill>
            <a:srgbClr val="1A1A1A"/>
          </a:solidFill>
          <a:ln/>
        </p:spPr>
        <p:txBody>
          <a:bodyPr/>
          <a:lstStyle/>
          <a:p>
            <a:endParaRPr lang="en-US"/>
          </a:p>
        </p:txBody>
      </p:sp>
      <p:sp>
        <p:nvSpPr>
          <p:cNvPr id="6" name="Text 4"/>
          <p:cNvSpPr/>
          <p:nvPr/>
        </p:nvSpPr>
        <p:spPr>
          <a:xfrm>
            <a:off x="1352550" y="3093085"/>
            <a:ext cx="2547671" cy="333375"/>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MÉTHODE</a:t>
            </a:r>
            <a:endParaRPr lang="en-US" sz="1800" dirty="0"/>
          </a:p>
        </p:txBody>
      </p:sp>
      <p:sp>
        <p:nvSpPr>
          <p:cNvPr id="7" name="Shape 5"/>
          <p:cNvSpPr/>
          <p:nvPr/>
        </p:nvSpPr>
        <p:spPr>
          <a:xfrm>
            <a:off x="4023360" y="3559810"/>
            <a:ext cx="4160520" cy="9525"/>
          </a:xfrm>
          <a:prstGeom prst="rect">
            <a:avLst/>
          </a:prstGeom>
          <a:solidFill>
            <a:srgbClr val="1A1A1A"/>
          </a:solidFill>
          <a:ln/>
        </p:spPr>
        <p:txBody>
          <a:bodyPr/>
          <a:lstStyle/>
          <a:p>
            <a:endParaRPr lang="en-US"/>
          </a:p>
        </p:txBody>
      </p:sp>
      <p:sp>
        <p:nvSpPr>
          <p:cNvPr id="8" name="Text 6"/>
          <p:cNvSpPr/>
          <p:nvPr/>
        </p:nvSpPr>
        <p:spPr>
          <a:xfrm>
            <a:off x="4232910" y="3093085"/>
            <a:ext cx="3866235" cy="333375"/>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FAMILLE</a:t>
            </a:r>
            <a:endParaRPr lang="en-US" sz="1800" dirty="0"/>
          </a:p>
        </p:txBody>
      </p:sp>
      <p:sp>
        <p:nvSpPr>
          <p:cNvPr id="9" name="Shape 7"/>
          <p:cNvSpPr/>
          <p:nvPr/>
        </p:nvSpPr>
        <p:spPr>
          <a:xfrm>
            <a:off x="8183880" y="3559810"/>
            <a:ext cx="3520440" cy="9525"/>
          </a:xfrm>
          <a:prstGeom prst="rect">
            <a:avLst/>
          </a:prstGeom>
          <a:solidFill>
            <a:srgbClr val="1A1A1A"/>
          </a:solidFill>
          <a:ln/>
        </p:spPr>
        <p:txBody>
          <a:bodyPr/>
          <a:lstStyle/>
          <a:p>
            <a:endParaRPr lang="en-US"/>
          </a:p>
        </p:txBody>
      </p:sp>
      <p:sp>
        <p:nvSpPr>
          <p:cNvPr id="10" name="Text 8"/>
          <p:cNvSpPr/>
          <p:nvPr/>
        </p:nvSpPr>
        <p:spPr>
          <a:xfrm>
            <a:off x="8393430" y="3093085"/>
            <a:ext cx="3206953" cy="333375"/>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GARANTIE</a:t>
            </a:r>
            <a:endParaRPr lang="en-US" sz="1800" dirty="0"/>
          </a:p>
        </p:txBody>
      </p:sp>
      <p:sp>
        <p:nvSpPr>
          <p:cNvPr id="11" name="Shape 9"/>
          <p:cNvSpPr/>
          <p:nvPr/>
        </p:nvSpPr>
        <p:spPr>
          <a:xfrm>
            <a:off x="11704320" y="3559810"/>
            <a:ext cx="5440680" cy="9525"/>
          </a:xfrm>
          <a:prstGeom prst="rect">
            <a:avLst/>
          </a:prstGeom>
          <a:solidFill>
            <a:srgbClr val="1A1A1A"/>
          </a:solidFill>
          <a:ln/>
        </p:spPr>
        <p:txBody>
          <a:bodyPr/>
          <a:lstStyle/>
          <a:p>
            <a:endParaRPr lang="en-US"/>
          </a:p>
        </p:txBody>
      </p:sp>
      <p:sp>
        <p:nvSpPr>
          <p:cNvPr id="12" name="Text 10"/>
          <p:cNvSpPr/>
          <p:nvPr/>
        </p:nvSpPr>
        <p:spPr>
          <a:xfrm>
            <a:off x="11913870" y="3093085"/>
            <a:ext cx="5184801" cy="333375"/>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8A8A86"/>
                </a:solidFill>
                <a:latin typeface="IBM Plex Mono" pitchFamily="34" charset="0"/>
                <a:ea typeface="IBM Plex Mono" pitchFamily="34" charset="-122"/>
                <a:cs typeface="IBM Plex Mono" pitchFamily="34" charset="-120"/>
              </a:rPr>
              <a:t>PASSAGE À L'ÉCHELLE</a:t>
            </a:r>
            <a:endParaRPr lang="en-US" sz="1800" dirty="0"/>
          </a:p>
        </p:txBody>
      </p:sp>
      <p:sp>
        <p:nvSpPr>
          <p:cNvPr id="13" name="Shape 11"/>
          <p:cNvSpPr/>
          <p:nvPr/>
        </p:nvSpPr>
        <p:spPr>
          <a:xfrm>
            <a:off x="1143000" y="4525010"/>
            <a:ext cx="2880360" cy="9525"/>
          </a:xfrm>
          <a:prstGeom prst="rect">
            <a:avLst/>
          </a:prstGeom>
          <a:solidFill>
            <a:srgbClr val="E5E2DA"/>
          </a:solidFill>
          <a:ln/>
        </p:spPr>
        <p:txBody>
          <a:bodyPr/>
          <a:lstStyle/>
          <a:p>
            <a:endParaRPr lang="en-US"/>
          </a:p>
        </p:txBody>
      </p:sp>
      <p:sp>
        <p:nvSpPr>
          <p:cNvPr id="14" name="Text 12"/>
          <p:cNvSpPr/>
          <p:nvPr/>
        </p:nvSpPr>
        <p:spPr>
          <a:xfrm>
            <a:off x="1352550" y="3813810"/>
            <a:ext cx="2547671" cy="501650"/>
          </a:xfrm>
          <a:prstGeom prst="rect">
            <a:avLst/>
          </a:prstGeom>
          <a:noFill/>
          <a:ln/>
        </p:spPr>
        <p:txBody>
          <a:bodyPr wrap="square" lIns="25400" tIns="25400" rIns="25400" bIns="25400" rtlCol="0" anchor="ctr">
            <a:normAutofit/>
          </a:bodyPr>
          <a:lstStyle/>
          <a:p>
            <a:pPr marL="0" indent="0" algn="l">
              <a:buNone/>
            </a:pPr>
            <a:r>
              <a:rPr lang="en-US" sz="2250" b="1" dirty="0">
                <a:solidFill>
                  <a:srgbClr val="1A1A1A"/>
                </a:solidFill>
                <a:latin typeface="IBM Plex Mono" pitchFamily="34" charset="0"/>
                <a:ea typeface="IBM Plex Mono" pitchFamily="34" charset="-122"/>
                <a:cs typeface="IBM Plex Mono" pitchFamily="34" charset="-120"/>
              </a:rPr>
              <a:t>cpsat</a:t>
            </a:r>
            <a:endParaRPr lang="en-US" sz="2250" dirty="0"/>
          </a:p>
        </p:txBody>
      </p:sp>
      <p:sp>
        <p:nvSpPr>
          <p:cNvPr id="15" name="Shape 13"/>
          <p:cNvSpPr/>
          <p:nvPr/>
        </p:nvSpPr>
        <p:spPr>
          <a:xfrm>
            <a:off x="4023360" y="4525010"/>
            <a:ext cx="4160520" cy="9525"/>
          </a:xfrm>
          <a:prstGeom prst="rect">
            <a:avLst/>
          </a:prstGeom>
          <a:solidFill>
            <a:srgbClr val="E5E2DA"/>
          </a:solidFill>
          <a:ln/>
        </p:spPr>
        <p:txBody>
          <a:bodyPr/>
          <a:lstStyle/>
          <a:p>
            <a:endParaRPr lang="en-US"/>
          </a:p>
        </p:txBody>
      </p:sp>
      <p:sp>
        <p:nvSpPr>
          <p:cNvPr id="16" name="Text 14"/>
          <p:cNvSpPr/>
          <p:nvPr/>
        </p:nvSpPr>
        <p:spPr>
          <a:xfrm>
            <a:off x="4232910" y="3813810"/>
            <a:ext cx="3866235" cy="501650"/>
          </a:xfrm>
          <a:prstGeom prst="rect">
            <a:avLst/>
          </a:prstGeom>
          <a:noFill/>
          <a:ln/>
        </p:spPr>
        <p:txBody>
          <a:bodyPr wrap="square" lIns="25400" tIns="25400" rIns="25400" bIns="25400" rtlCol="0" anchor="ctr">
            <a:normAutofit/>
          </a:bodyPr>
          <a:lstStyle/>
          <a:p>
            <a:pPr marL="0" indent="0" algn="l">
              <a:buNone/>
            </a:pPr>
            <a:r>
              <a:rPr lang="en-US" sz="1950" dirty="0">
                <a:solidFill>
                  <a:srgbClr val="4A4A4A"/>
                </a:solidFill>
                <a:latin typeface="IBM Plex Sans" pitchFamily="34" charset="0"/>
                <a:ea typeface="IBM Plex Sans" pitchFamily="34" charset="-122"/>
                <a:cs typeface="IBM Plex Sans" pitchFamily="34" charset="-120"/>
              </a:rPr>
              <a:t>Programmation par contraintes</a:t>
            </a:r>
            <a:endParaRPr lang="en-US" sz="1950" dirty="0"/>
          </a:p>
        </p:txBody>
      </p:sp>
      <p:sp>
        <p:nvSpPr>
          <p:cNvPr id="17" name="Shape 15"/>
          <p:cNvSpPr/>
          <p:nvPr/>
        </p:nvSpPr>
        <p:spPr>
          <a:xfrm>
            <a:off x="8183880" y="4525010"/>
            <a:ext cx="3520440" cy="9525"/>
          </a:xfrm>
          <a:prstGeom prst="rect">
            <a:avLst/>
          </a:prstGeom>
          <a:solidFill>
            <a:srgbClr val="E5E2DA"/>
          </a:solidFill>
          <a:ln/>
        </p:spPr>
        <p:txBody>
          <a:bodyPr/>
          <a:lstStyle/>
          <a:p>
            <a:endParaRPr lang="en-US"/>
          </a:p>
        </p:txBody>
      </p:sp>
      <p:sp>
        <p:nvSpPr>
          <p:cNvPr id="18" name="Shape 16"/>
          <p:cNvSpPr/>
          <p:nvPr/>
        </p:nvSpPr>
        <p:spPr>
          <a:xfrm>
            <a:off x="8393430" y="3816985"/>
            <a:ext cx="1562100" cy="463550"/>
          </a:xfrm>
          <a:prstGeom prst="roundRect">
            <a:avLst>
              <a:gd name="adj" fmla="val 50000"/>
            </a:avLst>
          </a:prstGeom>
          <a:ln w="6350">
            <a:solidFill>
              <a:srgbClr val="2A75BA"/>
            </a:solidFill>
            <a:prstDash val="solid"/>
          </a:ln>
        </p:spPr>
        <p:txBody>
          <a:bodyPr/>
          <a:lstStyle/>
          <a:p>
            <a:endParaRPr lang="en-US"/>
          </a:p>
        </p:txBody>
      </p:sp>
      <p:sp>
        <p:nvSpPr>
          <p:cNvPr id="19" name="Text 17"/>
          <p:cNvSpPr/>
          <p:nvPr/>
        </p:nvSpPr>
        <p:spPr>
          <a:xfrm>
            <a:off x="8571230" y="3899535"/>
            <a:ext cx="1282700"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2A75BA"/>
                </a:solidFill>
                <a:latin typeface="IBM Plex Mono" pitchFamily="34" charset="0"/>
                <a:ea typeface="IBM Plex Mono" pitchFamily="34" charset="-122"/>
                <a:cs typeface="IBM Plex Mono" pitchFamily="34" charset="-120"/>
              </a:rPr>
              <a:t>Optimale</a:t>
            </a:r>
            <a:endParaRPr lang="en-US" sz="1800" dirty="0"/>
          </a:p>
        </p:txBody>
      </p:sp>
      <p:sp>
        <p:nvSpPr>
          <p:cNvPr id="20" name="Shape 18"/>
          <p:cNvSpPr/>
          <p:nvPr/>
        </p:nvSpPr>
        <p:spPr>
          <a:xfrm>
            <a:off x="11704320" y="4525010"/>
            <a:ext cx="5440680" cy="9525"/>
          </a:xfrm>
          <a:prstGeom prst="rect">
            <a:avLst/>
          </a:prstGeom>
          <a:solidFill>
            <a:srgbClr val="E5E2DA"/>
          </a:solidFill>
          <a:ln/>
        </p:spPr>
        <p:txBody>
          <a:bodyPr/>
          <a:lstStyle/>
          <a:p>
            <a:endParaRPr lang="en-US"/>
          </a:p>
        </p:txBody>
      </p:sp>
      <p:sp>
        <p:nvSpPr>
          <p:cNvPr id="21" name="Text 19"/>
          <p:cNvSpPr/>
          <p:nvPr/>
        </p:nvSpPr>
        <p:spPr>
          <a:xfrm>
            <a:off x="11913870" y="3813810"/>
            <a:ext cx="5184801" cy="501650"/>
          </a:xfrm>
          <a:prstGeom prst="rect">
            <a:avLst/>
          </a:prstGeom>
          <a:noFill/>
          <a:ln/>
        </p:spPr>
        <p:txBody>
          <a:bodyPr wrap="square" lIns="25400" tIns="25400" rIns="25400" bIns="25400" rtlCol="0" anchor="ctr">
            <a:normAutofit/>
          </a:bodyPr>
          <a:lstStyle/>
          <a:p>
            <a:pPr marL="0" indent="0" algn="l">
              <a:buNone/>
            </a:pPr>
            <a:r>
              <a:rPr lang="en-US" sz="1800" dirty="0">
                <a:solidFill>
                  <a:srgbClr val="4A4A4A"/>
                </a:solidFill>
                <a:latin typeface="IBM Plex Mono" pitchFamily="34" charset="0"/>
                <a:ea typeface="IBM Plex Mono" pitchFamily="34" charset="-122"/>
                <a:cs typeface="IBM Plex Mono" pitchFamily="34" charset="-120"/>
              </a:rPr>
              <a:t>timeout dès ~14 drones</a:t>
            </a:r>
            <a:endParaRPr lang="en-US" sz="1800" dirty="0"/>
          </a:p>
        </p:txBody>
      </p:sp>
      <p:sp>
        <p:nvSpPr>
          <p:cNvPr id="22" name="Shape 20"/>
          <p:cNvSpPr/>
          <p:nvPr/>
        </p:nvSpPr>
        <p:spPr>
          <a:xfrm>
            <a:off x="1143000" y="5490210"/>
            <a:ext cx="2880360" cy="9525"/>
          </a:xfrm>
          <a:prstGeom prst="rect">
            <a:avLst/>
          </a:prstGeom>
          <a:solidFill>
            <a:srgbClr val="E5E2DA"/>
          </a:solidFill>
          <a:ln/>
        </p:spPr>
        <p:txBody>
          <a:bodyPr/>
          <a:lstStyle/>
          <a:p>
            <a:endParaRPr lang="en-US"/>
          </a:p>
        </p:txBody>
      </p:sp>
      <p:sp>
        <p:nvSpPr>
          <p:cNvPr id="23" name="Text 21"/>
          <p:cNvSpPr/>
          <p:nvPr/>
        </p:nvSpPr>
        <p:spPr>
          <a:xfrm>
            <a:off x="1352550" y="4779010"/>
            <a:ext cx="2547671" cy="501650"/>
          </a:xfrm>
          <a:prstGeom prst="rect">
            <a:avLst/>
          </a:prstGeom>
          <a:noFill/>
          <a:ln/>
        </p:spPr>
        <p:txBody>
          <a:bodyPr wrap="square" lIns="25400" tIns="25400" rIns="25400" bIns="25400" rtlCol="0" anchor="ctr">
            <a:normAutofit/>
          </a:bodyPr>
          <a:lstStyle/>
          <a:p>
            <a:pPr marL="0" indent="0" algn="l">
              <a:buNone/>
            </a:pPr>
            <a:r>
              <a:rPr lang="en-US" sz="2250" b="1" dirty="0">
                <a:solidFill>
                  <a:srgbClr val="1A1A1A"/>
                </a:solidFill>
                <a:latin typeface="IBM Plex Mono" pitchFamily="34" charset="0"/>
                <a:ea typeface="IBM Plex Mono" pitchFamily="34" charset="-122"/>
                <a:cs typeface="IBM Plex Mono" pitchFamily="34" charset="-120"/>
              </a:rPr>
              <a:t>cbs</a:t>
            </a:r>
            <a:endParaRPr lang="en-US" sz="2250" dirty="0"/>
          </a:p>
        </p:txBody>
      </p:sp>
      <p:sp>
        <p:nvSpPr>
          <p:cNvPr id="24" name="Shape 22"/>
          <p:cNvSpPr/>
          <p:nvPr/>
        </p:nvSpPr>
        <p:spPr>
          <a:xfrm>
            <a:off x="4023360" y="5490210"/>
            <a:ext cx="4160520" cy="9525"/>
          </a:xfrm>
          <a:prstGeom prst="rect">
            <a:avLst/>
          </a:prstGeom>
          <a:solidFill>
            <a:srgbClr val="E5E2DA"/>
          </a:solidFill>
          <a:ln/>
        </p:spPr>
        <p:txBody>
          <a:bodyPr/>
          <a:lstStyle/>
          <a:p>
            <a:endParaRPr lang="en-US"/>
          </a:p>
        </p:txBody>
      </p:sp>
      <p:sp>
        <p:nvSpPr>
          <p:cNvPr id="25" name="Text 23"/>
          <p:cNvSpPr/>
          <p:nvPr/>
        </p:nvSpPr>
        <p:spPr>
          <a:xfrm>
            <a:off x="4232910" y="4779010"/>
            <a:ext cx="3866235" cy="501650"/>
          </a:xfrm>
          <a:prstGeom prst="rect">
            <a:avLst/>
          </a:prstGeom>
          <a:noFill/>
          <a:ln/>
        </p:spPr>
        <p:txBody>
          <a:bodyPr wrap="square" lIns="25400" tIns="25400" rIns="25400" bIns="25400" rtlCol="0" anchor="ctr">
            <a:normAutofit/>
          </a:bodyPr>
          <a:lstStyle/>
          <a:p>
            <a:pPr marL="0" indent="0" algn="l">
              <a:buNone/>
            </a:pPr>
            <a:r>
              <a:rPr lang="en-US" sz="1950" dirty="0">
                <a:solidFill>
                  <a:srgbClr val="4A4A4A"/>
                </a:solidFill>
                <a:latin typeface="IBM Plex Sans" pitchFamily="34" charset="0"/>
                <a:ea typeface="IBM Plex Sans" pitchFamily="34" charset="-122"/>
                <a:cs typeface="IBM Plex Sans" pitchFamily="34" charset="-120"/>
              </a:rPr>
              <a:t>Recherche · deux niveaux</a:t>
            </a:r>
            <a:endParaRPr lang="en-US" sz="1950" dirty="0"/>
          </a:p>
        </p:txBody>
      </p:sp>
      <p:sp>
        <p:nvSpPr>
          <p:cNvPr id="26" name="Shape 24"/>
          <p:cNvSpPr/>
          <p:nvPr/>
        </p:nvSpPr>
        <p:spPr>
          <a:xfrm>
            <a:off x="8183880" y="5490210"/>
            <a:ext cx="3520440" cy="9525"/>
          </a:xfrm>
          <a:prstGeom prst="rect">
            <a:avLst/>
          </a:prstGeom>
          <a:solidFill>
            <a:srgbClr val="E5E2DA"/>
          </a:solidFill>
          <a:ln/>
        </p:spPr>
        <p:txBody>
          <a:bodyPr/>
          <a:lstStyle/>
          <a:p>
            <a:endParaRPr lang="en-US"/>
          </a:p>
        </p:txBody>
      </p:sp>
      <p:sp>
        <p:nvSpPr>
          <p:cNvPr id="27" name="Shape 25"/>
          <p:cNvSpPr/>
          <p:nvPr/>
        </p:nvSpPr>
        <p:spPr>
          <a:xfrm>
            <a:off x="8393430" y="4782185"/>
            <a:ext cx="1562100" cy="463550"/>
          </a:xfrm>
          <a:prstGeom prst="roundRect">
            <a:avLst>
              <a:gd name="adj" fmla="val 50000"/>
            </a:avLst>
          </a:prstGeom>
          <a:ln w="6350">
            <a:solidFill>
              <a:srgbClr val="2A75BA"/>
            </a:solidFill>
            <a:prstDash val="solid"/>
          </a:ln>
        </p:spPr>
        <p:txBody>
          <a:bodyPr/>
          <a:lstStyle/>
          <a:p>
            <a:endParaRPr lang="en-US"/>
          </a:p>
        </p:txBody>
      </p:sp>
      <p:sp>
        <p:nvSpPr>
          <p:cNvPr id="28" name="Text 26"/>
          <p:cNvSpPr/>
          <p:nvPr/>
        </p:nvSpPr>
        <p:spPr>
          <a:xfrm>
            <a:off x="8571230" y="4864735"/>
            <a:ext cx="1282700"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2A75BA"/>
                </a:solidFill>
                <a:latin typeface="IBM Plex Mono" pitchFamily="34" charset="0"/>
                <a:ea typeface="IBM Plex Mono" pitchFamily="34" charset="-122"/>
                <a:cs typeface="IBM Plex Mono" pitchFamily="34" charset="-120"/>
              </a:rPr>
              <a:t>Optimale</a:t>
            </a:r>
            <a:endParaRPr lang="en-US" sz="1800" dirty="0"/>
          </a:p>
        </p:txBody>
      </p:sp>
      <p:sp>
        <p:nvSpPr>
          <p:cNvPr id="29" name="Shape 27"/>
          <p:cNvSpPr/>
          <p:nvPr/>
        </p:nvSpPr>
        <p:spPr>
          <a:xfrm>
            <a:off x="11704320" y="5490210"/>
            <a:ext cx="5440680" cy="9525"/>
          </a:xfrm>
          <a:prstGeom prst="rect">
            <a:avLst/>
          </a:prstGeom>
          <a:solidFill>
            <a:srgbClr val="E5E2DA"/>
          </a:solidFill>
          <a:ln/>
        </p:spPr>
        <p:txBody>
          <a:bodyPr/>
          <a:lstStyle/>
          <a:p>
            <a:endParaRPr lang="en-US"/>
          </a:p>
        </p:txBody>
      </p:sp>
      <p:sp>
        <p:nvSpPr>
          <p:cNvPr id="30" name="Text 28"/>
          <p:cNvSpPr/>
          <p:nvPr/>
        </p:nvSpPr>
        <p:spPr>
          <a:xfrm>
            <a:off x="11913870" y="4779010"/>
            <a:ext cx="5184801" cy="501650"/>
          </a:xfrm>
          <a:prstGeom prst="rect">
            <a:avLst/>
          </a:prstGeom>
          <a:noFill/>
          <a:ln/>
        </p:spPr>
        <p:txBody>
          <a:bodyPr wrap="square" lIns="25400" tIns="25400" rIns="25400" bIns="25400" rtlCol="0" anchor="ctr">
            <a:normAutofit/>
          </a:bodyPr>
          <a:lstStyle/>
          <a:p>
            <a:pPr marL="0" indent="0" algn="l">
              <a:buNone/>
            </a:pPr>
            <a:r>
              <a:rPr lang="en-US" sz="1800" dirty="0">
                <a:solidFill>
                  <a:srgbClr val="4A4A4A"/>
                </a:solidFill>
                <a:latin typeface="IBM Plex Mono" pitchFamily="34" charset="0"/>
                <a:ea typeface="IBM Plex Mono" pitchFamily="34" charset="-122"/>
                <a:cs typeface="IBM Plex Mono" pitchFamily="34" charset="-120"/>
              </a:rPr>
              <a:t>bon si peu de conflits</a:t>
            </a:r>
            <a:endParaRPr lang="en-US" sz="1800" dirty="0"/>
          </a:p>
        </p:txBody>
      </p:sp>
      <p:sp>
        <p:nvSpPr>
          <p:cNvPr id="31" name="Shape 29"/>
          <p:cNvSpPr/>
          <p:nvPr/>
        </p:nvSpPr>
        <p:spPr>
          <a:xfrm>
            <a:off x="1143000" y="6455410"/>
            <a:ext cx="2880360" cy="9525"/>
          </a:xfrm>
          <a:prstGeom prst="rect">
            <a:avLst/>
          </a:prstGeom>
          <a:solidFill>
            <a:srgbClr val="E5E2DA"/>
          </a:solidFill>
          <a:ln/>
        </p:spPr>
        <p:txBody>
          <a:bodyPr/>
          <a:lstStyle/>
          <a:p>
            <a:endParaRPr lang="en-US"/>
          </a:p>
        </p:txBody>
      </p:sp>
      <p:sp>
        <p:nvSpPr>
          <p:cNvPr id="32" name="Text 30"/>
          <p:cNvSpPr/>
          <p:nvPr/>
        </p:nvSpPr>
        <p:spPr>
          <a:xfrm>
            <a:off x="1352550" y="5744210"/>
            <a:ext cx="2547671" cy="501650"/>
          </a:xfrm>
          <a:prstGeom prst="rect">
            <a:avLst/>
          </a:prstGeom>
          <a:noFill/>
          <a:ln/>
        </p:spPr>
        <p:txBody>
          <a:bodyPr wrap="square" lIns="25400" tIns="25400" rIns="25400" bIns="25400" rtlCol="0" anchor="ctr">
            <a:normAutofit/>
          </a:bodyPr>
          <a:lstStyle/>
          <a:p>
            <a:pPr marL="0" indent="0" algn="l">
              <a:buNone/>
            </a:pPr>
            <a:r>
              <a:rPr lang="en-US" sz="2250" b="1" dirty="0">
                <a:solidFill>
                  <a:srgbClr val="1A1A1A"/>
                </a:solidFill>
                <a:latin typeface="IBM Plex Mono" pitchFamily="34" charset="0"/>
                <a:ea typeface="IBM Plex Mono" pitchFamily="34" charset="-122"/>
                <a:cs typeface="IBM Plex Mono" pitchFamily="34" charset="-120"/>
              </a:rPr>
              <a:t>ecbs</a:t>
            </a:r>
            <a:endParaRPr lang="en-US" sz="2250" dirty="0"/>
          </a:p>
        </p:txBody>
      </p:sp>
      <p:sp>
        <p:nvSpPr>
          <p:cNvPr id="33" name="Shape 31"/>
          <p:cNvSpPr/>
          <p:nvPr/>
        </p:nvSpPr>
        <p:spPr>
          <a:xfrm>
            <a:off x="4023360" y="6455410"/>
            <a:ext cx="4160520" cy="9525"/>
          </a:xfrm>
          <a:prstGeom prst="rect">
            <a:avLst/>
          </a:prstGeom>
          <a:solidFill>
            <a:srgbClr val="E5E2DA"/>
          </a:solidFill>
          <a:ln/>
        </p:spPr>
        <p:txBody>
          <a:bodyPr/>
          <a:lstStyle/>
          <a:p>
            <a:endParaRPr lang="en-US"/>
          </a:p>
        </p:txBody>
      </p:sp>
      <p:sp>
        <p:nvSpPr>
          <p:cNvPr id="34" name="Text 32"/>
          <p:cNvSpPr/>
          <p:nvPr/>
        </p:nvSpPr>
        <p:spPr>
          <a:xfrm>
            <a:off x="4232910" y="5744210"/>
            <a:ext cx="3866235" cy="501650"/>
          </a:xfrm>
          <a:prstGeom prst="rect">
            <a:avLst/>
          </a:prstGeom>
          <a:noFill/>
          <a:ln/>
        </p:spPr>
        <p:txBody>
          <a:bodyPr wrap="square" lIns="25400" tIns="25400" rIns="25400" bIns="25400" rtlCol="0" anchor="ctr">
            <a:normAutofit/>
          </a:bodyPr>
          <a:lstStyle/>
          <a:p>
            <a:pPr marL="0" indent="0" algn="l">
              <a:buNone/>
            </a:pPr>
            <a:r>
              <a:rPr lang="en-US" sz="1950" dirty="0">
                <a:solidFill>
                  <a:srgbClr val="4A4A4A"/>
                </a:solidFill>
                <a:latin typeface="IBM Plex Sans" pitchFamily="34" charset="0"/>
                <a:ea typeface="IBM Plex Sans" pitchFamily="34" charset="-122"/>
                <a:cs typeface="IBM Plex Sans" pitchFamily="34" charset="-120"/>
              </a:rPr>
              <a:t>Recherche · sous-optimal borné</a:t>
            </a:r>
            <a:endParaRPr lang="en-US" sz="1950" dirty="0"/>
          </a:p>
        </p:txBody>
      </p:sp>
      <p:sp>
        <p:nvSpPr>
          <p:cNvPr id="35" name="Shape 33"/>
          <p:cNvSpPr/>
          <p:nvPr/>
        </p:nvSpPr>
        <p:spPr>
          <a:xfrm>
            <a:off x="8183880" y="6455410"/>
            <a:ext cx="3520440" cy="9525"/>
          </a:xfrm>
          <a:prstGeom prst="rect">
            <a:avLst/>
          </a:prstGeom>
          <a:solidFill>
            <a:srgbClr val="E5E2DA"/>
          </a:solidFill>
          <a:ln/>
        </p:spPr>
        <p:txBody>
          <a:bodyPr/>
          <a:lstStyle/>
          <a:p>
            <a:endParaRPr lang="en-US"/>
          </a:p>
        </p:txBody>
      </p:sp>
      <p:sp>
        <p:nvSpPr>
          <p:cNvPr id="36" name="Shape 34"/>
          <p:cNvSpPr/>
          <p:nvPr/>
        </p:nvSpPr>
        <p:spPr>
          <a:xfrm>
            <a:off x="8393430" y="5747385"/>
            <a:ext cx="1562100" cy="463550"/>
          </a:xfrm>
          <a:prstGeom prst="roundRect">
            <a:avLst>
              <a:gd name="adj" fmla="val 50000"/>
            </a:avLst>
          </a:prstGeom>
          <a:ln w="6350">
            <a:solidFill>
              <a:srgbClr val="B76B1C"/>
            </a:solidFill>
            <a:prstDash val="solid"/>
          </a:ln>
        </p:spPr>
        <p:txBody>
          <a:bodyPr/>
          <a:lstStyle/>
          <a:p>
            <a:endParaRPr lang="en-US"/>
          </a:p>
        </p:txBody>
      </p:sp>
      <p:sp>
        <p:nvSpPr>
          <p:cNvPr id="37" name="Text 35"/>
          <p:cNvSpPr/>
          <p:nvPr/>
        </p:nvSpPr>
        <p:spPr>
          <a:xfrm>
            <a:off x="8571230" y="5829935"/>
            <a:ext cx="1282700"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B76B1C"/>
                </a:solidFill>
                <a:latin typeface="IBM Plex Mono" pitchFamily="34" charset="0"/>
                <a:ea typeface="IBM Plex Mono" pitchFamily="34" charset="-122"/>
                <a:cs typeface="IBM Plex Mono" pitchFamily="34" charset="-120"/>
              </a:rPr>
              <a:t>w-bornée</a:t>
            </a:r>
            <a:endParaRPr lang="en-US" sz="1800" dirty="0"/>
          </a:p>
        </p:txBody>
      </p:sp>
      <p:sp>
        <p:nvSpPr>
          <p:cNvPr id="38" name="Shape 36"/>
          <p:cNvSpPr/>
          <p:nvPr/>
        </p:nvSpPr>
        <p:spPr>
          <a:xfrm>
            <a:off x="11704320" y="6455410"/>
            <a:ext cx="5440680" cy="9525"/>
          </a:xfrm>
          <a:prstGeom prst="rect">
            <a:avLst/>
          </a:prstGeom>
          <a:solidFill>
            <a:srgbClr val="E5E2DA"/>
          </a:solidFill>
          <a:ln/>
        </p:spPr>
        <p:txBody>
          <a:bodyPr/>
          <a:lstStyle/>
          <a:p>
            <a:endParaRPr lang="en-US"/>
          </a:p>
        </p:txBody>
      </p:sp>
      <p:sp>
        <p:nvSpPr>
          <p:cNvPr id="39" name="Text 37"/>
          <p:cNvSpPr/>
          <p:nvPr/>
        </p:nvSpPr>
        <p:spPr>
          <a:xfrm>
            <a:off x="11913870" y="5744210"/>
            <a:ext cx="5184801" cy="501650"/>
          </a:xfrm>
          <a:prstGeom prst="rect">
            <a:avLst/>
          </a:prstGeom>
          <a:noFill/>
          <a:ln/>
        </p:spPr>
        <p:txBody>
          <a:bodyPr wrap="square" lIns="25400" tIns="25400" rIns="25400" bIns="25400" rtlCol="0" anchor="ctr">
            <a:normAutofit/>
          </a:bodyPr>
          <a:lstStyle/>
          <a:p>
            <a:pPr marL="0" indent="0" algn="l">
              <a:buNone/>
            </a:pPr>
            <a:r>
              <a:rPr lang="en-US" sz="1800" dirty="0">
                <a:solidFill>
                  <a:srgbClr val="4A4A4A"/>
                </a:solidFill>
                <a:latin typeface="IBM Plex Mono" pitchFamily="34" charset="0"/>
                <a:ea typeface="IBM Plex Mono" pitchFamily="34" charset="-122"/>
                <a:cs typeface="IBM Plex Mono" pitchFamily="34" charset="-120"/>
              </a:rPr>
              <a:t>&lt; 1 s sur big_city</a:t>
            </a:r>
            <a:endParaRPr lang="en-US" sz="1800" dirty="0"/>
          </a:p>
        </p:txBody>
      </p:sp>
      <p:sp>
        <p:nvSpPr>
          <p:cNvPr id="40" name="Shape 38"/>
          <p:cNvSpPr/>
          <p:nvPr/>
        </p:nvSpPr>
        <p:spPr>
          <a:xfrm>
            <a:off x="1143000" y="7420610"/>
            <a:ext cx="2880360" cy="9525"/>
          </a:xfrm>
          <a:prstGeom prst="rect">
            <a:avLst/>
          </a:prstGeom>
          <a:solidFill>
            <a:srgbClr val="E5E2DA"/>
          </a:solidFill>
          <a:ln/>
        </p:spPr>
        <p:txBody>
          <a:bodyPr/>
          <a:lstStyle/>
          <a:p>
            <a:endParaRPr lang="en-US"/>
          </a:p>
        </p:txBody>
      </p:sp>
      <p:sp>
        <p:nvSpPr>
          <p:cNvPr id="41" name="Text 39"/>
          <p:cNvSpPr/>
          <p:nvPr/>
        </p:nvSpPr>
        <p:spPr>
          <a:xfrm>
            <a:off x="1352550" y="6709410"/>
            <a:ext cx="2547671" cy="501650"/>
          </a:xfrm>
          <a:prstGeom prst="rect">
            <a:avLst/>
          </a:prstGeom>
          <a:noFill/>
          <a:ln/>
        </p:spPr>
        <p:txBody>
          <a:bodyPr wrap="square" lIns="25400" tIns="25400" rIns="25400" bIns="25400" rtlCol="0" anchor="ctr">
            <a:normAutofit/>
          </a:bodyPr>
          <a:lstStyle/>
          <a:p>
            <a:pPr marL="0" indent="0" algn="l">
              <a:buNone/>
            </a:pPr>
            <a:r>
              <a:rPr lang="en-US" sz="2250" b="1" dirty="0">
                <a:solidFill>
                  <a:srgbClr val="1A1A1A"/>
                </a:solidFill>
                <a:latin typeface="IBM Plex Mono" pitchFamily="34" charset="0"/>
                <a:ea typeface="IBM Plex Mono" pitchFamily="34" charset="-122"/>
                <a:cs typeface="IBM Plex Mono" pitchFamily="34" charset="-120"/>
              </a:rPr>
              <a:t>od_astar</a:t>
            </a:r>
            <a:endParaRPr lang="en-US" sz="2250" dirty="0"/>
          </a:p>
        </p:txBody>
      </p:sp>
      <p:sp>
        <p:nvSpPr>
          <p:cNvPr id="42" name="Shape 40"/>
          <p:cNvSpPr/>
          <p:nvPr/>
        </p:nvSpPr>
        <p:spPr>
          <a:xfrm>
            <a:off x="4023360" y="7420610"/>
            <a:ext cx="4160520" cy="9525"/>
          </a:xfrm>
          <a:prstGeom prst="rect">
            <a:avLst/>
          </a:prstGeom>
          <a:solidFill>
            <a:srgbClr val="E5E2DA"/>
          </a:solidFill>
          <a:ln/>
        </p:spPr>
        <p:txBody>
          <a:bodyPr/>
          <a:lstStyle/>
          <a:p>
            <a:endParaRPr lang="en-US"/>
          </a:p>
        </p:txBody>
      </p:sp>
      <p:sp>
        <p:nvSpPr>
          <p:cNvPr id="43" name="Text 41"/>
          <p:cNvSpPr/>
          <p:nvPr/>
        </p:nvSpPr>
        <p:spPr>
          <a:xfrm>
            <a:off x="4232910" y="6709410"/>
            <a:ext cx="3866235" cy="501650"/>
          </a:xfrm>
          <a:prstGeom prst="rect">
            <a:avLst/>
          </a:prstGeom>
          <a:noFill/>
          <a:ln/>
        </p:spPr>
        <p:txBody>
          <a:bodyPr wrap="square" lIns="25400" tIns="25400" rIns="25400" bIns="25400" rtlCol="0" anchor="ctr">
            <a:normAutofit/>
          </a:bodyPr>
          <a:lstStyle/>
          <a:p>
            <a:pPr marL="0" indent="0" algn="l">
              <a:buNone/>
            </a:pPr>
            <a:r>
              <a:rPr lang="en-US" sz="1950" dirty="0">
                <a:solidFill>
                  <a:srgbClr val="4A4A4A"/>
                </a:solidFill>
                <a:latin typeface="IBM Plex Sans" pitchFamily="34" charset="0"/>
                <a:ea typeface="IBM Plex Sans" pitchFamily="34" charset="-122"/>
                <a:cs typeface="IBM Plex Sans" pitchFamily="34" charset="-120"/>
              </a:rPr>
              <a:t>A* sur l'espace joint</a:t>
            </a:r>
            <a:endParaRPr lang="en-US" sz="1950" dirty="0"/>
          </a:p>
        </p:txBody>
      </p:sp>
      <p:sp>
        <p:nvSpPr>
          <p:cNvPr id="44" name="Shape 42"/>
          <p:cNvSpPr/>
          <p:nvPr/>
        </p:nvSpPr>
        <p:spPr>
          <a:xfrm>
            <a:off x="8183880" y="7420610"/>
            <a:ext cx="3520440" cy="9525"/>
          </a:xfrm>
          <a:prstGeom prst="rect">
            <a:avLst/>
          </a:prstGeom>
          <a:solidFill>
            <a:srgbClr val="E5E2DA"/>
          </a:solidFill>
          <a:ln/>
        </p:spPr>
        <p:txBody>
          <a:bodyPr/>
          <a:lstStyle/>
          <a:p>
            <a:endParaRPr lang="en-US"/>
          </a:p>
        </p:txBody>
      </p:sp>
      <p:sp>
        <p:nvSpPr>
          <p:cNvPr id="45" name="Shape 43"/>
          <p:cNvSpPr/>
          <p:nvPr/>
        </p:nvSpPr>
        <p:spPr>
          <a:xfrm>
            <a:off x="8393430" y="6712585"/>
            <a:ext cx="1562100" cy="463550"/>
          </a:xfrm>
          <a:prstGeom prst="roundRect">
            <a:avLst>
              <a:gd name="adj" fmla="val 50000"/>
            </a:avLst>
          </a:prstGeom>
          <a:ln w="6350">
            <a:solidFill>
              <a:srgbClr val="2A75BA"/>
            </a:solidFill>
            <a:prstDash val="solid"/>
          </a:ln>
        </p:spPr>
        <p:txBody>
          <a:bodyPr/>
          <a:lstStyle/>
          <a:p>
            <a:endParaRPr lang="en-US"/>
          </a:p>
        </p:txBody>
      </p:sp>
      <p:sp>
        <p:nvSpPr>
          <p:cNvPr id="46" name="Text 44"/>
          <p:cNvSpPr/>
          <p:nvPr/>
        </p:nvSpPr>
        <p:spPr>
          <a:xfrm>
            <a:off x="8571230" y="6795135"/>
            <a:ext cx="1282700" cy="33655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2A75BA"/>
                </a:solidFill>
                <a:latin typeface="IBM Plex Mono" pitchFamily="34" charset="0"/>
                <a:ea typeface="IBM Plex Mono" pitchFamily="34" charset="-122"/>
                <a:cs typeface="IBM Plex Mono" pitchFamily="34" charset="-120"/>
              </a:rPr>
              <a:t>Optimale</a:t>
            </a:r>
            <a:endParaRPr lang="en-US" sz="1800" dirty="0"/>
          </a:p>
        </p:txBody>
      </p:sp>
      <p:sp>
        <p:nvSpPr>
          <p:cNvPr id="47" name="Shape 45"/>
          <p:cNvSpPr/>
          <p:nvPr/>
        </p:nvSpPr>
        <p:spPr>
          <a:xfrm>
            <a:off x="11704320" y="7420610"/>
            <a:ext cx="5440680" cy="9525"/>
          </a:xfrm>
          <a:prstGeom prst="rect">
            <a:avLst/>
          </a:prstGeom>
          <a:solidFill>
            <a:srgbClr val="E5E2DA"/>
          </a:solidFill>
          <a:ln/>
        </p:spPr>
        <p:txBody>
          <a:bodyPr/>
          <a:lstStyle/>
          <a:p>
            <a:endParaRPr lang="en-US"/>
          </a:p>
        </p:txBody>
      </p:sp>
      <p:sp>
        <p:nvSpPr>
          <p:cNvPr id="48" name="Text 46"/>
          <p:cNvSpPr/>
          <p:nvPr/>
        </p:nvSpPr>
        <p:spPr>
          <a:xfrm>
            <a:off x="11913870" y="6709410"/>
            <a:ext cx="5184801" cy="501650"/>
          </a:xfrm>
          <a:prstGeom prst="rect">
            <a:avLst/>
          </a:prstGeom>
          <a:noFill/>
          <a:ln/>
        </p:spPr>
        <p:txBody>
          <a:bodyPr wrap="square" lIns="25400" tIns="25400" rIns="25400" bIns="25400" rtlCol="0" anchor="ctr">
            <a:normAutofit/>
          </a:bodyPr>
          <a:lstStyle/>
          <a:p>
            <a:pPr marL="0" indent="0" algn="l">
              <a:buNone/>
            </a:pPr>
            <a:r>
              <a:rPr lang="en-US" sz="1800" dirty="0">
                <a:solidFill>
                  <a:srgbClr val="4A4A4A"/>
                </a:solidFill>
                <a:latin typeface="IBM Plex Mono" pitchFamily="34" charset="0"/>
                <a:ea typeface="IBM Plex Mono" pitchFamily="34" charset="-122"/>
                <a:cs typeface="IBM Plex Mono" pitchFamily="34" charset="-120"/>
              </a:rPr>
              <a:t>limité à ~20 drones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Text 0"/>
          <p:cNvSpPr/>
          <p:nvPr/>
        </p:nvSpPr>
        <p:spPr>
          <a:xfrm>
            <a:off x="1143000" y="914400"/>
            <a:ext cx="16482060" cy="33655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A75BA"/>
                </a:solidFill>
                <a:latin typeface="IBM Plex Mono" pitchFamily="34" charset="0"/>
                <a:ea typeface="IBM Plex Mono" pitchFamily="34" charset="-122"/>
                <a:cs typeface="IBM Plex Mono" pitchFamily="34" charset="-120"/>
              </a:rPr>
              <a:t>PLACE À LA DÉMO</a:t>
            </a:r>
            <a:endParaRPr lang="en-US" sz="1800" dirty="0"/>
          </a:p>
        </p:txBody>
      </p:sp>
      <p:sp>
        <p:nvSpPr>
          <p:cNvPr id="3" name="Text 1"/>
          <p:cNvSpPr/>
          <p:nvPr/>
        </p:nvSpPr>
        <p:spPr>
          <a:xfrm>
            <a:off x="1143000" y="4019550"/>
            <a:ext cx="14716125" cy="102870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273" dirty="0">
                <a:solidFill>
                  <a:srgbClr val="1A1A1A"/>
                </a:solidFill>
                <a:latin typeface="IBM Plex Sans" pitchFamily="34" charset="0"/>
                <a:ea typeface="IBM Plex Sans" pitchFamily="34" charset="-122"/>
                <a:cs typeface="IBM Plex Sans" pitchFamily="34" charset="-120"/>
              </a:rPr>
              <a:t>Voyons-les </a:t>
            </a:r>
            <a:r>
              <a:rPr lang="en-US" sz="7800" kern="0" spc="-273" dirty="0">
                <a:solidFill>
                  <a:srgbClr val="2A75BA"/>
                </a:solidFill>
                <a:latin typeface="IBM Plex Sans" pitchFamily="34" charset="0"/>
                <a:ea typeface="IBM Plex Sans" pitchFamily="34" charset="-122"/>
                <a:cs typeface="IBM Plex Sans" pitchFamily="34" charset="-120"/>
              </a:rPr>
              <a:t>voler</a:t>
            </a:r>
            <a:r>
              <a:rPr lang="en-US" sz="7800" kern="0" spc="-273" dirty="0">
                <a:solidFill>
                  <a:srgbClr val="1A1A1A"/>
                </a:solidFill>
                <a:latin typeface="IBM Plex Sans" pitchFamily="34" charset="0"/>
                <a:ea typeface="IBM Plex Sans" pitchFamily="34" charset="-122"/>
                <a:cs typeface="IBM Plex Sans" pitchFamily="34" charset="-120"/>
              </a:rPr>
              <a:t>.</a:t>
            </a:r>
            <a:endParaRPr lang="en-US" sz="7800" dirty="0"/>
          </a:p>
        </p:txBody>
      </p:sp>
      <p:sp>
        <p:nvSpPr>
          <p:cNvPr id="4" name="Shape 2"/>
          <p:cNvSpPr/>
          <p:nvPr/>
        </p:nvSpPr>
        <p:spPr>
          <a:xfrm>
            <a:off x="1143000" y="7816850"/>
            <a:ext cx="16002000" cy="9525"/>
          </a:xfrm>
          <a:prstGeom prst="rect">
            <a:avLst/>
          </a:prstGeom>
          <a:solidFill>
            <a:srgbClr val="E5E2DA"/>
          </a:solidFill>
          <a:ln/>
        </p:spPr>
        <p:txBody>
          <a:bodyPr/>
          <a:lstStyle/>
          <a:p>
            <a:endParaRPr lang="en-US"/>
          </a:p>
        </p:txBody>
      </p:sp>
      <p:sp>
        <p:nvSpPr>
          <p:cNvPr id="5" name="Text 3"/>
          <p:cNvSpPr/>
          <p:nvPr/>
        </p:nvSpPr>
        <p:spPr>
          <a:xfrm>
            <a:off x="1143000" y="8166100"/>
            <a:ext cx="7946708"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A8A86"/>
                </a:solidFill>
                <a:latin typeface="IBM Plex Mono" pitchFamily="34" charset="0"/>
                <a:ea typeface="IBM Plex Mono" pitchFamily="34" charset="-122"/>
                <a:cs typeface="IBM Plex Mono" pitchFamily="34" charset="-120"/>
              </a:rPr>
              <a:t>BACKEND</a:t>
            </a:r>
            <a:endParaRPr lang="en-US" sz="1800" dirty="0"/>
          </a:p>
        </p:txBody>
      </p:sp>
      <p:sp>
        <p:nvSpPr>
          <p:cNvPr id="6" name="Text 4"/>
          <p:cNvSpPr/>
          <p:nvPr/>
        </p:nvSpPr>
        <p:spPr>
          <a:xfrm>
            <a:off x="1143000" y="8597900"/>
            <a:ext cx="7946708" cy="4318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IBM Plex Sans" pitchFamily="34" charset="0"/>
                <a:ea typeface="IBM Plex Sans" pitchFamily="34" charset="-122"/>
                <a:cs typeface="IBM Plex Sans" pitchFamily="34" charset="-120"/>
              </a:rPr>
              <a:t>API Flask · dispatch des solveurs</a:t>
            </a:r>
            <a:endParaRPr lang="en-US" sz="2400" dirty="0"/>
          </a:p>
        </p:txBody>
      </p:sp>
      <p:sp>
        <p:nvSpPr>
          <p:cNvPr id="7" name="Text 5"/>
          <p:cNvSpPr/>
          <p:nvPr/>
        </p:nvSpPr>
        <p:spPr>
          <a:xfrm>
            <a:off x="1143000" y="9124950"/>
            <a:ext cx="794670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2A75BA"/>
                </a:solidFill>
                <a:latin typeface="IBM Plex Mono" pitchFamily="34" charset="0"/>
                <a:ea typeface="IBM Plex Mono" pitchFamily="34" charset="-122"/>
                <a:cs typeface="IBM Plex Mono" pitchFamily="34" charset="-120"/>
              </a:rPr>
              <a:t>http://localhost:5050</a:t>
            </a:r>
            <a:endParaRPr lang="en-US" sz="1950" dirty="0"/>
          </a:p>
        </p:txBody>
      </p:sp>
      <p:sp>
        <p:nvSpPr>
          <p:cNvPr id="8" name="Text 6"/>
          <p:cNvSpPr/>
          <p:nvPr/>
        </p:nvSpPr>
        <p:spPr>
          <a:xfrm>
            <a:off x="9429750" y="8166100"/>
            <a:ext cx="7946708" cy="33655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A8A86"/>
                </a:solidFill>
                <a:latin typeface="IBM Plex Mono" pitchFamily="34" charset="0"/>
                <a:ea typeface="IBM Plex Mono" pitchFamily="34" charset="-122"/>
                <a:cs typeface="IBM Plex Mono" pitchFamily="34" charset="-120"/>
              </a:rPr>
              <a:t>FRONTEND</a:t>
            </a:r>
            <a:endParaRPr lang="en-US" sz="1800" dirty="0"/>
          </a:p>
        </p:txBody>
      </p:sp>
      <p:sp>
        <p:nvSpPr>
          <p:cNvPr id="9" name="Text 7"/>
          <p:cNvSpPr/>
          <p:nvPr/>
        </p:nvSpPr>
        <p:spPr>
          <a:xfrm>
            <a:off x="9429750" y="8597900"/>
            <a:ext cx="7946708" cy="431800"/>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IBM Plex Sans" pitchFamily="34" charset="0"/>
                <a:ea typeface="IBM Plex Sans" pitchFamily="34" charset="-122"/>
                <a:cs typeface="IBM Plex Sans" pitchFamily="34" charset="-120"/>
              </a:rPr>
              <a:t>Visualiseur Three.js · choix du scénario</a:t>
            </a:r>
            <a:endParaRPr lang="en-US" sz="2400" dirty="0"/>
          </a:p>
        </p:txBody>
      </p:sp>
      <p:sp>
        <p:nvSpPr>
          <p:cNvPr id="10" name="Text 8"/>
          <p:cNvSpPr/>
          <p:nvPr/>
        </p:nvSpPr>
        <p:spPr>
          <a:xfrm>
            <a:off x="9429750" y="9124950"/>
            <a:ext cx="794670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2A75BA"/>
                </a:solidFill>
                <a:latin typeface="IBM Plex Mono" pitchFamily="34" charset="0"/>
                <a:ea typeface="IBM Plex Mono" pitchFamily="34" charset="-122"/>
                <a:cs typeface="IBM Plex Mono" pitchFamily="34" charset="-120"/>
              </a:rPr>
              <a:t>http://localhost:8080</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1426</Words>
  <Application>Microsoft Office PowerPoint</Application>
  <PresentationFormat>Custom</PresentationFormat>
  <Paragraphs>154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Paul Witkowski</cp:lastModifiedBy>
  <cp:revision>2</cp:revision>
  <dcterms:created xsi:type="dcterms:W3CDTF">2026-05-20T09:38:29Z</dcterms:created>
  <dcterms:modified xsi:type="dcterms:W3CDTF">2026-05-20T09:40:54Z</dcterms:modified>
</cp:coreProperties>
</file>