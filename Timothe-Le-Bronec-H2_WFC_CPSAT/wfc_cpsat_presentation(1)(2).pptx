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5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5F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FDBB34-05FE-96EB-781B-D0496E9D6B36}" v="20" dt="2026-05-22T08:51:26.390"/>
    <p1510:client id="{E4AD9385-2B39-77B5-9539-32E67475BDD2}" v="112" dt="2026-05-22T11:01:24.5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C4EFB-B200-4BFD-A01B-36AD91E1AC75}" type="datetimeFigureOut">
              <a:t>5/22/2026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F47426-965E-499F-9C2D-F3B56B0670E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28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Bonjour, je m'appelle Timothé Le Bronec, ing2 SCIA. Ce projet H2 porte sur la génération procédurale de niveaux de jeu vidéo. J'ai implémenté trois méthodes — baseline aléatoire, Wave Function Collapse et CP-SAT — sur deux mondes : un donjon et une île à biomes.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~30s. Voici le plan en cinq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 30s. Le défi central est double : localement chaque tuile doit être compatible avec ses voisines (graphe d'adjacence), globalement le niveau doit être jouable — on doit pouvoir relier le départ à l'arrivée. Deux mondes sont modélisés avec des tilesets différents. On compare trois approches de génération.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La pièce centrale est le dataclass TileSet qui encapsule toute la définition d'un monde. Une fonction unique generate_by_method() sert d'interface : elle dispatch vers l'un des trois générateurs selon la méthode demandée. Les deux CP-SAT structurés sont spécifiques à chaque monde.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Les graphes d'adjacence sont le cœur du système. Ennemis et trésors ne touchent jamais les murs — seulement le sol. Pour l'île, les biomes s'emboîtent naturellement : océan borde plage, plage borde prairie,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La baseline tire chaque tuile selon les poids du TileSet. Sur le donjon elle produit étonnamment 67% de chemins (les tuiles passables sont majoritaires) mais avec 370 adjacences invalides en moyenne — la carte n'est pas cohérente. Sur l'île, 100% de chemins car toutes les tuiles terrestres sont passables, mais 1318 adjacences invalides — complètement chaotique.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 30s. WFC maintient un domaine de tuiles possibles par cellule. On fixe d'abord Spawn et Exit puis on itère : choisir la cellule la moins indécise, la fixer, propager les contraintes. Les données montrent 0 adjacences invalides — c'est la garantie mathématique de WFC. Mais la connectivité est faible (47% donjon, 5% île) car WFC n'impose pas de chemin global.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 30s. CP-SAT a deux implémentations spécialisées. Pour le donjon : on génère des salles candidates et CP-SAT sélectionne lesquelles garder en respectant des distances minimales entre groupes de monstres et trésors. Pour l'île : un masque aléatoire pose la base ocean/plage/terre, puis CP-SAT place les points d'intérêt (villages, ports, ruines) en imposant des quotas et des distances de séparation. Un fallback automatique assouplit les contraintes si le modèle est insoluble.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La version générique de CP-SAT crée une variable booléenne par (cellule, tuile). Trois types de contraintes : unicité par case, incompatibilité d'adjacence, et fixation des cases spéciales. OR-Tools résout ça en quelques secondes avec 8 workers parallèles.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 30s. Voici les vraies données du notebook. Chaque méthode a été exécutée 3 fois. Points clés : CP-SAT donjon a 0% de chemins — la connectivité est nulle car les salles ne sont pas forcément reliées au spawn/exit. WFC garantit 0 adjacences invalides sur les deux mondes. Random sur l'île a 100% de chemins mais 1318 adjacences invalides — la carte est chaotique.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 30s. Les résultats révèlent des compromis intéressants. WFC est la seule méthode à garantir formellement 0 adjacences invalides, mais elle ne garantit pas la jouabilité. CP-SAT structuré donne la meilleure cohérence visuelle et quasi-zéro violations d'adjacence, mais la connectivité donjon est nulle — un point d'amélioration important. La baseline aléatoire sur l'île illustre le paradoxe : beaucoup de chemins car tout est passable, mais visuellement inutilisable.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Pour conclure : chaque méthode a un rôle clair. La baseline est inutilisable en production mais sert de référence. WFC garantit la cohérence locale. CP-SAT structuré offre la meilleure qualité visuelle et de quasi-zéro violations. Le principal chantier restant : forcer la connectivité globale dans le modèle CP-SAT donjon.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~30s. WFC garantit formellement l'adjacence, CP-SAT structuré donne la meilleure cohérence visuelle. Le principal point d'amélioration est la connectivité globale dans le donjon CP-SAT. Questions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Procédurale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Niveaux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Function Collapse  ×  CP-SAT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Timothé Le Bronec — ing2 SCIA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412480" y="0"/>
            <a:ext cx="731520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1280160"/>
            <a:ext cx="731520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2560320"/>
            <a:ext cx="731520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64008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005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Contexte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728216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28216"/>
            <a:ext cx="64008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7393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177393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Tilesets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496312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96312"/>
            <a:ext cx="6400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4203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542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méthodes de génération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264408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64408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3101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3101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réels &amp; Comparaison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032504"/>
            <a:ext cx="8229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032504"/>
            <a:ext cx="64008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07822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407822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Conclusion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645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286000" y="16459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&amp; Contexte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— Générer des niveaux jouables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Enjeu : créer automatiquement des niveaux cohérents ET jouables</a:t>
            </a:r>
            <a:endParaRPr lang="en-US" sz="15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locale → respect des règles d'adjacence entre tuiles voisines</a:t>
            </a:r>
            <a:endParaRPr lang="en-US" sz="15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globale → chemin accessible du départ à l'arrivée, diversité des biomes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tilesets cibles :</a:t>
            </a:r>
            <a:endParaRPr lang="en-US" sz="15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Donjon  (7 tuiles) : mur, sol, eau, spawn, sortie, ennemi, trésor — grille 32×56</a:t>
            </a:r>
            <a:endParaRPr lang="en-US" sz="15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Île / biomes  (10 tuiles) : océan, plage, prairie, forêt, montagne, village, port, ruine, ressource, monstre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méthodes comparées : Aléatoire · WFC · CP-SAT structuré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645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286000" y="16459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Tilesets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projet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64008" cy="146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3327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TileSet (dataclass)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99032"/>
            <a:ext cx="2450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tiles, chars, colors, passable, weights, adjacency, special, labels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64008" cy="14630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03327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communs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399032"/>
            <a:ext cx="2450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neighbors4, shortest_path, reachable_ratio, invalid_adjacency_count, level_metrics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9601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960120"/>
            <a:ext cx="64008" cy="1463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03327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1399032"/>
            <a:ext cx="2450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tile_rgb, display_level, display_legend, galerie, compact_counts_table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542032"/>
            <a:ext cx="8229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542032"/>
            <a:ext cx="6400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58775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generate_by_method(tileset, method)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2999232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= "random"  →  generate_random()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= "wfc"     →  wfc_generate()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= "cpsat"  →  cpsat_generate_dungeon_structured()  ou  cpsat_generate_island_structured()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Tilesets — Graphes d'adjacence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Donjon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3931920" cy="34747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Tuile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Peut être voisine de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Mur (█)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mur, sol, eau, spawn, sortie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Sol (·)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mur, sol, eau, spawn, sortie, ennemi, trésor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Eau (~)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mur, sol, eau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Spawn (S)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mur, sol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Sortie (X)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mur, sol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Ennemi (E)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sol, ennemi, trésor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Trésor (T)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sol, ennemi, trésor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Île / Biomes</a:t>
            </a:r>
            <a:endParaRPr lang="en-US" sz="14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71600"/>
          <a:ext cx="4114800" cy="35153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Tuile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Peut être voisine de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Océan (≈)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océan, plage, port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Plage (░)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océan, plage, prairie, village, port, ressource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Prairie (·)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plage, prairie, forêt, montagne, village…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Forêt (♣)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prairie, forêt, montagne, ressource, monstre…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Montagne (▲)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prairie, forêt, montagne, ruine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Village (V)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plage, prairie, forêt, village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Port (P)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océan, plage, prairie, port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6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Ruine/Res/Mon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tuiles terrestres compatibles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645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286000" y="16459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méthodes de génération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1 — Génération aléatoire (baseline)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8138160" cy="3840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Principe : tirage </a:t>
            </a:r>
            <a:r>
              <a:rPr lang="en-US" sz="1500" b="1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aléatoire</a:t>
            </a:r>
            <a:r>
              <a:rPr lang="en-US" sz="1500" b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b="1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pondéré</a:t>
            </a:r>
            <a:r>
              <a:rPr lang="en-US" sz="1500" b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500" b="1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tuile</a:t>
            </a:r>
            <a:r>
              <a:rPr lang="en-US" sz="1500" b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par </a:t>
            </a:r>
            <a:r>
              <a:rPr lang="en-US" sz="1500" b="1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tuile</a:t>
            </a:r>
            <a:endParaRPr lang="en-US" sz="1500" dirty="0" err="1">
              <a:latin typeface="Calibri"/>
              <a:ea typeface="Calibri"/>
              <a:cs typeface="Calibri"/>
            </a:endParaRPr>
          </a:p>
          <a:p>
            <a:pPr marL="685800" lvl="1" indent="-342900">
              <a:buSzPct val="100000"/>
              <a:buChar char="•"/>
            </a:pPr>
            <a:r>
              <a:rPr lang="en-US" sz="1500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np.random.choice</a:t>
            </a:r>
            <a:r>
              <a:rPr lang="en-US" sz="15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(tiles, p=weights) sur </a:t>
            </a:r>
            <a:r>
              <a:rPr lang="en-US" sz="1500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chaque</a:t>
            </a:r>
            <a:r>
              <a:rPr lang="en-US" sz="15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cellule </a:t>
            </a:r>
            <a:r>
              <a:rPr lang="en-US" sz="1500" dirty="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indépendamment</a:t>
            </a:r>
            <a:endParaRPr lang="en-US" sz="1500" dirty="0" err="1">
              <a:latin typeface="Calibri"/>
              <a:ea typeface="Calibri"/>
              <a:cs typeface="Calibri"/>
            </a:endParaRPr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Spawn et Exit </a:t>
            </a:r>
            <a:r>
              <a:rPr lang="en-US" sz="15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forcés</a:t>
            </a:r>
            <a:r>
              <a:rPr lang="en-US" sz="15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aux positions </a:t>
            </a:r>
            <a:r>
              <a:rPr lang="en-US" sz="15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spéciales</a:t>
            </a:r>
            <a:r>
              <a:rPr lang="en-US" sz="15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du </a:t>
            </a:r>
            <a:r>
              <a:rPr lang="en-US" sz="15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TileSet</a:t>
            </a:r>
            <a:endParaRPr lang="en-US" sz="1500" dirty="0" err="1">
              <a:latin typeface="Calibri"/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 err="1">
                <a:solidFill>
                  <a:srgbClr val="10B981"/>
                </a:solidFill>
                <a:latin typeface="Calibri"/>
                <a:ea typeface="Calibri"/>
                <a:cs typeface="Calibri"/>
              </a:rPr>
              <a:t>Avantages</a:t>
            </a:r>
            <a:endParaRPr lang="en-US" sz="1500" dirty="0" err="1">
              <a:latin typeface="Calibri"/>
              <a:ea typeface="Calibri"/>
              <a:cs typeface="Calibri"/>
            </a:endParaRPr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Très </a:t>
            </a:r>
            <a:r>
              <a:rPr lang="en-US" sz="15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rapide</a:t>
            </a:r>
            <a:r>
              <a:rPr lang="en-US" sz="15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— O(H×W), </a:t>
            </a:r>
            <a:r>
              <a:rPr lang="en-US" sz="15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toujours</a:t>
            </a:r>
            <a:r>
              <a:rPr lang="en-US" sz="15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termine</a:t>
            </a:r>
            <a:endParaRPr lang="en-US" sz="1500" dirty="0" err="1">
              <a:latin typeface="Calibri"/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 err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Inconvénients</a:t>
            </a:r>
            <a:r>
              <a:rPr lang="en-US" sz="1500" b="1" dirty="0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1500" b="1" dirty="0" err="1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confirmés</a:t>
            </a:r>
            <a:r>
              <a:rPr lang="en-US" sz="1500" b="1" dirty="0">
                <a:solidFill>
                  <a:srgbClr val="EF4444"/>
                </a:solidFill>
                <a:latin typeface="Calibri"/>
                <a:ea typeface="Calibri"/>
                <a:cs typeface="Calibri"/>
              </a:rPr>
              <a:t> par les données)</a:t>
            </a:r>
            <a:endParaRPr lang="en-US" sz="1500" dirty="0">
              <a:latin typeface="Calibri"/>
              <a:ea typeface="Calibri"/>
              <a:cs typeface="Calibri"/>
            </a:endParaRPr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Peu de </a:t>
            </a:r>
            <a:r>
              <a:rPr lang="en-US" sz="15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cartes</a:t>
            </a:r>
            <a:r>
              <a:rPr lang="en-US" sz="15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avec chemin, trop grand </a:t>
            </a:r>
            <a:r>
              <a:rPr lang="en-US" sz="15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nombre</a:t>
            </a:r>
            <a:r>
              <a:rPr lang="en-US" sz="15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15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adjacences</a:t>
            </a:r>
            <a:r>
              <a:rPr lang="en-US" sz="15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invalides</a:t>
            </a:r>
          </a:p>
          <a:p>
            <a:pPr marL="685800" lvl="1" indent="-342900">
              <a:buSzPct val="100000"/>
              <a:buChar char="•"/>
            </a:pPr>
            <a:r>
              <a:rPr lang="en-US" sz="15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Aucune</a:t>
            </a:r>
            <a:r>
              <a:rPr lang="en-US" sz="15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structure </a:t>
            </a:r>
            <a:r>
              <a:rPr lang="en-US" sz="15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spatiale</a:t>
            </a:r>
            <a:r>
              <a:rPr lang="en-US" sz="15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ni</a:t>
            </a:r>
            <a:r>
              <a:rPr lang="en-US" sz="15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regroupement</a:t>
            </a:r>
            <a:r>
              <a:rPr lang="en-US" sz="15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5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cohérent</a:t>
            </a:r>
            <a:endParaRPr lang="en-US" sz="1500" dirty="0" err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2 — Wave Function Collapse (WFC)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complète de wfc_generate(h, w, tileset)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phases alternées :</a:t>
            </a:r>
            <a:endParaRPr lang="en-US" sz="15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→ cellule de plus faible entropie (min domaine), tirage pondéré</a:t>
            </a:r>
            <a:endParaRPr lang="en-US" sz="15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→ BFS pour restreindre les domaines voisins selon tileset.adjacency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Particularités :</a:t>
            </a:r>
            <a:endParaRPr lang="en-US" sz="15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&amp; Exit initialisés en premier → propagation immédiate</a:t>
            </a:r>
            <a:endParaRPr lang="en-US" sz="15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None si contradiction (domaine vide) → relance externe</a:t>
            </a:r>
            <a:endParaRPr lang="en-US" sz="15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max_steps = 100 000 garde-fou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mesuré : 0 adjacences invalides (garantie formelle) — mais connectivité faible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3 — CP-SAT structuré (OR-Tools)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64008" cy="3931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Donjon — cpsat_generate_dungeon_structured()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Salles candidates (BSP) → var. booléennes selected[i]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: Σ selected == nb_rooms_target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Dist. min entre groupes monstres &amp; trésors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Couloirs en L reliant les salles triées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/ Exit aux extrémités de la chaîne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60120"/>
            <a:ext cx="64008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05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Île — cpsat_generate_island_structured()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Masque elliptique bruité → zones ocean/beach/land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choisit les centres : villages, ports, ruines, ressources, monstres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de quotas (Σ var == nb_wanted) et distances min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automatique si insoluble (contraintes assouplies)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paint_centers() dessine les zones autour des centres retenus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générique — Formulation mathématique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cpsat_generate() — version générique (utilisable sur tout TileSet)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:  x[r, c, t] ∈ {0,1}  —  1 si tuile t assignée à la cellule (r,c)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:</a:t>
            </a:r>
            <a:endParaRPr lang="en-US" sz="15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Unicité :         Σ_t  x[r,c,t] = 1     pour chaque cellule</a:t>
            </a:r>
            <a:endParaRPr lang="en-US" sz="15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Adjacence :    x[r,c,a] + x[r',c',b] ≤ 1    si (a,b) incompatibles</a:t>
            </a:r>
            <a:endParaRPr lang="en-US" sz="1500" dirty="0"/>
          </a:p>
          <a:p>
            <a:pPr marL="685800" lvl="1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fixes :  x[spawn_pos] = 1,   x[exit_pos] = 1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Solveur : cp_model.CpSolver, time_limit=5s, num_search_workers=8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totales donjon : 32×56×7 ≈ 12 544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645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286000" y="16459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réels &amp; Comparaison</a:t>
            </a: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réelles — Tableau de synthèse (n=3 par méthode)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pic>
        <p:nvPicPr>
          <p:cNvPr id="4" name="Picture 3" descr="A collage of different colored squares&#10;&#10;AI-generated content may be incorrect.">
            <a:extLst>
              <a:ext uri="{FF2B5EF4-FFF2-40B4-BE49-F238E27FC236}">
                <a16:creationId xmlns:a16="http://schemas.microsoft.com/office/drawing/2014/main" id="{77725B80-7258-3D69-E162-B905D0859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4" y="964014"/>
            <a:ext cx="7531554" cy="379377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résultats — Points clés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0807" y="1320709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0807" y="1320709"/>
            <a:ext cx="6400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7967" y="1375573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WFC — Seule garantie formelle d'adjacence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7967" y="1686469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0 adjacence </a:t>
            </a:r>
            <a:r>
              <a:rPr lang="en-US" sz="11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invalide</a:t>
            </a:r>
            <a:r>
              <a:rPr lang="en-US" sz="11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sur donjon ET </a:t>
            </a:r>
            <a:r>
              <a:rPr lang="en-US" sz="11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île</a:t>
            </a:r>
            <a:r>
              <a:rPr lang="en-US" sz="11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 Mais </a:t>
            </a:r>
            <a:r>
              <a:rPr lang="en-US" sz="11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connectivité</a:t>
            </a:r>
            <a:r>
              <a:rPr lang="en-US" sz="11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très </a:t>
            </a:r>
            <a:r>
              <a:rPr lang="en-US" sz="11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faible</a:t>
            </a:r>
            <a:r>
              <a:rPr lang="en-US" sz="11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→ WFC seul ne </a:t>
            </a:r>
            <a:r>
              <a:rPr lang="en-US" sz="11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suffit</a:t>
            </a:r>
            <a:r>
              <a:rPr lang="en-US" sz="11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pas pour un </a:t>
            </a:r>
            <a:r>
              <a:rPr lang="en-US" sz="11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niveau</a:t>
            </a:r>
            <a:r>
              <a:rPr lang="en-US" sz="11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jouable</a:t>
            </a:r>
            <a:r>
              <a:rPr lang="en-US" sz="11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1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0807" y="2344837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807" y="2344837"/>
            <a:ext cx="64008" cy="91440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7967" y="2399701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structuré — Meilleure qualité globale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7967" y="2710597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Adjacences</a:t>
            </a:r>
            <a:r>
              <a:rPr lang="en-US" sz="11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quasi-</a:t>
            </a:r>
            <a:r>
              <a:rPr lang="en-US" sz="11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parfaites</a:t>
            </a:r>
            <a:r>
              <a:rPr lang="en-US" sz="11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(99.9% donjon, 99.6% </a:t>
            </a:r>
            <a:r>
              <a:rPr lang="en-US" sz="1100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île</a:t>
            </a:r>
            <a:r>
              <a:rPr lang="en-US" sz="110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). </a:t>
            </a:r>
            <a:endParaRPr lang="en-US" sz="1100" dirty="0">
              <a:solidFill>
                <a:srgbClr val="1E293B"/>
              </a:solidFill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0807" y="3368965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807" y="3368965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7967" y="3423829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— Paradoxe de l'île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7967" y="3734725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chemins sur l'île (toutes tuiles terrestres passables) mais qualité nulle : 1318 adj. invalides, 62% de taux de validité seulement.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645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2286000" y="1645920"/>
            <a:ext cx="6400800" cy="1371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3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Conclusion</a:t>
            </a:r>
            <a:endParaRPr lang="en-US" sz="30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Ce que chaque méthode apporte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10972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607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aléatoire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Rapide, simple à implémenter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007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991B1B"/>
                </a:solidFill>
                <a:latin typeface="Calibri"/>
                <a:ea typeface="Calibri"/>
                <a:cs typeface="Calibri"/>
              </a:rPr>
              <a:t>✘ Inutile</a:t>
            </a:r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240280"/>
            <a:ext cx="64008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95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6243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Garantie formelle : 0 adjacences invalides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293522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1B1B"/>
                </a:solidFill>
                <a:latin typeface="Calibri"/>
                <a:ea typeface="Calibri"/>
                <a:cs typeface="Calibri"/>
              </a:rPr>
              <a:t>✘  </a:t>
            </a:r>
            <a:r>
              <a:rPr lang="en-US" sz="1200" dirty="0" err="1">
                <a:solidFill>
                  <a:srgbClr val="991B1B"/>
                </a:solidFill>
                <a:latin typeface="Calibri"/>
                <a:ea typeface="Calibri"/>
                <a:cs typeface="Calibri"/>
              </a:rPr>
              <a:t>Connectivité</a:t>
            </a:r>
            <a:r>
              <a:rPr lang="en-US" sz="1200" dirty="0">
                <a:solidFill>
                  <a:srgbClr val="991B1B"/>
                </a:solidFill>
                <a:latin typeface="Calibri"/>
                <a:ea typeface="Calibri"/>
                <a:cs typeface="Calibri"/>
              </a:rPr>
              <a:t> non </a:t>
            </a:r>
            <a:r>
              <a:rPr lang="en-US" sz="1200" dirty="0" err="1">
                <a:solidFill>
                  <a:srgbClr val="991B1B"/>
                </a:solidFill>
                <a:latin typeface="Calibri"/>
                <a:ea typeface="Calibri"/>
                <a:cs typeface="Calibri"/>
              </a:rPr>
              <a:t>garantie</a:t>
            </a:r>
            <a:r>
              <a:rPr lang="en-US" sz="1200" dirty="0">
                <a:solidFill>
                  <a:srgbClr val="991B1B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74720"/>
            <a:ext cx="64008" cy="10972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295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structuré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8587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Quasi-parfait en adjacences + structure visuelle riche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41696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65F46"/>
                </a:solidFill>
                <a:latin typeface="Calibri"/>
                <a:ea typeface="Calibri"/>
                <a:cs typeface="Calibri"/>
              </a:rPr>
              <a:t> ✔ </a:t>
            </a:r>
            <a:r>
              <a:rPr lang="en-US" sz="1200" dirty="0" err="1">
                <a:solidFill>
                  <a:srgbClr val="065F46"/>
                </a:solidFill>
                <a:latin typeface="Calibri"/>
                <a:ea typeface="Calibri"/>
                <a:cs typeface="Calibri"/>
              </a:rPr>
              <a:t>Connectivité</a:t>
            </a:r>
            <a:r>
              <a:rPr lang="en-US" sz="1200" dirty="0">
                <a:solidFill>
                  <a:srgbClr val="065F46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3383280"/>
            <a:ext cx="731520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WFC → </a:t>
            </a:r>
            <a:r>
              <a:rPr lang="en-US" sz="130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garantie</a:t>
            </a:r>
            <a:r>
              <a:rPr lang="en-US" sz="13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adjacence locale (0 violations)</a:t>
            </a:r>
            <a:endParaRPr lang="en-US" sz="1300" dirty="0">
              <a:latin typeface="Calibri"/>
              <a:ea typeface="Calibri"/>
              <a:cs typeface="Calibri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CP-SAT </a:t>
            </a:r>
            <a:r>
              <a:rPr lang="en-US" sz="130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structuré</a:t>
            </a:r>
            <a:r>
              <a:rPr lang="en-US" sz="13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→ </a:t>
            </a:r>
            <a:r>
              <a:rPr lang="en-US" sz="130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cohérence</a:t>
            </a:r>
            <a:r>
              <a:rPr lang="en-US" sz="13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visuelle</a:t>
            </a:r>
            <a:r>
              <a:rPr lang="en-US" sz="1300" dirty="0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 &amp; quasi-</a:t>
            </a:r>
            <a:r>
              <a:rPr lang="en-US" sz="1300" dirty="0" err="1">
                <a:solidFill>
                  <a:srgbClr val="94A3B8"/>
                </a:solidFill>
                <a:latin typeface="Calibri"/>
                <a:ea typeface="Calibri"/>
                <a:cs typeface="Calibri"/>
              </a:rPr>
              <a:t>parfaite</a:t>
            </a:r>
            <a:endParaRPr lang="en-US" sz="1300" dirty="0" err="1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412480" y="0"/>
            <a:ext cx="731520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0" y="1280160"/>
            <a:ext cx="731520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2560320"/>
            <a:ext cx="731520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Génération procédurale de niveaux — WFC &amp; CP-SAT</dc:title>
  <dc:subject>PptxGenJS Presentation</dc:subject>
  <dc:creator>PptxGenJS</dc:creator>
  <cp:lastModifiedBy>PptxGenJS</cp:lastModifiedBy>
  <cp:revision>54</cp:revision>
  <dcterms:created xsi:type="dcterms:W3CDTF">2026-05-22T08:37:13Z</dcterms:created>
  <dcterms:modified xsi:type="dcterms:W3CDTF">2026-05-22T11:14:02Z</dcterms:modified>
</cp:coreProperties>
</file>