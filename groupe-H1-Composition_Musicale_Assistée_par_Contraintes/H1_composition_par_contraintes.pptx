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 Italics" charset="1" panose="020F05020202040A0204"/>
      <p:regular r:id="rId20"/>
    </p:embeddedFont>
    <p:embeddedFont>
      <p:font typeface="Calibri (MS)" charset="1" panose="020F0502020204030204"/>
      <p:regular r:id="rId21"/>
    </p:embeddedFont>
    <p:embeddedFont>
      <p:font typeface="Consolas" charset="1" panose="020B0609020204030204"/>
      <p:regular r:id="rId24"/>
    </p:embeddedFont>
    <p:embeddedFont>
      <p:font typeface="Consolas Bold" charset="1" panose="020B07090202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1828800"/>
            <a:ext cx="13716000" cy="3474720"/>
            <a:chOff x="0" y="0"/>
            <a:chExt cx="18288000" cy="4632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320" r="0" b="-1373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0"/>
              <a:ext cx="18288000" cy="491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92"/>
                </a:lnSpc>
              </a:pPr>
              <a:r>
                <a:rPr lang="en-US" sz="68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H1 — Composition Musicale</a:t>
              </a:r>
            </a:p>
            <a:p>
              <a:pPr algn="l">
                <a:lnSpc>
                  <a:spcPts val="9792"/>
                </a:lnSpc>
              </a:pPr>
              <a:r>
                <a:rPr lang="en-US" sz="68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Assistée par Contraintes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5577840"/>
            <a:ext cx="16276320" cy="21946"/>
            <a:chOff x="0" y="0"/>
            <a:chExt cx="21701760" cy="292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5852160"/>
            <a:ext cx="13716000" cy="640080"/>
            <a:chOff x="0" y="0"/>
            <a:chExt cx="18288000" cy="853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2880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OR-Tools CP-SAT · Théorie musicale · Export MIDI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" y="7498080"/>
            <a:ext cx="5120640" cy="640080"/>
            <a:chOff x="0" y="0"/>
            <a:chExt cx="682752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Louis Parmentier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75120" y="7498080"/>
            <a:ext cx="5120640" cy="640080"/>
            <a:chOff x="0" y="0"/>
            <a:chExt cx="6827520" cy="853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Marianne Proux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0" y="7498080"/>
            <a:ext cx="5120640" cy="640080"/>
            <a:chOff x="0" y="0"/>
            <a:chExt cx="682752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827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Ethan Girard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5840" y="7461504"/>
            <a:ext cx="16824960" cy="21946"/>
            <a:chOff x="0" y="0"/>
            <a:chExt cx="22433280" cy="292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33280" cy="29210"/>
            </a:xfrm>
            <a:custGeom>
              <a:avLst/>
              <a:gdLst/>
              <a:ahLst/>
              <a:cxnLst/>
              <a:rect r="r" b="b" t="t" l="l"/>
              <a:pathLst>
                <a:path h="292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-777495">
            <a:off x="10187388" y="1154829"/>
            <a:ext cx="7474948" cy="3653381"/>
          </a:xfrm>
          <a:custGeom>
            <a:avLst/>
            <a:gdLst/>
            <a:ahLst/>
            <a:cxnLst/>
            <a:rect r="r" b="b" t="t" l="l"/>
            <a:pathLst>
              <a:path h="3653381" w="7474948">
                <a:moveTo>
                  <a:pt x="0" y="0"/>
                </a:moveTo>
                <a:lnTo>
                  <a:pt x="7474947" y="0"/>
                </a:lnTo>
                <a:lnTo>
                  <a:pt x="7474947" y="3653381"/>
                </a:lnTo>
                <a:lnTo>
                  <a:pt x="0" y="3653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Problématique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4264640" cy="512064"/>
            <a:chOff x="0" y="0"/>
            <a:chExt cx="1901952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1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7" r="0" b="-4927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01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Pourquoi modéliser la composition comme un CSP 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9487" y="2517391"/>
            <a:ext cx="16289017" cy="1384297"/>
            <a:chOff x="0" y="0"/>
            <a:chExt cx="21718689" cy="1845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18651" cy="1845691"/>
            </a:xfrm>
            <a:custGeom>
              <a:avLst/>
              <a:gdLst/>
              <a:ahLst/>
              <a:cxnLst/>
              <a:rect r="r" b="b" t="t" l="l"/>
              <a:pathLst>
                <a:path h="1845691" w="21718651">
                  <a:moveTo>
                    <a:pt x="0" y="0"/>
                  </a:moveTo>
                  <a:lnTo>
                    <a:pt x="21718651" y="0"/>
                  </a:lnTo>
                  <a:lnTo>
                    <a:pt x="21718651" y="1845691"/>
                  </a:lnTo>
                  <a:lnTo>
                    <a:pt x="0" y="1845691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670048"/>
            <a:ext cx="15544800" cy="585216"/>
            <a:chOff x="0" y="0"/>
            <a:chExt cx="207264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72640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Composer = résoudre un problème de satisfaction de contraintes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3255264"/>
            <a:ext cx="15544800" cy="512064"/>
            <a:chOff x="0" y="0"/>
            <a:chExt cx="207264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510" r="0" b="-5415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07264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Une partition est une séquence de notes respectant simultanément des règles de hauteur, d'harmonie, de contrepoint et de rythme.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9487" y="4199887"/>
            <a:ext cx="7693657" cy="5407657"/>
            <a:chOff x="0" y="0"/>
            <a:chExt cx="10258209" cy="72102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58171" cy="7210171"/>
            </a:xfrm>
            <a:custGeom>
              <a:avLst/>
              <a:gdLst/>
              <a:ahLst/>
              <a:cxnLst/>
              <a:rect r="r" b="b" t="t" l="l"/>
              <a:pathLst>
                <a:path h="7210171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7210171"/>
                  </a:lnTo>
                  <a:lnTo>
                    <a:pt x="0" y="7210171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4425696"/>
            <a:ext cx="6949440" cy="640080"/>
            <a:chOff x="0" y="0"/>
            <a:chExt cx="926592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IA Générative (boîte noire)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" y="5120640"/>
            <a:ext cx="6949440" cy="21946"/>
            <a:chOff x="0" y="0"/>
            <a:chExt cx="9265920" cy="2926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65920" cy="29210"/>
            </a:xfrm>
            <a:custGeom>
              <a:avLst/>
              <a:gdLst/>
              <a:ahLst/>
              <a:cxnLst/>
              <a:rect r="r" b="b" t="t" l="l"/>
              <a:pathLst>
                <a:path h="2921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" y="5340096"/>
            <a:ext cx="6949440" cy="822960"/>
            <a:chOff x="0" y="0"/>
            <a:chExt cx="926592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9265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Apprentissage statistique sur corpus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6291072"/>
            <a:ext cx="6949440" cy="822960"/>
            <a:chOff x="0" y="0"/>
            <a:chExt cx="926592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265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Règles implicites / non vérifiables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71600" y="7242048"/>
            <a:ext cx="6949440" cy="822960"/>
            <a:chOff x="0" y="0"/>
            <a:chExt cx="926592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265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Sortie non garantie musicalement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71600" y="8193024"/>
            <a:ext cx="6949440" cy="822960"/>
            <a:chOff x="0" y="0"/>
            <a:chExt cx="926592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265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Difficulté à cibler un style précis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94847" y="4199887"/>
            <a:ext cx="7693657" cy="5407657"/>
            <a:chOff x="0" y="0"/>
            <a:chExt cx="10258209" cy="721020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58171" cy="7210171"/>
            </a:xfrm>
            <a:custGeom>
              <a:avLst/>
              <a:gdLst/>
              <a:ahLst/>
              <a:cxnLst/>
              <a:rect r="r" b="b" t="t" l="l"/>
              <a:pathLst>
                <a:path h="7210171" w="10258171">
                  <a:moveTo>
                    <a:pt x="0" y="0"/>
                  </a:moveTo>
                  <a:lnTo>
                    <a:pt x="10258171" y="0"/>
                  </a:lnTo>
                  <a:lnTo>
                    <a:pt x="10258171" y="7210171"/>
                  </a:lnTo>
                  <a:lnTo>
                    <a:pt x="0" y="7210171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966960" y="4425696"/>
            <a:ext cx="6949440" cy="640080"/>
            <a:chOff x="0" y="0"/>
            <a:chExt cx="926592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265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CP-SAT (notre approche)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966960" y="5120640"/>
            <a:ext cx="6949440" cy="21946"/>
            <a:chOff x="0" y="0"/>
            <a:chExt cx="9265920" cy="292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65920" cy="29210"/>
            </a:xfrm>
            <a:custGeom>
              <a:avLst/>
              <a:gdLst/>
              <a:ahLst/>
              <a:cxnLst/>
              <a:rect r="r" b="b" t="t" l="l"/>
              <a:pathLst>
                <a:path h="2921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966960" y="5340096"/>
            <a:ext cx="6949440" cy="822960"/>
            <a:chOff x="0" y="0"/>
            <a:chExt cx="926592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265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Règles musicales encodées explicitement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966960" y="6291072"/>
            <a:ext cx="6949440" cy="822960"/>
            <a:chOff x="0" y="0"/>
            <a:chExt cx="926592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265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Chaque contrainte = verifiable et modifiable atomiquement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966960" y="7242048"/>
            <a:ext cx="6949440" cy="822960"/>
            <a:chOff x="0" y="0"/>
            <a:chExt cx="926592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265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Garantie : Moins de violation sur la sortie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66960" y="8193024"/>
            <a:ext cx="6949440" cy="822960"/>
            <a:chOff x="0" y="0"/>
            <a:chExt cx="926592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265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2659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Paramétrage général et paramétrage de style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924544" y="4206240"/>
            <a:ext cx="21946" cy="5394960"/>
            <a:chOff x="0" y="0"/>
            <a:chExt cx="29261" cy="7193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210" cy="7193280"/>
            </a:xfrm>
            <a:custGeom>
              <a:avLst/>
              <a:gdLst/>
              <a:ahLst/>
              <a:cxnLst/>
              <a:rect r="r" b="b" t="t" l="l"/>
              <a:pathLst>
                <a:path h="7193280" w="29210">
                  <a:moveTo>
                    <a:pt x="0" y="0"/>
                  </a:moveTo>
                  <a:lnTo>
                    <a:pt x="29210" y="0"/>
                  </a:lnTo>
                  <a:lnTo>
                    <a:pt x="29210" y="7193280"/>
                  </a:lnTo>
                  <a:lnTo>
                    <a:pt x="0" y="719328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16215661" y="456131"/>
            <a:ext cx="1072842" cy="1209146"/>
          </a:xfrm>
          <a:custGeom>
            <a:avLst/>
            <a:gdLst/>
            <a:ahLst/>
            <a:cxnLst/>
            <a:rect r="r" b="b" t="t" l="l"/>
            <a:pathLst>
              <a:path h="1209146" w="1072842">
                <a:moveTo>
                  <a:pt x="0" y="0"/>
                </a:moveTo>
                <a:lnTo>
                  <a:pt x="1072843" y="0"/>
                </a:lnTo>
                <a:lnTo>
                  <a:pt x="1072843" y="1209146"/>
                </a:lnTo>
                <a:lnTo>
                  <a:pt x="0" y="120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Modélisation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4264640" cy="512064"/>
            <a:chOff x="0" y="0"/>
            <a:chExt cx="1901952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1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7" r="0" b="-4927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01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Variables CP-SAT · Domaines · Espace de recherche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523744"/>
            <a:ext cx="10058400" cy="585216"/>
            <a:chOff x="0" y="0"/>
            <a:chExt cx="13411200" cy="780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0" cy="780288"/>
            </a:xfrm>
            <a:custGeom>
              <a:avLst/>
              <a:gdLst/>
              <a:ahLst/>
              <a:cxnLst/>
              <a:rect r="r" b="b" t="t" l="l"/>
              <a:pathLst>
                <a:path h="780288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899" r="0" b="-28489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112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 par tick (1 tick = 1 unite de temps)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2030" y="3214878"/>
            <a:ext cx="3848100" cy="775716"/>
            <a:chOff x="0" y="0"/>
            <a:chExt cx="5130800" cy="1034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308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111111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3291840"/>
            <a:ext cx="3566160" cy="621792"/>
            <a:chOff x="0" y="0"/>
            <a:chExt cx="475488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4880" cy="829056"/>
            </a:xfrm>
            <a:custGeom>
              <a:avLst/>
              <a:gdLst/>
              <a:ahLst/>
              <a:cxnLst/>
              <a:rect r="r" b="b" t="t" l="l"/>
              <a:pathLst>
                <a:path h="82905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7548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42510" y="3214878"/>
            <a:ext cx="2933700" cy="775716"/>
            <a:chOff x="0" y="0"/>
            <a:chExt cx="3911600" cy="1034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116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3911600">
                  <a:moveTo>
                    <a:pt x="0" y="0"/>
                  </a:moveTo>
                  <a:lnTo>
                    <a:pt x="3911600" y="0"/>
                  </a:lnTo>
                  <a:lnTo>
                    <a:pt x="39116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111111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029200" y="3291840"/>
            <a:ext cx="2651760" cy="621792"/>
            <a:chOff x="0" y="0"/>
            <a:chExt cx="353568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35680" cy="829056"/>
            </a:xfrm>
            <a:custGeom>
              <a:avLst/>
              <a:gdLst/>
              <a:ahLst/>
              <a:cxnLst/>
              <a:rect r="r" b="b" t="t" l="l"/>
              <a:pathLst>
                <a:path h="829056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7" r="0" b="-330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5356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768590" y="3214878"/>
            <a:ext cx="4396740" cy="775716"/>
            <a:chOff x="0" y="0"/>
            <a:chExt cx="5862320" cy="10342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6232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862320">
                  <a:moveTo>
                    <a:pt x="0" y="0"/>
                  </a:moveTo>
                  <a:lnTo>
                    <a:pt x="5862320" y="0"/>
                  </a:lnTo>
                  <a:lnTo>
                    <a:pt x="586232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111111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955280" y="3291840"/>
            <a:ext cx="4114800" cy="621792"/>
            <a:chOff x="0" y="0"/>
            <a:chExt cx="548640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6400" cy="829056"/>
            </a:xfrm>
            <a:custGeom>
              <a:avLst/>
              <a:gdLst/>
              <a:ahLst/>
              <a:cxnLst/>
              <a:rect r="r" b="b" t="t" l="l"/>
              <a:pathLst>
                <a:path h="8290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45" r="0" b="-789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486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2030" y="4037838"/>
            <a:ext cx="3848100" cy="775716"/>
            <a:chOff x="0" y="0"/>
            <a:chExt cx="5130800" cy="1034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308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88720" y="4114800"/>
            <a:ext cx="3566160" cy="621792"/>
            <a:chOff x="0" y="0"/>
            <a:chExt cx="4754880" cy="829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829056"/>
            </a:xfrm>
            <a:custGeom>
              <a:avLst/>
              <a:gdLst/>
              <a:ahLst/>
              <a:cxnLst/>
              <a:rect r="r" b="b" t="t" l="l"/>
              <a:pathLst>
                <a:path h="82905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7548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pitch[v, t]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42510" y="4037838"/>
            <a:ext cx="2933700" cy="775716"/>
            <a:chOff x="0" y="0"/>
            <a:chExt cx="3911600" cy="1034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116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3911600">
                  <a:moveTo>
                    <a:pt x="0" y="0"/>
                  </a:moveTo>
                  <a:lnTo>
                    <a:pt x="3911600" y="0"/>
                  </a:lnTo>
                  <a:lnTo>
                    <a:pt x="39116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5029200" y="4114800"/>
            <a:ext cx="2651760" cy="621792"/>
            <a:chOff x="0" y="0"/>
            <a:chExt cx="3535680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35680" cy="829056"/>
            </a:xfrm>
            <a:custGeom>
              <a:avLst/>
              <a:gdLst/>
              <a:ahLst/>
              <a:cxnLst/>
              <a:rect r="r" b="b" t="t" l="l"/>
              <a:pathLst>
                <a:path h="829056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7" r="0" b="-3309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5356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{0} ∪ [40, 81]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68590" y="4037838"/>
            <a:ext cx="4396740" cy="775716"/>
            <a:chOff x="0" y="0"/>
            <a:chExt cx="5862320" cy="1034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6232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862320">
                  <a:moveTo>
                    <a:pt x="0" y="0"/>
                  </a:moveTo>
                  <a:lnTo>
                    <a:pt x="5862320" y="0"/>
                  </a:lnTo>
                  <a:lnTo>
                    <a:pt x="586232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7955280" y="4114800"/>
            <a:ext cx="4114800" cy="621792"/>
            <a:chOff x="0" y="0"/>
            <a:chExt cx="548640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829056"/>
            </a:xfrm>
            <a:custGeom>
              <a:avLst/>
              <a:gdLst/>
              <a:ahLst/>
              <a:cxnLst/>
              <a:rect r="r" b="b" t="t" l="l"/>
              <a:pathLst>
                <a:path h="8290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45" r="0" b="-7894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486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Hauteur MIDI par voix (0 = silence)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02030" y="4860798"/>
            <a:ext cx="3848100" cy="775716"/>
            <a:chOff x="0" y="0"/>
            <a:chExt cx="5130800" cy="1034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308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4F4F4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" y="4937760"/>
            <a:ext cx="3566160" cy="621792"/>
            <a:chOff x="0" y="0"/>
            <a:chExt cx="475488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54880" cy="829056"/>
            </a:xfrm>
            <a:custGeom>
              <a:avLst/>
              <a:gdLst/>
              <a:ahLst/>
              <a:cxnLst/>
              <a:rect r="r" b="b" t="t" l="l"/>
              <a:pathLst>
                <a:path h="82905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7548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root[t]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842510" y="4860798"/>
            <a:ext cx="2933700" cy="775716"/>
            <a:chOff x="0" y="0"/>
            <a:chExt cx="3911600" cy="1034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116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3911600">
                  <a:moveTo>
                    <a:pt x="0" y="0"/>
                  </a:moveTo>
                  <a:lnTo>
                    <a:pt x="3911600" y="0"/>
                  </a:lnTo>
                  <a:lnTo>
                    <a:pt x="39116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4F4F4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5029200" y="4937760"/>
            <a:ext cx="2651760" cy="621792"/>
            <a:chOff x="0" y="0"/>
            <a:chExt cx="3535680" cy="829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35680" cy="829056"/>
            </a:xfrm>
            <a:custGeom>
              <a:avLst/>
              <a:gdLst/>
              <a:ahLst/>
              <a:cxnLst/>
              <a:rect r="r" b="b" t="t" l="l"/>
              <a:pathLst>
                <a:path h="829056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7" r="0" b="-3309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5356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– 11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768590" y="4860798"/>
            <a:ext cx="4396740" cy="775716"/>
            <a:chOff x="0" y="0"/>
            <a:chExt cx="5862320" cy="103428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6232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862320">
                  <a:moveTo>
                    <a:pt x="0" y="0"/>
                  </a:moveTo>
                  <a:lnTo>
                    <a:pt x="5862320" y="0"/>
                  </a:lnTo>
                  <a:lnTo>
                    <a:pt x="586232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4F4F4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955280" y="4937760"/>
            <a:ext cx="4114800" cy="621792"/>
            <a:chOff x="0" y="0"/>
            <a:chExt cx="548640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86400" cy="829056"/>
            </a:xfrm>
            <a:custGeom>
              <a:avLst/>
              <a:gdLst/>
              <a:ahLst/>
              <a:cxnLst/>
              <a:rect r="r" b="b" t="t" l="l"/>
              <a:pathLst>
                <a:path h="8290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45" r="0" b="-7894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5486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Fondamentale de l'accord (0 = Do)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2030" y="5683758"/>
            <a:ext cx="3848100" cy="775716"/>
            <a:chOff x="0" y="0"/>
            <a:chExt cx="5130800" cy="10342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308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88720" y="5760720"/>
            <a:ext cx="3566160" cy="621792"/>
            <a:chOff x="0" y="0"/>
            <a:chExt cx="4754880" cy="8290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54880" cy="829056"/>
            </a:xfrm>
            <a:custGeom>
              <a:avLst/>
              <a:gdLst/>
              <a:ahLst/>
              <a:cxnLst/>
              <a:rect r="r" b="b" t="t" l="l"/>
              <a:pathLst>
                <a:path h="82905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7548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quality[t]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842510" y="5683758"/>
            <a:ext cx="2933700" cy="775716"/>
            <a:chOff x="0" y="0"/>
            <a:chExt cx="3911600" cy="1034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116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3911600">
                  <a:moveTo>
                    <a:pt x="0" y="0"/>
                  </a:moveTo>
                  <a:lnTo>
                    <a:pt x="3911600" y="0"/>
                  </a:lnTo>
                  <a:lnTo>
                    <a:pt x="39116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029200" y="5760720"/>
            <a:ext cx="2651760" cy="621792"/>
            <a:chOff x="0" y="0"/>
            <a:chExt cx="3535680" cy="8290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35680" cy="829056"/>
            </a:xfrm>
            <a:custGeom>
              <a:avLst/>
              <a:gdLst/>
              <a:ahLst/>
              <a:cxnLst/>
              <a:rect r="r" b="b" t="t" l="l"/>
              <a:pathLst>
                <a:path h="829056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7" r="0" b="-3309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5356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– 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768590" y="5683758"/>
            <a:ext cx="4396740" cy="775716"/>
            <a:chOff x="0" y="0"/>
            <a:chExt cx="5862320" cy="10342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86232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862320">
                  <a:moveTo>
                    <a:pt x="0" y="0"/>
                  </a:moveTo>
                  <a:lnTo>
                    <a:pt x="5862320" y="0"/>
                  </a:lnTo>
                  <a:lnTo>
                    <a:pt x="586232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FFFFF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7955280" y="5760720"/>
            <a:ext cx="4114800" cy="621792"/>
            <a:chOff x="0" y="0"/>
            <a:chExt cx="5486400" cy="8290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486400" cy="829056"/>
            </a:xfrm>
            <a:custGeom>
              <a:avLst/>
              <a:gdLst/>
              <a:ahLst/>
              <a:cxnLst/>
              <a:rect r="r" b="b" t="t" l="l"/>
              <a:pathLst>
                <a:path h="8290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45" r="0" b="-7894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486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MAJ, MIN, DOM7, DIM, MAJ7, MIN7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02030" y="6506718"/>
            <a:ext cx="3848100" cy="775716"/>
            <a:chOff x="0" y="0"/>
            <a:chExt cx="5130800" cy="10342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1308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130800">
                  <a:moveTo>
                    <a:pt x="0" y="0"/>
                  </a:moveTo>
                  <a:lnTo>
                    <a:pt x="5130800" y="0"/>
                  </a:lnTo>
                  <a:lnTo>
                    <a:pt x="51308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4F4F4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188720" y="6583680"/>
            <a:ext cx="3566160" cy="621792"/>
            <a:chOff x="0" y="0"/>
            <a:chExt cx="4754880" cy="8290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754880" cy="829056"/>
            </a:xfrm>
            <a:custGeom>
              <a:avLst/>
              <a:gdLst/>
              <a:ahLst/>
              <a:cxnLst/>
              <a:rect r="r" b="b" t="t" l="l"/>
              <a:pathLst>
                <a:path h="82905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52" r="0" b="-6175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7548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degree[t]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842510" y="6506718"/>
            <a:ext cx="2933700" cy="775716"/>
            <a:chOff x="0" y="0"/>
            <a:chExt cx="3911600" cy="1034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11600" cy="1034288"/>
            </a:xfrm>
            <a:custGeom>
              <a:avLst/>
              <a:gdLst/>
              <a:ahLst/>
              <a:cxnLst/>
              <a:rect r="r" b="b" t="t" l="l"/>
              <a:pathLst>
                <a:path h="1034288" w="3911600">
                  <a:moveTo>
                    <a:pt x="0" y="0"/>
                  </a:moveTo>
                  <a:lnTo>
                    <a:pt x="3911600" y="0"/>
                  </a:lnTo>
                  <a:lnTo>
                    <a:pt x="391160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4F4F4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5029200" y="6583680"/>
            <a:ext cx="2651760" cy="621792"/>
            <a:chOff x="0" y="0"/>
            <a:chExt cx="3535680" cy="82905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535680" cy="829056"/>
            </a:xfrm>
            <a:custGeom>
              <a:avLst/>
              <a:gdLst/>
              <a:ahLst/>
              <a:cxnLst/>
              <a:rect r="r" b="b" t="t" l="l"/>
              <a:pathLst>
                <a:path h="829056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97" r="0" b="-3309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53568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 – 7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768590" y="6506718"/>
            <a:ext cx="4396740" cy="775716"/>
            <a:chOff x="0" y="0"/>
            <a:chExt cx="5862320" cy="103428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862320" cy="1034288"/>
            </a:xfrm>
            <a:custGeom>
              <a:avLst/>
              <a:gdLst/>
              <a:ahLst/>
              <a:cxnLst/>
              <a:rect r="r" b="b" t="t" l="l"/>
              <a:pathLst>
                <a:path h="1034288" w="5862320">
                  <a:moveTo>
                    <a:pt x="0" y="0"/>
                  </a:moveTo>
                  <a:lnTo>
                    <a:pt x="5862320" y="0"/>
                  </a:lnTo>
                  <a:lnTo>
                    <a:pt x="5862320" y="1034288"/>
                  </a:lnTo>
                  <a:lnTo>
                    <a:pt x="0" y="1034288"/>
                  </a:lnTo>
                  <a:close/>
                </a:path>
              </a:pathLst>
            </a:custGeom>
            <a:solidFill>
              <a:srgbClr val="F4F4F4"/>
            </a:solidFill>
            <a:ln w="762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7955280" y="6583680"/>
            <a:ext cx="4114800" cy="621792"/>
            <a:chOff x="0" y="0"/>
            <a:chExt cx="5486400" cy="8290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486400" cy="829056"/>
            </a:xfrm>
            <a:custGeom>
              <a:avLst/>
              <a:gdLst/>
              <a:ahLst/>
              <a:cxnLst/>
              <a:rect r="r" b="b" t="t" l="l"/>
              <a:pathLst>
                <a:path h="82905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45" r="0" b="-7894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486400" cy="86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Degré dans la gamme (I à VII)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99487" y="7381999"/>
            <a:ext cx="10436857" cy="2353561"/>
            <a:chOff x="0" y="0"/>
            <a:chExt cx="13915809" cy="313808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3915771" cy="3138043"/>
            </a:xfrm>
            <a:custGeom>
              <a:avLst/>
              <a:gdLst/>
              <a:ahLst/>
              <a:cxnLst/>
              <a:rect r="r" b="b" t="t" l="l"/>
              <a:pathLst>
                <a:path h="3138043" w="13915771">
                  <a:moveTo>
                    <a:pt x="0" y="0"/>
                  </a:moveTo>
                  <a:lnTo>
                    <a:pt x="13915771" y="0"/>
                  </a:lnTo>
                  <a:lnTo>
                    <a:pt x="13915771" y="3138043"/>
                  </a:lnTo>
                  <a:lnTo>
                    <a:pt x="0" y="313804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371600" y="7534656"/>
            <a:ext cx="9692640" cy="548640"/>
            <a:chOff x="0" y="0"/>
            <a:chExt cx="1292352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292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292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Espace de recherche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1600" y="8138160"/>
            <a:ext cx="9692640" cy="1371600"/>
            <a:chOff x="0" y="0"/>
            <a:chExt cx="12923520" cy="1828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923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94" r="0" b="-8769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29235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mesures  →  128 ticks  ×  4 voix  →  plus de 10¹⁵⁰ combinaisons possibles.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CP-SAT réduit cet espace via propagation de contraintes et restrictions booléennes.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063727" y="2517391"/>
            <a:ext cx="5681977" cy="7218169"/>
            <a:chOff x="0" y="0"/>
            <a:chExt cx="7575969" cy="962422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575931" cy="9624187"/>
            </a:xfrm>
            <a:custGeom>
              <a:avLst/>
              <a:gdLst/>
              <a:ahLst/>
              <a:cxnLst/>
              <a:rect r="r" b="b" t="t" l="l"/>
              <a:pathLst>
                <a:path h="9624187" w="7575931">
                  <a:moveTo>
                    <a:pt x="0" y="0"/>
                  </a:moveTo>
                  <a:lnTo>
                    <a:pt x="7575931" y="0"/>
                  </a:lnTo>
                  <a:lnTo>
                    <a:pt x="7575931" y="9624187"/>
                  </a:lnTo>
                  <a:lnTo>
                    <a:pt x="0" y="9624187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2435840" y="2743200"/>
            <a:ext cx="4937760" cy="585216"/>
            <a:chOff x="0" y="0"/>
            <a:chExt cx="6583680" cy="78028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583680" cy="780288"/>
            </a:xfrm>
            <a:custGeom>
              <a:avLst/>
              <a:gdLst/>
              <a:ahLst/>
              <a:cxnLst/>
              <a:rect r="r" b="b" t="t" l="l"/>
              <a:pathLst>
                <a:path h="78028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405" r="0" b="-11440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658368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Réification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435840" y="3401568"/>
            <a:ext cx="4937760" cy="21946"/>
            <a:chOff x="0" y="0"/>
            <a:chExt cx="6583680" cy="2926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583680" cy="29210"/>
            </a:xfrm>
            <a:custGeom>
              <a:avLst/>
              <a:gdLst/>
              <a:ahLst/>
              <a:cxnLst/>
              <a:rect r="r" b="b" t="t" l="l"/>
              <a:pathLst>
                <a:path h="2921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2435840" y="3657600"/>
            <a:ext cx="4937760" cy="768096"/>
            <a:chOff x="0" y="0"/>
            <a:chExt cx="6583680" cy="102412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5836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658368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Règle abstraite → 60% d’activité des instruments: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435840" y="5303520"/>
            <a:ext cx="5120640" cy="694944"/>
            <a:chOff x="0" y="0"/>
            <a:chExt cx="6827520" cy="92659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682752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model.Add(sum(activity) &gt;= int(n_ticks * 0.6))</a:t>
              </a:r>
            </a:p>
          </p:txBody>
        </p:sp>
      </p:grpSp>
      <p:sp>
        <p:nvSpPr>
          <p:cNvPr name="Freeform 111" id="111"/>
          <p:cNvSpPr/>
          <p:nvPr/>
        </p:nvSpPr>
        <p:spPr>
          <a:xfrm flipH="false" flipV="false" rot="0">
            <a:off x="16209318" y="456131"/>
            <a:ext cx="1072842" cy="1209146"/>
          </a:xfrm>
          <a:custGeom>
            <a:avLst/>
            <a:gdLst/>
            <a:ahLst/>
            <a:cxnLst/>
            <a:rect r="r" b="b" t="t" l="l"/>
            <a:pathLst>
              <a:path h="1209146" w="1072842">
                <a:moveTo>
                  <a:pt x="0" y="0"/>
                </a:moveTo>
                <a:lnTo>
                  <a:pt x="1072842" y="0"/>
                </a:lnTo>
                <a:lnTo>
                  <a:pt x="1072842" y="1209146"/>
                </a:lnTo>
                <a:lnTo>
                  <a:pt x="0" y="120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Contraintes Dures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4264640" cy="512064"/>
            <a:chOff x="0" y="0"/>
            <a:chExt cx="1901952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1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7" r="0" b="-4927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01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core/constraints/ — harmony.py · counterpoint.py · rhythm.py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9487" y="2517391"/>
            <a:ext cx="8187433" cy="3158233"/>
            <a:chOff x="0" y="0"/>
            <a:chExt cx="10916577" cy="42109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16539" cy="4210939"/>
            </a:xfrm>
            <a:custGeom>
              <a:avLst/>
              <a:gdLst/>
              <a:ahLst/>
              <a:cxnLst/>
              <a:rect r="r" b="b" t="t" l="l"/>
              <a:pathLst>
                <a:path h="4210939" w="10916539">
                  <a:moveTo>
                    <a:pt x="0" y="0"/>
                  </a:moveTo>
                  <a:lnTo>
                    <a:pt x="10916539" y="0"/>
                  </a:lnTo>
                  <a:lnTo>
                    <a:pt x="10916539" y="4210939"/>
                  </a:lnTo>
                  <a:lnTo>
                    <a:pt x="0" y="4210939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798064"/>
            <a:ext cx="5120640" cy="585216"/>
            <a:chOff x="0" y="0"/>
            <a:chExt cx="682752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8275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Gamme &amp; Tessiture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75120" y="2798064"/>
            <a:ext cx="2194560" cy="585216"/>
            <a:chOff x="0" y="0"/>
            <a:chExt cx="292608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harmony.py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1600" y="3474720"/>
            <a:ext cx="7315200" cy="21946"/>
            <a:chOff x="0" y="0"/>
            <a:chExt cx="9753600" cy="29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29210"/>
            </a:xfrm>
            <a:custGeom>
              <a:avLst/>
              <a:gdLst/>
              <a:ahLst/>
              <a:cxnLst/>
              <a:rect r="r" b="b" t="t" l="l"/>
              <a:pathLst>
                <a:path h="292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3657600"/>
            <a:ext cx="7315200" cy="1792224"/>
            <a:chOff x="0" y="0"/>
            <a:chExt cx="9753600" cy="23896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0" cy="2389632"/>
            </a:xfrm>
            <a:custGeom>
              <a:avLst/>
              <a:gdLst/>
              <a:ahLst/>
              <a:cxnLst/>
              <a:rect r="r" b="b" t="t" l="l"/>
              <a:pathLst>
                <a:path h="238963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0" r="0" b="-295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753600" cy="2427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 notes appartiennent à la tonalité choisie. Tessiture par voix : Soprano &gt; Alto &gt; Ténor &gt; Basse. Aucun croisement de voix autorisé.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31423" y="2517391"/>
            <a:ext cx="8187433" cy="3158233"/>
            <a:chOff x="0" y="0"/>
            <a:chExt cx="10916577" cy="421097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16539" cy="4210939"/>
            </a:xfrm>
            <a:custGeom>
              <a:avLst/>
              <a:gdLst/>
              <a:ahLst/>
              <a:cxnLst/>
              <a:rect r="r" b="b" t="t" l="l"/>
              <a:pathLst>
                <a:path h="4210939" w="10916539">
                  <a:moveTo>
                    <a:pt x="0" y="0"/>
                  </a:moveTo>
                  <a:lnTo>
                    <a:pt x="10916539" y="0"/>
                  </a:lnTo>
                  <a:lnTo>
                    <a:pt x="10916539" y="4210939"/>
                  </a:lnTo>
                  <a:lnTo>
                    <a:pt x="0" y="4210939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003536" y="2798064"/>
            <a:ext cx="5120640" cy="585216"/>
            <a:chOff x="0" y="0"/>
            <a:chExt cx="682752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8275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Quintes &amp; Octaves Parallèles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307056" y="2798064"/>
            <a:ext cx="2194560" cy="585216"/>
            <a:chOff x="0" y="0"/>
            <a:chExt cx="2926080" cy="78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counterpoint.py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03536" y="3474720"/>
            <a:ext cx="7315200" cy="21946"/>
            <a:chOff x="0" y="0"/>
            <a:chExt cx="9753600" cy="2926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0" cy="29210"/>
            </a:xfrm>
            <a:custGeom>
              <a:avLst/>
              <a:gdLst/>
              <a:ahLst/>
              <a:cxnLst/>
              <a:rect r="r" b="b" t="t" l="l"/>
              <a:pathLst>
                <a:path h="292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03536" y="3657600"/>
            <a:ext cx="7315200" cy="1792224"/>
            <a:chOff x="0" y="0"/>
            <a:chExt cx="9753600" cy="23896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2389632"/>
            </a:xfrm>
            <a:custGeom>
              <a:avLst/>
              <a:gdLst/>
              <a:ahLst/>
              <a:cxnLst/>
              <a:rect r="r" b="b" t="t" l="l"/>
              <a:pathLst>
                <a:path h="238963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0" r="0" b="-2953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753600" cy="2427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 deux voix progressent dans le même sens, la solution est éliminée d'office afin d’obtenir une polyphonie des voix.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9487" y="5992111"/>
            <a:ext cx="8187433" cy="3158233"/>
            <a:chOff x="0" y="0"/>
            <a:chExt cx="10916577" cy="421097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16539" cy="4210939"/>
            </a:xfrm>
            <a:custGeom>
              <a:avLst/>
              <a:gdLst/>
              <a:ahLst/>
              <a:cxnLst/>
              <a:rect r="r" b="b" t="t" l="l"/>
              <a:pathLst>
                <a:path h="4210939" w="10916539">
                  <a:moveTo>
                    <a:pt x="0" y="0"/>
                  </a:moveTo>
                  <a:lnTo>
                    <a:pt x="10916539" y="0"/>
                  </a:lnTo>
                  <a:lnTo>
                    <a:pt x="10916539" y="4210939"/>
                  </a:lnTo>
                  <a:lnTo>
                    <a:pt x="0" y="4210939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1600" y="6272784"/>
            <a:ext cx="5120640" cy="585216"/>
            <a:chOff x="0" y="0"/>
            <a:chExt cx="6827520" cy="780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8275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Résolution de la Sensible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675120" y="6272784"/>
            <a:ext cx="2194560" cy="585216"/>
            <a:chOff x="0" y="0"/>
            <a:chExt cx="2926080" cy="780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harmony.py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71600" y="6949440"/>
            <a:ext cx="7315200" cy="21946"/>
            <a:chOff x="0" y="0"/>
            <a:chExt cx="9753600" cy="2926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29210"/>
            </a:xfrm>
            <a:custGeom>
              <a:avLst/>
              <a:gdLst/>
              <a:ahLst/>
              <a:cxnLst/>
              <a:rect r="r" b="b" t="t" l="l"/>
              <a:pathLst>
                <a:path h="292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71600" y="7132320"/>
            <a:ext cx="7315200" cy="1792224"/>
            <a:chOff x="0" y="0"/>
            <a:chExt cx="9753600" cy="23896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753600" cy="2389632"/>
            </a:xfrm>
            <a:custGeom>
              <a:avLst/>
              <a:gdLst/>
              <a:ahLst/>
              <a:cxnLst/>
              <a:rect r="r" b="b" t="t" l="l"/>
              <a:pathLst>
                <a:path h="238963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0" r="0" b="-2953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753600" cy="2427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 7e degré (si) doit obligatoirement monter à la tonique (do). Encodé par réification booléenne dans le modèle.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631423" y="5992111"/>
            <a:ext cx="8187433" cy="3158233"/>
            <a:chOff x="0" y="0"/>
            <a:chExt cx="10916577" cy="421097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16539" cy="4210939"/>
            </a:xfrm>
            <a:custGeom>
              <a:avLst/>
              <a:gdLst/>
              <a:ahLst/>
              <a:cxnLst/>
              <a:rect r="r" b="b" t="t" l="l"/>
              <a:pathLst>
                <a:path h="4210939" w="10916539">
                  <a:moveTo>
                    <a:pt x="0" y="0"/>
                  </a:moveTo>
                  <a:lnTo>
                    <a:pt x="10916539" y="0"/>
                  </a:lnTo>
                  <a:lnTo>
                    <a:pt x="10916539" y="4210939"/>
                  </a:lnTo>
                  <a:lnTo>
                    <a:pt x="0" y="4210939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0003536" y="6272784"/>
            <a:ext cx="5120640" cy="585216"/>
            <a:chOff x="0" y="0"/>
            <a:chExt cx="682752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27520" cy="780288"/>
            </a:xfrm>
            <a:custGeom>
              <a:avLst/>
              <a:gdLst/>
              <a:ahLst/>
              <a:cxnLst/>
              <a:rect r="r" b="b" t="t" l="l"/>
              <a:pathLst>
                <a:path h="78028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8275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Activité des Voix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307056" y="6272784"/>
            <a:ext cx="2194560" cy="585216"/>
            <a:chOff x="0" y="0"/>
            <a:chExt cx="292608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26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92608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39"/>
                </a:lnSpc>
              </a:pPr>
              <a:r>
                <a:rPr lang="en-US" sz="17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rhythm.py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03536" y="6949440"/>
            <a:ext cx="7315200" cy="21946"/>
            <a:chOff x="0" y="0"/>
            <a:chExt cx="9753600" cy="2926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0" cy="29210"/>
            </a:xfrm>
            <a:custGeom>
              <a:avLst/>
              <a:gdLst/>
              <a:ahLst/>
              <a:cxnLst/>
              <a:rect r="r" b="b" t="t" l="l"/>
              <a:pathLst>
                <a:path h="292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003536" y="7132320"/>
            <a:ext cx="7315200" cy="1792224"/>
            <a:chOff x="0" y="0"/>
            <a:chExt cx="9753600" cy="23896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53600" cy="2389632"/>
            </a:xfrm>
            <a:custGeom>
              <a:avLst/>
              <a:gdLst/>
              <a:ahLst/>
              <a:cxnLst/>
              <a:rect r="r" b="b" t="t" l="l"/>
              <a:pathLst>
                <a:path h="238963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30" r="0" b="-295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753600" cy="2427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Chaque voix doit participer à au moins 60 % de la pièce. Évite les silences prolongés et force la présence de chaque partie.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6186458" y="515641"/>
            <a:ext cx="1072842" cy="1209146"/>
          </a:xfrm>
          <a:custGeom>
            <a:avLst/>
            <a:gdLst/>
            <a:ahLst/>
            <a:cxnLst/>
            <a:rect r="r" b="b" t="t" l="l"/>
            <a:pathLst>
              <a:path h="1209146" w="1072842">
                <a:moveTo>
                  <a:pt x="0" y="0"/>
                </a:moveTo>
                <a:lnTo>
                  <a:pt x="1072842" y="0"/>
                </a:lnTo>
                <a:lnTo>
                  <a:pt x="1072842" y="1209146"/>
                </a:lnTo>
                <a:lnTo>
                  <a:pt x="0" y="120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Contraintes Soft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4264640" cy="512064"/>
            <a:chOff x="0" y="0"/>
            <a:chExt cx="1901952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1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7" r="0" b="-4927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01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core/soft_constraints/ — baroque.py · jazz.py · contemporary.py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9487" y="2517391"/>
            <a:ext cx="16289017" cy="1109977"/>
            <a:chOff x="0" y="0"/>
            <a:chExt cx="21718689" cy="14799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18651" cy="1479931"/>
            </a:xfrm>
            <a:custGeom>
              <a:avLst/>
              <a:gdLst/>
              <a:ahLst/>
              <a:cxnLst/>
              <a:rect r="r" b="b" t="t" l="l"/>
              <a:pathLst>
                <a:path h="1479931" w="21718651">
                  <a:moveTo>
                    <a:pt x="0" y="0"/>
                  </a:moveTo>
                  <a:lnTo>
                    <a:pt x="21718651" y="0"/>
                  </a:lnTo>
                  <a:lnTo>
                    <a:pt x="21718651" y="1479931"/>
                  </a:lnTo>
                  <a:lnTo>
                    <a:pt x="0" y="1479931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670048"/>
            <a:ext cx="15544800" cy="841248"/>
            <a:chOff x="0" y="0"/>
            <a:chExt cx="20726400" cy="11216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1121664"/>
            </a:xfrm>
            <a:custGeom>
              <a:avLst/>
              <a:gdLst/>
              <a:ahLst/>
              <a:cxnLst/>
              <a:rect r="r" b="b" t="t" l="l"/>
              <a:pathLst>
                <a:path h="1121664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049" r="0" b="-3100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726400" cy="11692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44444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 solveur minimise un score de pénalité global. Chaque règle soft violée coûte des points -&gt; converge naturellement vers le style paramétré.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9487" y="3834127"/>
            <a:ext cx="5462521" cy="5864857"/>
            <a:chOff x="0" y="0"/>
            <a:chExt cx="7283361" cy="78198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83323" cy="7819771"/>
            </a:xfrm>
            <a:custGeom>
              <a:avLst/>
              <a:gdLst/>
              <a:ahLst/>
              <a:cxnLst/>
              <a:rect r="r" b="b" t="t" l="l"/>
              <a:pathLst>
                <a:path h="7819771" w="7283323">
                  <a:moveTo>
                    <a:pt x="0" y="0"/>
                  </a:moveTo>
                  <a:lnTo>
                    <a:pt x="7283323" y="0"/>
                  </a:lnTo>
                  <a:lnTo>
                    <a:pt x="7283323" y="7819771"/>
                  </a:lnTo>
                  <a:lnTo>
                    <a:pt x="0" y="7819771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05840" y="3840480"/>
            <a:ext cx="5449824" cy="1097280"/>
            <a:chOff x="0" y="0"/>
            <a:chExt cx="7266432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66432" cy="1463040"/>
            </a:xfrm>
            <a:custGeom>
              <a:avLst/>
              <a:gdLst/>
              <a:ahLst/>
              <a:cxnLst/>
              <a:rect r="r" b="b" t="t" l="l"/>
              <a:pathLst>
                <a:path h="146304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0160" y="3840480"/>
            <a:ext cx="3291840" cy="1097280"/>
            <a:chOff x="0" y="0"/>
            <a:chExt cx="438912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3891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Baroque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389120" y="3840480"/>
            <a:ext cx="1828800" cy="1097280"/>
            <a:chOff x="0" y="0"/>
            <a:chExt cx="243840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4384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baroque.py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0160" y="5157216"/>
            <a:ext cx="2596896" cy="731520"/>
            <a:chOff x="0" y="0"/>
            <a:chExt cx="3462528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Mouvement contraire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31920" y="5157216"/>
            <a:ext cx="2286000" cy="731520"/>
            <a:chOff x="0" y="0"/>
            <a:chExt cx="304800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fortement favorisé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80160" y="6016752"/>
            <a:ext cx="2596896" cy="731520"/>
            <a:chOff x="0" y="0"/>
            <a:chExt cx="3462528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Triades pures (sans 7e)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931920" y="6016752"/>
            <a:ext cx="2286000" cy="731520"/>
            <a:chOff x="0" y="0"/>
            <a:chExt cx="304800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+0 pts  (préféré)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0160" y="6876288"/>
            <a:ext cx="2596896" cy="731520"/>
            <a:chOff x="0" y="0"/>
            <a:chExt cx="3462528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7e présente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931920" y="6876288"/>
            <a:ext cx="2286000" cy="731520"/>
            <a:chOff x="0" y="0"/>
            <a:chExt cx="304800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+30 pts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80160" y="7735824"/>
            <a:ext cx="2596896" cy="731520"/>
            <a:chOff x="0" y="0"/>
            <a:chExt cx="3462528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Ornements mélodiques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931920" y="7735824"/>
            <a:ext cx="2286000" cy="731520"/>
            <a:chOff x="0" y="0"/>
            <a:chExt cx="304800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−10 pts si présents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80160" y="8595360"/>
            <a:ext cx="2596896" cy="731520"/>
            <a:chOff x="0" y="0"/>
            <a:chExt cx="3462528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Tessiture serrée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931920" y="8595360"/>
            <a:ext cx="2286000" cy="731520"/>
            <a:chOff x="0" y="0"/>
            <a:chExt cx="3048000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pénalisée si &gt; octave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815071" y="3834127"/>
            <a:ext cx="5462521" cy="5864857"/>
            <a:chOff x="0" y="0"/>
            <a:chExt cx="7283361" cy="781980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83323" cy="7819771"/>
            </a:xfrm>
            <a:custGeom>
              <a:avLst/>
              <a:gdLst/>
              <a:ahLst/>
              <a:cxnLst/>
              <a:rect r="r" b="b" t="t" l="l"/>
              <a:pathLst>
                <a:path h="7819771" w="7283323">
                  <a:moveTo>
                    <a:pt x="0" y="0"/>
                  </a:moveTo>
                  <a:lnTo>
                    <a:pt x="7283323" y="0"/>
                  </a:lnTo>
                  <a:lnTo>
                    <a:pt x="7283323" y="7819771"/>
                  </a:lnTo>
                  <a:lnTo>
                    <a:pt x="0" y="7819771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6821424" y="3840480"/>
            <a:ext cx="5449824" cy="1097280"/>
            <a:chOff x="0" y="0"/>
            <a:chExt cx="7266432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266432" cy="1463040"/>
            </a:xfrm>
            <a:custGeom>
              <a:avLst/>
              <a:gdLst/>
              <a:ahLst/>
              <a:cxnLst/>
              <a:rect r="r" b="b" t="t" l="l"/>
              <a:pathLst>
                <a:path h="146304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7095744" y="3840480"/>
            <a:ext cx="3291840" cy="1097280"/>
            <a:chOff x="0" y="0"/>
            <a:chExt cx="4389120" cy="1463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43891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Jazz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204704" y="3840480"/>
            <a:ext cx="1828800" cy="1097280"/>
            <a:chOff x="0" y="0"/>
            <a:chExt cx="2438400" cy="1463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4384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jazz.py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095744" y="5157216"/>
            <a:ext cx="2596896" cy="731520"/>
            <a:chOff x="0" y="0"/>
            <a:chExt cx="3462528" cy="9753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Accord de 7e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47504" y="5157216"/>
            <a:ext cx="2286000" cy="731520"/>
            <a:chOff x="0" y="0"/>
            <a:chExt cx="3048000" cy="975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−50 pts (fortement préféré)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095744" y="6016752"/>
            <a:ext cx="2596896" cy="731520"/>
            <a:chOff x="0" y="0"/>
            <a:chExt cx="3462528" cy="975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Absence de 7e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747504" y="6016752"/>
            <a:ext cx="2286000" cy="731520"/>
            <a:chOff x="0" y="0"/>
            <a:chExt cx="3048000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+50 pts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095744" y="6876288"/>
            <a:ext cx="2596896" cy="731520"/>
            <a:chOff x="0" y="0"/>
            <a:chExt cx="3462528" cy="9753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Walking Bass (basse)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747504" y="6876288"/>
            <a:ext cx="2286000" cy="731520"/>
            <a:chOff x="0" y="0"/>
            <a:chExt cx="3048000" cy="9753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ticks continus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095744" y="7735824"/>
            <a:ext cx="2596896" cy="731520"/>
            <a:chOff x="0" y="0"/>
            <a:chExt cx="3462528" cy="9753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Shell voicings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747504" y="7735824"/>
            <a:ext cx="2286000" cy="731520"/>
            <a:chOff x="0" y="0"/>
            <a:chExt cx="3048000" cy="9753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3e + 7e (alto/ténor)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095744" y="8595360"/>
            <a:ext cx="2596896" cy="731520"/>
            <a:chOff x="0" y="0"/>
            <a:chExt cx="3462528" cy="9753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Syncopes &amp; approches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747504" y="8595360"/>
            <a:ext cx="2286000" cy="731520"/>
            <a:chOff x="0" y="0"/>
            <a:chExt cx="3048000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chromatiques à la basse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630655" y="3834127"/>
            <a:ext cx="5462521" cy="5864857"/>
            <a:chOff x="0" y="0"/>
            <a:chExt cx="7283361" cy="781980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283323" cy="7819771"/>
            </a:xfrm>
            <a:custGeom>
              <a:avLst/>
              <a:gdLst/>
              <a:ahLst/>
              <a:cxnLst/>
              <a:rect r="r" b="b" t="t" l="l"/>
              <a:pathLst>
                <a:path h="7819771" w="7283323">
                  <a:moveTo>
                    <a:pt x="0" y="0"/>
                  </a:moveTo>
                  <a:lnTo>
                    <a:pt x="7283323" y="0"/>
                  </a:lnTo>
                  <a:lnTo>
                    <a:pt x="7283323" y="7819771"/>
                  </a:lnTo>
                  <a:lnTo>
                    <a:pt x="0" y="7819771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2637008" y="3840480"/>
            <a:ext cx="5449824" cy="1097280"/>
            <a:chOff x="0" y="0"/>
            <a:chExt cx="7266432" cy="14630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266432" cy="1463040"/>
            </a:xfrm>
            <a:custGeom>
              <a:avLst/>
              <a:gdLst/>
              <a:ahLst/>
              <a:cxnLst/>
              <a:rect r="r" b="b" t="t" l="l"/>
              <a:pathLst>
                <a:path h="1463040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911328" y="3840480"/>
            <a:ext cx="3291840" cy="1097280"/>
            <a:chOff x="0" y="0"/>
            <a:chExt cx="4389120" cy="14630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389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43891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Contemporain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6020288" y="3840480"/>
            <a:ext cx="1828800" cy="1097280"/>
            <a:chOff x="0" y="0"/>
            <a:chExt cx="2438400" cy="14630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4384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20"/>
                </a:lnSpc>
              </a:pPr>
              <a:r>
                <a:rPr lang="en-US" sz="1600">
                  <a:solidFill>
                    <a:srgbClr val="888888"/>
                  </a:solidFill>
                  <a:latin typeface="Consolas"/>
                  <a:ea typeface="Consolas"/>
                  <a:cs typeface="Consolas"/>
                  <a:sym typeface="Consolas"/>
                </a:rPr>
                <a:t>contemporary.py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911328" y="5157216"/>
            <a:ext cx="2596896" cy="731520"/>
            <a:chOff x="0" y="0"/>
            <a:chExt cx="3462528" cy="9753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Dissonances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5563088" y="5157216"/>
            <a:ext cx="2286000" cy="731520"/>
            <a:chOff x="0" y="0"/>
            <a:chExt cx="3048000" cy="9753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+0 pts  (bienvenues)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911328" y="6016752"/>
            <a:ext cx="2596896" cy="731520"/>
            <a:chOff x="0" y="0"/>
            <a:chExt cx="3462528" cy="9753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Grands sauts (&gt; 4 st)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5563088" y="6016752"/>
            <a:ext cx="2286000" cy="731520"/>
            <a:chOff x="0" y="0"/>
            <a:chExt cx="3048000" cy="9753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+5 pts  (favorisés)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911328" y="6876288"/>
            <a:ext cx="2596896" cy="731520"/>
            <a:chOff x="0" y="0"/>
            <a:chExt cx="3462528" cy="9753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Tonique en mélodie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5563088" y="6876288"/>
            <a:ext cx="2286000" cy="731520"/>
            <a:chOff x="0" y="0"/>
            <a:chExt cx="3048000" cy="9753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évitée (pénalisée)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911328" y="7735824"/>
            <a:ext cx="2596896" cy="731520"/>
            <a:chOff x="0" y="0"/>
            <a:chExt cx="3462528" cy="9753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Syncopes extrêmes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5563088" y="7735824"/>
            <a:ext cx="2286000" cy="731520"/>
            <a:chOff x="0" y="0"/>
            <a:chExt cx="3048000" cy="97536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favorisées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911328" y="8595360"/>
            <a:ext cx="2596896" cy="731520"/>
            <a:chOff x="0" y="0"/>
            <a:chExt cx="3462528" cy="9753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462528" cy="975360"/>
            </a:xfrm>
            <a:custGeom>
              <a:avLst/>
              <a:gdLst/>
              <a:ahLst/>
              <a:cxnLst/>
              <a:rect r="r" b="b" t="t" l="l"/>
              <a:pathLst>
                <a:path h="975360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3462528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Clusters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5563088" y="8595360"/>
            <a:ext cx="2286000" cy="731520"/>
            <a:chOff x="0" y="0"/>
            <a:chExt cx="3048000" cy="97536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048000" cy="975360"/>
            </a:xfrm>
            <a:custGeom>
              <a:avLst/>
              <a:gdLst/>
              <a:ahLst/>
              <a:cxnLst/>
              <a:rect r="r" b="b" t="t" l="l"/>
              <a:pathLst>
                <a:path h="97536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30480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autorisés</a:t>
              </a:r>
            </a:p>
          </p:txBody>
        </p:sp>
      </p:grpSp>
      <p:sp>
        <p:nvSpPr>
          <p:cNvPr name="Freeform 137" id="137"/>
          <p:cNvSpPr/>
          <p:nvPr/>
        </p:nvSpPr>
        <p:spPr>
          <a:xfrm flipH="false" flipV="false" rot="0">
            <a:off x="15946755" y="512064"/>
            <a:ext cx="1072842" cy="1209146"/>
          </a:xfrm>
          <a:custGeom>
            <a:avLst/>
            <a:gdLst/>
            <a:ahLst/>
            <a:cxnLst/>
            <a:rect r="r" b="b" t="t" l="l"/>
            <a:pathLst>
              <a:path h="1209146" w="1072842">
                <a:moveTo>
                  <a:pt x="0" y="0"/>
                </a:moveTo>
                <a:lnTo>
                  <a:pt x="1072842" y="0"/>
                </a:lnTo>
                <a:lnTo>
                  <a:pt x="1072842" y="1209146"/>
                </a:lnTo>
                <a:lnTo>
                  <a:pt x="0" y="120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du Projet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4264640" cy="512064"/>
            <a:chOff x="0" y="0"/>
            <a:chExt cx="1901952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1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7" r="0" b="-4927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01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Structure H1/ — rôles des modules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9487" y="2283304"/>
            <a:ext cx="8242297" cy="7327897"/>
            <a:chOff x="0" y="0"/>
            <a:chExt cx="10989729" cy="97705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89691" cy="9770491"/>
            </a:xfrm>
            <a:custGeom>
              <a:avLst/>
              <a:gdLst/>
              <a:ahLst/>
              <a:cxnLst/>
              <a:rect r="r" b="b" t="t" l="l"/>
              <a:pathLst>
                <a:path h="9770491" w="10989691">
                  <a:moveTo>
                    <a:pt x="0" y="0"/>
                  </a:moveTo>
                  <a:lnTo>
                    <a:pt x="10989691" y="0"/>
                  </a:lnTo>
                  <a:lnTo>
                    <a:pt x="10989691" y="9770491"/>
                  </a:lnTo>
                  <a:lnTo>
                    <a:pt x="0" y="9770491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2743200"/>
            <a:ext cx="7498080" cy="585216"/>
            <a:chOff x="0" y="0"/>
            <a:chExt cx="999744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Arborescence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3401568"/>
            <a:ext cx="7498080" cy="21946"/>
            <a:chOff x="0" y="0"/>
            <a:chExt cx="9997440" cy="292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29210"/>
            </a:xfrm>
            <a:custGeom>
              <a:avLst/>
              <a:gdLst/>
              <a:ahLst/>
              <a:cxnLst/>
              <a:rect r="r" b="b" t="t" l="l"/>
              <a:pathLst>
                <a:path h="2921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3621024"/>
            <a:ext cx="7498080" cy="512064"/>
            <a:chOff x="0" y="0"/>
            <a:chExt cx="999744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main.py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1600" y="3931920"/>
            <a:ext cx="7498080" cy="512064"/>
            <a:chOff x="0" y="0"/>
            <a:chExt cx="999744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core/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" y="4480560"/>
            <a:ext cx="7498080" cy="512064"/>
            <a:chOff x="0" y="0"/>
            <a:chExt cx="999744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  model.py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" y="5029200"/>
            <a:ext cx="7498080" cy="512064"/>
            <a:chOff x="0" y="0"/>
            <a:chExt cx="999744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  variables.py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71600" y="5577840"/>
            <a:ext cx="7498080" cy="512064"/>
            <a:chOff x="0" y="0"/>
            <a:chExt cx="999744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  constants.py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1600" y="6126480"/>
            <a:ext cx="7498080" cy="512064"/>
            <a:chOff x="0" y="0"/>
            <a:chExt cx="999744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  constraints/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1600" y="6675120"/>
            <a:ext cx="7498080" cy="512064"/>
            <a:chOff x="0" y="0"/>
            <a:chExt cx="999744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    harmony.py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1600" y="7223760"/>
            <a:ext cx="7498080" cy="512064"/>
            <a:chOff x="0" y="0"/>
            <a:chExt cx="999744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    counterpoint.py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71600" y="7772400"/>
            <a:ext cx="7498080" cy="512064"/>
            <a:chOff x="0" y="0"/>
            <a:chExt cx="999744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    rhythm.py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71600" y="8321040"/>
            <a:ext cx="7498080" cy="512064"/>
            <a:chOff x="0" y="0"/>
            <a:chExt cx="9997440" cy="68275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  soft_constraints/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71600" y="8635594"/>
            <a:ext cx="7498080" cy="512064"/>
            <a:chOff x="0" y="0"/>
            <a:chExt cx="999744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    baroque.py  /  jazz.py  /  contemporary.py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1600" y="8992210"/>
            <a:ext cx="7498080" cy="512064"/>
            <a:chOff x="0" y="0"/>
            <a:chExt cx="999744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111111"/>
                  </a:solidFill>
                  <a:latin typeface="Consolas"/>
                  <a:ea typeface="Consolas"/>
                  <a:cs typeface="Consolas"/>
                  <a:sym typeface="Consolas"/>
                </a:rPr>
                <a:t>export/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54017" y="9225524"/>
            <a:ext cx="7498080" cy="512064"/>
            <a:chOff x="0" y="0"/>
            <a:chExt cx="9997440" cy="682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444444"/>
                  </a:solidFill>
                  <a:latin typeface="Consolas"/>
                  <a:ea typeface="Consolas"/>
                  <a:cs typeface="Consolas"/>
                  <a:sym typeface="Consolas"/>
                </a:rPr>
                <a:t>  midi_export.py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875520" y="2743200"/>
            <a:ext cx="7863840" cy="585216"/>
            <a:chOff x="0" y="0"/>
            <a:chExt cx="10485120" cy="7802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48512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Rôles clés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875520" y="3401568"/>
            <a:ext cx="7863840" cy="21946"/>
            <a:chOff x="0" y="0"/>
            <a:chExt cx="10485120" cy="2926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85120" cy="29210"/>
            </a:xfrm>
            <a:custGeom>
              <a:avLst/>
              <a:gdLst/>
              <a:ahLst/>
              <a:cxnLst/>
              <a:rect r="r" b="b" t="t" l="l"/>
              <a:pathLst>
                <a:path h="2921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875520" y="3621024"/>
            <a:ext cx="3108960" cy="512064"/>
            <a:chOff x="0" y="0"/>
            <a:chExt cx="4145280" cy="682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1111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model.py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75520" y="4096512"/>
            <a:ext cx="7772400" cy="475488"/>
            <a:chOff x="0" y="0"/>
            <a:chExt cx="10363200" cy="6339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363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363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Moteur central CP-SAT. Orchestre l'ajout de toutes les contraintes.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875520" y="4626864"/>
            <a:ext cx="3108960" cy="512064"/>
            <a:chOff x="0" y="0"/>
            <a:chExt cx="4145280" cy="6827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1111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variables.py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75520" y="5102352"/>
            <a:ext cx="7772400" cy="475488"/>
            <a:chOff x="0" y="0"/>
            <a:chExt cx="10363200" cy="6339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363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363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Déclare pitch[v,t], root[t], quality[t], degree[t] dans les domaines.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875520" y="5632704"/>
            <a:ext cx="3108960" cy="512064"/>
            <a:chOff x="0" y="0"/>
            <a:chExt cx="414528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1111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harmony.py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875520" y="6108192"/>
            <a:ext cx="7772400" cy="475488"/>
            <a:chOff x="0" y="0"/>
            <a:chExt cx="10363200" cy="6339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363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363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Lien degré ↔ qualité, résolution sensible, progression ii-V-I.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875520" y="6638544"/>
            <a:ext cx="3108960" cy="512064"/>
            <a:chOff x="0" y="0"/>
            <a:chExt cx="4145280" cy="68275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1111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counterpoint.py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875520" y="7114032"/>
            <a:ext cx="7772400" cy="475488"/>
            <a:chOff x="0" y="0"/>
            <a:chExt cx="10363200" cy="6339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363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363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Interdit quintes/octaves parallèles, croisements de voix.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875520" y="7644384"/>
            <a:ext cx="3108960" cy="512064"/>
            <a:chOff x="0" y="0"/>
            <a:chExt cx="414528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1111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midi_export.py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875520" y="8119872"/>
            <a:ext cx="7772400" cy="475488"/>
            <a:chOff x="0" y="0"/>
            <a:chExt cx="10363200" cy="6339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363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0363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Export multi-pistes .mid standard, 1 piste par voix.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875520" y="8650224"/>
            <a:ext cx="3108960" cy="512064"/>
            <a:chOff x="0" y="0"/>
            <a:chExt cx="4145280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45280" cy="682752"/>
            </a:xfrm>
            <a:custGeom>
              <a:avLst/>
              <a:gdLst/>
              <a:ahLst/>
              <a:cxnLst/>
              <a:rect r="r" b="b" t="t" l="l"/>
              <a:pathLst>
                <a:path h="682752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02" r="0" b="-6830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145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1111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rule_checker.py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875520" y="9125712"/>
            <a:ext cx="7772400" cy="475488"/>
            <a:chOff x="0" y="0"/>
            <a:chExt cx="10363200" cy="63398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363200" cy="633984"/>
            </a:xfrm>
            <a:custGeom>
              <a:avLst/>
              <a:gdLst/>
              <a:ahLst/>
              <a:cxnLst/>
              <a:rect r="r" b="b" t="t" l="l"/>
              <a:pathLst>
                <a:path h="633984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505" r="0" b="-26850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3632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Audit post-génération : 4 métriques quantitatives.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509760" y="2523744"/>
            <a:ext cx="21946" cy="7315200"/>
            <a:chOff x="0" y="0"/>
            <a:chExt cx="29261" cy="9753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9210" cy="9753600"/>
            </a:xfrm>
            <a:custGeom>
              <a:avLst/>
              <a:gdLst/>
              <a:ahLst/>
              <a:cxnLst/>
              <a:rect r="r" b="b" t="t" l="l"/>
              <a:pathLst>
                <a:path h="9753600" w="29210">
                  <a:moveTo>
                    <a:pt x="0" y="0"/>
                  </a:moveTo>
                  <a:lnTo>
                    <a:pt x="29210" y="0"/>
                  </a:lnTo>
                  <a:lnTo>
                    <a:pt x="2921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16186458" y="525166"/>
            <a:ext cx="1072842" cy="1209146"/>
          </a:xfrm>
          <a:custGeom>
            <a:avLst/>
            <a:gdLst/>
            <a:ahLst/>
            <a:cxnLst/>
            <a:rect r="r" b="b" t="t" l="l"/>
            <a:pathLst>
              <a:path h="1209146" w="1072842">
                <a:moveTo>
                  <a:pt x="0" y="0"/>
                </a:moveTo>
                <a:lnTo>
                  <a:pt x="1072842" y="0"/>
                </a:lnTo>
                <a:lnTo>
                  <a:pt x="1072842" y="1209146"/>
                </a:lnTo>
                <a:lnTo>
                  <a:pt x="0" y="120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Parcours de Développement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4264640" cy="512064"/>
            <a:chOff x="0" y="0"/>
            <a:chExt cx="1901952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1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7" r="0" b="-4927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01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Du problème de répétition au quartet Jazz — DEVELOPMENT_LOG.md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523744"/>
            <a:ext cx="950976" cy="1243584"/>
            <a:chOff x="0" y="0"/>
            <a:chExt cx="1267968" cy="1658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2523744"/>
            <a:ext cx="950976" cy="1243584"/>
            <a:chOff x="0" y="0"/>
            <a:chExt cx="1267968" cy="16581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67968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1–2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41903" y="2517391"/>
            <a:ext cx="15246601" cy="1256281"/>
            <a:chOff x="0" y="0"/>
            <a:chExt cx="20328801" cy="16750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8762" cy="1675003"/>
            </a:xfrm>
            <a:custGeom>
              <a:avLst/>
              <a:gdLst/>
              <a:ahLst/>
              <a:cxnLst/>
              <a:rect r="r" b="b" t="t" l="l"/>
              <a:pathLst>
                <a:path h="1675003" w="20328762">
                  <a:moveTo>
                    <a:pt x="0" y="0"/>
                  </a:moveTo>
                  <a:lnTo>
                    <a:pt x="20328762" y="0"/>
                  </a:lnTo>
                  <a:lnTo>
                    <a:pt x="20328762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340864" y="2633472"/>
            <a:ext cx="14630400" cy="512064"/>
            <a:chOff x="0" y="0"/>
            <a:chExt cx="1950720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 initiale + Problème de répétition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40864" y="3182112"/>
            <a:ext cx="14630400" cy="512064"/>
            <a:chOff x="0" y="0"/>
            <a:chExt cx="1950720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50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Variables de base (pitch, root, quality, degree). Constat : le solveur stagnait sur le degré I, l'intervalle 0 (répétition) était le moins coûteux.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5840" y="4023360"/>
            <a:ext cx="950976" cy="1243584"/>
            <a:chOff x="0" y="0"/>
            <a:chExt cx="1267968" cy="1658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5840" y="4023360"/>
            <a:ext cx="950976" cy="1243584"/>
            <a:chOff x="0" y="0"/>
            <a:chExt cx="1267968" cy="16581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67968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041903" y="4017007"/>
            <a:ext cx="15246601" cy="1256281"/>
            <a:chOff x="0" y="0"/>
            <a:chExt cx="20328801" cy="16750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0328762" cy="1675003"/>
            </a:xfrm>
            <a:custGeom>
              <a:avLst/>
              <a:gdLst/>
              <a:ahLst/>
              <a:cxnLst/>
              <a:rect r="r" b="b" t="t" l="l"/>
              <a:pathLst>
                <a:path h="1675003" w="20328762">
                  <a:moveTo>
                    <a:pt x="0" y="0"/>
                  </a:moveTo>
                  <a:lnTo>
                    <a:pt x="20328762" y="0"/>
                  </a:lnTo>
                  <a:lnTo>
                    <a:pt x="20328762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2340864" y="4133088"/>
            <a:ext cx="14630400" cy="512064"/>
            <a:chOff x="0" y="0"/>
            <a:chExt cx="1950720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Harmonie tonale &amp; dynamique mélodique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340864" y="4681728"/>
            <a:ext cx="14630400" cy="512064"/>
            <a:chOff x="0" y="0"/>
            <a:chExt cx="195072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50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Lien strict degré -&gt; qualité (II = min7, V = dom7). Pénalité si repetition de notes. Bonus pour mouvements de 1–2 demi-tons.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5840" y="5522976"/>
            <a:ext cx="950976" cy="1243584"/>
            <a:chOff x="0" y="0"/>
            <a:chExt cx="1267968" cy="16581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05840" y="5522976"/>
            <a:ext cx="950976" cy="1243584"/>
            <a:chOff x="0" y="0"/>
            <a:chExt cx="1267968" cy="16581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267968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041903" y="5516623"/>
            <a:ext cx="15246601" cy="1256281"/>
            <a:chOff x="0" y="0"/>
            <a:chExt cx="20328801" cy="16750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328762" cy="1675003"/>
            </a:xfrm>
            <a:custGeom>
              <a:avLst/>
              <a:gdLst/>
              <a:ahLst/>
              <a:cxnLst/>
              <a:rect r="r" b="b" t="t" l="l"/>
              <a:pathLst>
                <a:path h="1675003" w="20328762">
                  <a:moveTo>
                    <a:pt x="0" y="0"/>
                  </a:moveTo>
                  <a:lnTo>
                    <a:pt x="20328762" y="0"/>
                  </a:lnTo>
                  <a:lnTo>
                    <a:pt x="20328762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2340864" y="5632704"/>
            <a:ext cx="14630400" cy="512064"/>
            <a:chOff x="0" y="0"/>
            <a:chExt cx="1950720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Spécialisation des voix &amp; variété rythmique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40864" y="6181344"/>
            <a:ext cx="14630400" cy="512064"/>
            <a:chOff x="0" y="0"/>
            <a:chExt cx="1950720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50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Soprano = mélodie libre. Alto/Ténor = accompagnement. Basse = Walking Bass pour Jazz, aucun silence pour conserver le rythme. Entropie rythmique mesure à mesure.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05840" y="7022592"/>
            <a:ext cx="950976" cy="1243584"/>
            <a:chOff x="0" y="0"/>
            <a:chExt cx="1267968" cy="16581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05840" y="7022592"/>
            <a:ext cx="950976" cy="1243584"/>
            <a:chOff x="0" y="0"/>
            <a:chExt cx="1267968" cy="16581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267968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7–9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041903" y="7016239"/>
            <a:ext cx="15246601" cy="1256281"/>
            <a:chOff x="0" y="0"/>
            <a:chExt cx="20328801" cy="167504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328762" cy="1675003"/>
            </a:xfrm>
            <a:custGeom>
              <a:avLst/>
              <a:gdLst/>
              <a:ahLst/>
              <a:cxnLst/>
              <a:rect r="r" b="b" t="t" l="l"/>
              <a:pathLst>
                <a:path h="1675003" w="20328762">
                  <a:moveTo>
                    <a:pt x="0" y="0"/>
                  </a:moveTo>
                  <a:lnTo>
                    <a:pt x="20328762" y="0"/>
                  </a:lnTo>
                  <a:lnTo>
                    <a:pt x="20328762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2340864" y="7132320"/>
            <a:ext cx="14630400" cy="512064"/>
            <a:chOff x="0" y="0"/>
            <a:chExt cx="1950720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Nettoyage &amp; quartet Jazz qualitatif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340864" y="7680960"/>
            <a:ext cx="14630400" cy="512064"/>
            <a:chOff x="0" y="0"/>
            <a:chExt cx="1950720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950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Suppression des variables duration inutilisées. Shell voicings, export multi-pistes, contraintes de participation.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05840" y="8522208"/>
            <a:ext cx="950976" cy="1243584"/>
            <a:chOff x="0" y="0"/>
            <a:chExt cx="1267968" cy="16581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05840" y="8522208"/>
            <a:ext cx="950976" cy="1243584"/>
            <a:chOff x="0" y="0"/>
            <a:chExt cx="1267968" cy="16581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267968" cy="1658112"/>
            </a:xfrm>
            <a:custGeom>
              <a:avLst/>
              <a:gdLst/>
              <a:ahLst/>
              <a:cxnLst/>
              <a:rect r="r" b="b" t="t" l="l"/>
              <a:pathLst>
                <a:path h="1658112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781" t="0" r="-117781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267968" cy="1705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10–11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041903" y="8515855"/>
            <a:ext cx="15246601" cy="1256281"/>
            <a:chOff x="0" y="0"/>
            <a:chExt cx="20328801" cy="167504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328762" cy="1675003"/>
            </a:xfrm>
            <a:custGeom>
              <a:avLst/>
              <a:gdLst/>
              <a:ahLst/>
              <a:cxnLst/>
              <a:rect r="r" b="b" t="t" l="l"/>
              <a:pathLst>
                <a:path h="1675003" w="20328762">
                  <a:moveTo>
                    <a:pt x="0" y="0"/>
                  </a:moveTo>
                  <a:lnTo>
                    <a:pt x="20328762" y="0"/>
                  </a:lnTo>
                  <a:lnTo>
                    <a:pt x="20328762" y="1675003"/>
                  </a:lnTo>
                  <a:lnTo>
                    <a:pt x="0" y="167500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2340864" y="8631936"/>
            <a:ext cx="14630400" cy="512064"/>
            <a:chOff x="0" y="0"/>
            <a:chExt cx="195072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9507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Styles Baroque &amp; Contemporain + rule_checker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340864" y="9180576"/>
            <a:ext cx="14630400" cy="512064"/>
            <a:chOff x="0" y="0"/>
            <a:chExt cx="1950720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507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95072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baroque.py, contemporary.py. Création de evaluation/rule_checker.py avec 4 métriques. Flag --eval.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16186458" y="512064"/>
            <a:ext cx="1072842" cy="1209146"/>
          </a:xfrm>
          <a:custGeom>
            <a:avLst/>
            <a:gdLst/>
            <a:ahLst/>
            <a:cxnLst/>
            <a:rect r="r" b="b" t="t" l="l"/>
            <a:pathLst>
              <a:path h="1209146" w="1072842">
                <a:moveTo>
                  <a:pt x="0" y="0"/>
                </a:moveTo>
                <a:lnTo>
                  <a:pt x="1072842" y="0"/>
                </a:lnTo>
                <a:lnTo>
                  <a:pt x="1072842" y="1209146"/>
                </a:lnTo>
                <a:lnTo>
                  <a:pt x="0" y="120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Démonstration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1645920"/>
            <a:ext cx="14264640" cy="512064"/>
            <a:chOff x="0" y="0"/>
            <a:chExt cx="19019520" cy="6827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1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797" r="0" b="-4927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01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python main.py --style [baroque|jazz|contemporary] --measures 8 --eval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523744"/>
            <a:ext cx="5449824" cy="1243584"/>
            <a:chOff x="0" y="0"/>
            <a:chExt cx="7266432" cy="1658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66432" cy="1658112"/>
            </a:xfrm>
            <a:custGeom>
              <a:avLst/>
              <a:gdLst/>
              <a:ahLst/>
              <a:cxnLst/>
              <a:rect r="r" b="b" t="t" l="l"/>
              <a:pathLst>
                <a:path h="165811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523744"/>
            <a:ext cx="4937760" cy="1243584"/>
            <a:chOff x="0" y="0"/>
            <a:chExt cx="6583680" cy="16581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58368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Baroque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9487" y="3760975"/>
            <a:ext cx="5462521" cy="6011161"/>
            <a:chOff x="0" y="0"/>
            <a:chExt cx="7283361" cy="80148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83323" cy="8014843"/>
            </a:xfrm>
            <a:custGeom>
              <a:avLst/>
              <a:gdLst/>
              <a:ahLst/>
              <a:cxnLst/>
              <a:rect r="r" b="b" t="t" l="l"/>
              <a:pathLst>
                <a:path h="8014843" w="7283323">
                  <a:moveTo>
                    <a:pt x="0" y="0"/>
                  </a:moveTo>
                  <a:lnTo>
                    <a:pt x="7283323" y="0"/>
                  </a:lnTo>
                  <a:lnTo>
                    <a:pt x="7283323" y="8014843"/>
                  </a:lnTo>
                  <a:lnTo>
                    <a:pt x="0" y="801484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80160" y="4462272"/>
            <a:ext cx="4937760" cy="512064"/>
            <a:chOff x="0" y="0"/>
            <a:chExt cx="658368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Bach-like, contrepoint strict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0160" y="5047488"/>
            <a:ext cx="4937760" cy="21946"/>
            <a:chOff x="0" y="0"/>
            <a:chExt cx="6583680" cy="292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29210"/>
            </a:xfrm>
            <a:custGeom>
              <a:avLst/>
              <a:gdLst/>
              <a:ahLst/>
              <a:cxnLst/>
              <a:rect r="r" b="b" t="t" l="l"/>
              <a:pathLst>
                <a:path h="2921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0160" y="5230368"/>
            <a:ext cx="4937760" cy="731520"/>
            <a:chOff x="0" y="0"/>
            <a:chExt cx="658368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Rythme en 3 temps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0160" y="6071616"/>
            <a:ext cx="4937760" cy="731520"/>
            <a:chOff x="0" y="0"/>
            <a:chExt cx="658368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Clavecin present, style bachéen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0160" y="6912864"/>
            <a:ext cx="4937760" cy="731520"/>
            <a:chOff x="0" y="0"/>
            <a:chExt cx="6583680" cy="975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Mélodie omniprésente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821424" y="2523744"/>
            <a:ext cx="5449824" cy="1243584"/>
            <a:chOff x="0" y="0"/>
            <a:chExt cx="7266432" cy="16581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66432" cy="1658112"/>
            </a:xfrm>
            <a:custGeom>
              <a:avLst/>
              <a:gdLst/>
              <a:ahLst/>
              <a:cxnLst/>
              <a:rect r="r" b="b" t="t" l="l"/>
              <a:pathLst>
                <a:path h="165811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95744" y="2523744"/>
            <a:ext cx="4937760" cy="1243584"/>
            <a:chOff x="0" y="0"/>
            <a:chExt cx="6583680" cy="16581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658368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Jazz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815071" y="3760975"/>
            <a:ext cx="5462521" cy="6011161"/>
            <a:chOff x="0" y="0"/>
            <a:chExt cx="7283361" cy="80148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83323" cy="8014843"/>
            </a:xfrm>
            <a:custGeom>
              <a:avLst/>
              <a:gdLst/>
              <a:ahLst/>
              <a:cxnLst/>
              <a:rect r="r" b="b" t="t" l="l"/>
              <a:pathLst>
                <a:path h="8014843" w="7283323">
                  <a:moveTo>
                    <a:pt x="0" y="0"/>
                  </a:moveTo>
                  <a:lnTo>
                    <a:pt x="7283323" y="0"/>
                  </a:lnTo>
                  <a:lnTo>
                    <a:pt x="7283323" y="8014843"/>
                  </a:lnTo>
                  <a:lnTo>
                    <a:pt x="0" y="801484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095744" y="4462272"/>
            <a:ext cx="4937760" cy="512064"/>
            <a:chOff x="0" y="0"/>
            <a:chExt cx="658368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syncopes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095744" y="5047488"/>
            <a:ext cx="4937760" cy="21946"/>
            <a:chOff x="0" y="0"/>
            <a:chExt cx="6583680" cy="292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3680" cy="29210"/>
            </a:xfrm>
            <a:custGeom>
              <a:avLst/>
              <a:gdLst/>
              <a:ahLst/>
              <a:cxnLst/>
              <a:rect r="r" b="b" t="t" l="l"/>
              <a:pathLst>
                <a:path h="2921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095744" y="5230368"/>
            <a:ext cx="4937760" cy="731520"/>
            <a:chOff x="0" y="0"/>
            <a:chExt cx="658368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Walking Bass (basse, ticks)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095744" y="6071616"/>
            <a:ext cx="4937760" cy="731520"/>
            <a:chOff x="0" y="0"/>
            <a:chExt cx="6583680" cy="975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7ème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095744" y="6912864"/>
            <a:ext cx="4937760" cy="731520"/>
            <a:chOff x="0" y="0"/>
            <a:chExt cx="6583680" cy="975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Soprano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095744" y="7754112"/>
            <a:ext cx="4937760" cy="731520"/>
            <a:chOff x="0" y="0"/>
            <a:chExt cx="6583680" cy="975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Solo saxo s’exprimant par moment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637008" y="2523744"/>
            <a:ext cx="5449824" cy="1243584"/>
            <a:chOff x="0" y="0"/>
            <a:chExt cx="7266432" cy="16581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66432" cy="1658112"/>
            </a:xfrm>
            <a:custGeom>
              <a:avLst/>
              <a:gdLst/>
              <a:ahLst/>
              <a:cxnLst/>
              <a:rect r="r" b="b" t="t" l="l"/>
              <a:pathLst>
                <a:path h="1658112" w="7266432">
                  <a:moveTo>
                    <a:pt x="0" y="0"/>
                  </a:moveTo>
                  <a:lnTo>
                    <a:pt x="7266432" y="0"/>
                  </a:lnTo>
                  <a:lnTo>
                    <a:pt x="726643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911328" y="2523744"/>
            <a:ext cx="4937760" cy="1243584"/>
            <a:chOff x="0" y="0"/>
            <a:chExt cx="6583680" cy="16581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658368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Contemporain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30655" y="3760975"/>
            <a:ext cx="5462521" cy="6011161"/>
            <a:chOff x="0" y="0"/>
            <a:chExt cx="7283361" cy="801488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283323" cy="8014843"/>
            </a:xfrm>
            <a:custGeom>
              <a:avLst/>
              <a:gdLst/>
              <a:ahLst/>
              <a:cxnLst/>
              <a:rect r="r" b="b" t="t" l="l"/>
              <a:pathLst>
                <a:path h="8014843" w="7283323">
                  <a:moveTo>
                    <a:pt x="0" y="0"/>
                  </a:moveTo>
                  <a:lnTo>
                    <a:pt x="7283323" y="0"/>
                  </a:lnTo>
                  <a:lnTo>
                    <a:pt x="7283323" y="8014843"/>
                  </a:lnTo>
                  <a:lnTo>
                    <a:pt x="0" y="8014843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911328" y="4462272"/>
            <a:ext cx="4937760" cy="512064"/>
            <a:chOff x="0" y="0"/>
            <a:chExt cx="658368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83680" cy="682752"/>
            </a:xfrm>
            <a:custGeom>
              <a:avLst/>
              <a:gdLst/>
              <a:ahLst/>
              <a:cxnLst/>
              <a:rect r="r" b="b" t="t" l="l"/>
              <a:pathLst>
                <a:path h="682752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583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Post-tonal, liberté rythmique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911328" y="5047488"/>
            <a:ext cx="4937760" cy="21946"/>
            <a:chOff x="0" y="0"/>
            <a:chExt cx="6583680" cy="2926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83680" cy="29210"/>
            </a:xfrm>
            <a:custGeom>
              <a:avLst/>
              <a:gdLst/>
              <a:ahLst/>
              <a:cxnLst/>
              <a:rect r="r" b="b" t="t" l="l"/>
              <a:pathLst>
                <a:path h="2921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911328" y="5230368"/>
            <a:ext cx="4937760" cy="731520"/>
            <a:chOff x="0" y="0"/>
            <a:chExt cx="6583680" cy="975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Dissonances contrôlées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911328" y="6071616"/>
            <a:ext cx="4937760" cy="731520"/>
            <a:chOff x="0" y="0"/>
            <a:chExt cx="6583680" cy="9753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Grands sauts mélodiques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911328" y="6912864"/>
            <a:ext cx="4937760" cy="731520"/>
            <a:chOff x="0" y="0"/>
            <a:chExt cx="6583680" cy="975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5836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 Tonique évitée en soprano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16209318" y="400198"/>
            <a:ext cx="1072842" cy="1209146"/>
          </a:xfrm>
          <a:custGeom>
            <a:avLst/>
            <a:gdLst/>
            <a:ahLst/>
            <a:cxnLst/>
            <a:rect r="r" b="b" t="t" l="l"/>
            <a:pathLst>
              <a:path h="1209146" w="1072842">
                <a:moveTo>
                  <a:pt x="0" y="0"/>
                </a:moveTo>
                <a:lnTo>
                  <a:pt x="1072842" y="0"/>
                </a:lnTo>
                <a:lnTo>
                  <a:pt x="1072842" y="1209146"/>
                </a:lnTo>
                <a:lnTo>
                  <a:pt x="0" y="120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Évaluation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9487" y="3760975"/>
            <a:ext cx="8187433" cy="2646169"/>
            <a:chOff x="0" y="0"/>
            <a:chExt cx="10916577" cy="35282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16539" cy="3528187"/>
            </a:xfrm>
            <a:custGeom>
              <a:avLst/>
              <a:gdLst/>
              <a:ahLst/>
              <a:cxnLst/>
              <a:rect r="r" b="b" t="t" l="l"/>
              <a:pathLst>
                <a:path h="3528187" w="10916539">
                  <a:moveTo>
                    <a:pt x="0" y="0"/>
                  </a:moveTo>
                  <a:lnTo>
                    <a:pt x="10916539" y="0"/>
                  </a:lnTo>
                  <a:lnTo>
                    <a:pt x="10916539" y="3528187"/>
                  </a:lnTo>
                  <a:lnTo>
                    <a:pt x="0" y="3528187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4023360"/>
            <a:ext cx="7315200" cy="585216"/>
            <a:chOff x="0" y="0"/>
            <a:chExt cx="975360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753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Consonance Rate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600" y="4681728"/>
            <a:ext cx="7315200" cy="21946"/>
            <a:chOff x="0" y="0"/>
            <a:chExt cx="9753600" cy="292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29210"/>
            </a:xfrm>
            <a:custGeom>
              <a:avLst/>
              <a:gdLst/>
              <a:ahLst/>
              <a:cxnLst/>
              <a:rect r="r" b="b" t="t" l="l"/>
              <a:pathLst>
                <a:path h="292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1600" y="4864608"/>
            <a:ext cx="7315200" cy="1389888"/>
            <a:chOff x="0" y="0"/>
            <a:chExt cx="9753600" cy="1853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1853184"/>
            </a:xfrm>
            <a:custGeom>
              <a:avLst/>
              <a:gdLst/>
              <a:ahLst/>
              <a:cxnLst/>
              <a:rect r="r" b="b" t="t" l="l"/>
              <a:pathLst>
                <a:path h="18531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75360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% d'intervalles verticaux consonants entre les voix simultanées. Vérifie l'absence de dissonances non intentionnelles.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31423" y="3760975"/>
            <a:ext cx="8187433" cy="2646169"/>
            <a:chOff x="0" y="0"/>
            <a:chExt cx="10916577" cy="35282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16539" cy="3528187"/>
            </a:xfrm>
            <a:custGeom>
              <a:avLst/>
              <a:gdLst/>
              <a:ahLst/>
              <a:cxnLst/>
              <a:rect r="r" b="b" t="t" l="l"/>
              <a:pathLst>
                <a:path h="3528187" w="10916539">
                  <a:moveTo>
                    <a:pt x="0" y="0"/>
                  </a:moveTo>
                  <a:lnTo>
                    <a:pt x="10916539" y="0"/>
                  </a:lnTo>
                  <a:lnTo>
                    <a:pt x="10916539" y="3528187"/>
                  </a:lnTo>
                  <a:lnTo>
                    <a:pt x="0" y="3528187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003536" y="4023360"/>
            <a:ext cx="7315200" cy="585216"/>
            <a:chOff x="0" y="0"/>
            <a:chExt cx="9753600" cy="7802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753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Leading Tone Resolution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03536" y="4681728"/>
            <a:ext cx="7315200" cy="21946"/>
            <a:chOff x="0" y="0"/>
            <a:chExt cx="9753600" cy="292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29210"/>
            </a:xfrm>
            <a:custGeom>
              <a:avLst/>
              <a:gdLst/>
              <a:ahLst/>
              <a:cxnLst/>
              <a:rect r="r" b="b" t="t" l="l"/>
              <a:pathLst>
                <a:path h="292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03536" y="4864608"/>
            <a:ext cx="7315200" cy="1389888"/>
            <a:chOff x="0" y="0"/>
            <a:chExt cx="9753600" cy="1853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1853184"/>
            </a:xfrm>
            <a:custGeom>
              <a:avLst/>
              <a:gdLst/>
              <a:ahLst/>
              <a:cxnLst/>
              <a:rect r="r" b="b" t="t" l="l"/>
              <a:pathLst>
                <a:path h="18531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75360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% de réussite de la résolution de la sensible (7e degré → tonique). Valide la contrainte dure de résolution.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9487" y="6687055"/>
            <a:ext cx="8187433" cy="2646169"/>
            <a:chOff x="0" y="0"/>
            <a:chExt cx="10916577" cy="35282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16539" cy="3528187"/>
            </a:xfrm>
            <a:custGeom>
              <a:avLst/>
              <a:gdLst/>
              <a:ahLst/>
              <a:cxnLst/>
              <a:rect r="r" b="b" t="t" l="l"/>
              <a:pathLst>
                <a:path h="3528187" w="10916539">
                  <a:moveTo>
                    <a:pt x="0" y="0"/>
                  </a:moveTo>
                  <a:lnTo>
                    <a:pt x="10916539" y="0"/>
                  </a:lnTo>
                  <a:lnTo>
                    <a:pt x="10916539" y="3528187"/>
                  </a:lnTo>
                  <a:lnTo>
                    <a:pt x="0" y="3528187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6949440"/>
            <a:ext cx="7315200" cy="585216"/>
            <a:chOff x="0" y="0"/>
            <a:chExt cx="975360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753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Voice Activity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1600" y="7607808"/>
            <a:ext cx="7315200" cy="21946"/>
            <a:chOff x="0" y="0"/>
            <a:chExt cx="9753600" cy="292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0" cy="29210"/>
            </a:xfrm>
            <a:custGeom>
              <a:avLst/>
              <a:gdLst/>
              <a:ahLst/>
              <a:cxnLst/>
              <a:rect r="r" b="b" t="t" l="l"/>
              <a:pathLst>
                <a:path h="292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71600" y="7790688"/>
            <a:ext cx="7315200" cy="1389888"/>
            <a:chOff x="0" y="0"/>
            <a:chExt cx="9753600" cy="185318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0" cy="1853184"/>
            </a:xfrm>
            <a:custGeom>
              <a:avLst/>
              <a:gdLst/>
              <a:ahLst/>
              <a:cxnLst/>
              <a:rect r="r" b="b" t="t" l="l"/>
              <a:pathLst>
                <a:path h="18531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75360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Taux d'occupation moyen des 4 voix. Garantit que chaque partie joue au moins 60 % de la pièce.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631423" y="6687055"/>
            <a:ext cx="8187433" cy="2646169"/>
            <a:chOff x="0" y="0"/>
            <a:chExt cx="10916577" cy="352822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16539" cy="3528187"/>
            </a:xfrm>
            <a:custGeom>
              <a:avLst/>
              <a:gdLst/>
              <a:ahLst/>
              <a:cxnLst/>
              <a:rect r="r" b="b" t="t" l="l"/>
              <a:pathLst>
                <a:path h="3528187" w="10916539">
                  <a:moveTo>
                    <a:pt x="0" y="0"/>
                  </a:moveTo>
                  <a:lnTo>
                    <a:pt x="10916539" y="0"/>
                  </a:lnTo>
                  <a:lnTo>
                    <a:pt x="10916539" y="3528187"/>
                  </a:lnTo>
                  <a:lnTo>
                    <a:pt x="0" y="3528187"/>
                  </a:lnTo>
                  <a:close/>
                </a:path>
              </a:pathLst>
            </a:custGeom>
            <a:solidFill>
              <a:srgbClr val="F4F4F4"/>
            </a:solidFill>
            <a:ln w="12700" cap="sq">
              <a:solidFill>
                <a:srgbClr val="DDDDD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003536" y="6949440"/>
            <a:ext cx="7315200" cy="585216"/>
            <a:chOff x="0" y="0"/>
            <a:chExt cx="975360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75360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Melodic Diversity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03536" y="7607808"/>
            <a:ext cx="7315200" cy="21946"/>
            <a:chOff x="0" y="0"/>
            <a:chExt cx="9753600" cy="2926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29210"/>
            </a:xfrm>
            <a:custGeom>
              <a:avLst/>
              <a:gdLst/>
              <a:ahLst/>
              <a:cxnLst/>
              <a:rect r="r" b="b" t="t" l="l"/>
              <a:pathLst>
                <a:path h="292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03536" y="7790688"/>
            <a:ext cx="7315200" cy="1389888"/>
            <a:chOff x="0" y="0"/>
            <a:chExt cx="9753600" cy="18531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753600" cy="1853184"/>
            </a:xfrm>
            <a:custGeom>
              <a:avLst/>
              <a:gdLst/>
              <a:ahLst/>
              <a:cxnLst/>
              <a:rect r="r" b="b" t="t" l="l"/>
              <a:pathLst>
                <a:path h="18531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53184"/>
                  </a:lnTo>
                  <a:lnTo>
                    <a:pt x="0" y="1853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753600" cy="1891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Richesse du vocabulaire de notes utilisé en soprano. Mesure l'évitement de la stagnation mélodique.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6186458" y="515641"/>
            <a:ext cx="1072842" cy="1209146"/>
          </a:xfrm>
          <a:custGeom>
            <a:avLst/>
            <a:gdLst/>
            <a:ahLst/>
            <a:cxnLst/>
            <a:rect r="r" b="b" t="t" l="l"/>
            <a:pathLst>
              <a:path h="1209146" w="1072842">
                <a:moveTo>
                  <a:pt x="0" y="0"/>
                </a:moveTo>
                <a:lnTo>
                  <a:pt x="1072842" y="0"/>
                </a:lnTo>
                <a:lnTo>
                  <a:pt x="1072842" y="1209146"/>
                </a:lnTo>
                <a:lnTo>
                  <a:pt x="0" y="1209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9184" cy="10287000"/>
            <a:chOff x="0" y="0"/>
            <a:chExt cx="438912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91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5840" y="512064"/>
            <a:ext cx="14264640" cy="1097280"/>
            <a:chOff x="0" y="0"/>
            <a:chExt cx="190195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19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901952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" y="2267712"/>
            <a:ext cx="16276320" cy="21946"/>
            <a:chOff x="0" y="0"/>
            <a:chExt cx="21701760" cy="292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1761" cy="29210"/>
            </a:xfrm>
            <a:custGeom>
              <a:avLst/>
              <a:gdLst/>
              <a:ahLst/>
              <a:cxnLst/>
              <a:rect r="r" b="b" t="t" l="l"/>
              <a:pathLst>
                <a:path h="2921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05840" y="2523744"/>
            <a:ext cx="9692640" cy="585216"/>
            <a:chOff x="0" y="0"/>
            <a:chExt cx="12923520" cy="780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23520" cy="780288"/>
            </a:xfrm>
            <a:custGeom>
              <a:avLst/>
              <a:gdLst/>
              <a:ahLst/>
              <a:cxnLst/>
              <a:rect r="r" b="b" t="t" l="l"/>
              <a:pathLst>
                <a:path h="78028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720" r="0" b="-27272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9235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que nous avons construit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5840" y="3182112"/>
            <a:ext cx="9692640" cy="21946"/>
            <a:chOff x="0" y="0"/>
            <a:chExt cx="12923520" cy="292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23520" cy="29210"/>
            </a:xfrm>
            <a:custGeom>
              <a:avLst/>
              <a:gdLst/>
              <a:ahLst/>
              <a:cxnLst/>
              <a:rect r="r" b="b" t="t" l="l"/>
              <a:pathLst>
                <a:path h="2921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29210"/>
                  </a:lnTo>
                  <a:lnTo>
                    <a:pt x="0" y="29210"/>
                  </a:lnTo>
                  <a:close/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" y="3401568"/>
            <a:ext cx="9692640" cy="768096"/>
            <a:chOff x="0" y="0"/>
            <a:chExt cx="1292352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23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82" r="0" b="-1958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923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Solveur CP-SAT générant des partitions à 4 voix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4315968"/>
            <a:ext cx="9692640" cy="768096"/>
            <a:chOff x="0" y="0"/>
            <a:chExt cx="1292352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23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82" r="0" b="-1958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923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3 styles distincts : Baroque, Jazz, Contemporain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5840" y="5230368"/>
            <a:ext cx="9692640" cy="768096"/>
            <a:chOff x="0" y="0"/>
            <a:chExt cx="1292352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923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82" r="0" b="-1958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923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Export MIDI multi-pistes standard (.mid)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6144768"/>
            <a:ext cx="9692640" cy="768096"/>
            <a:chOff x="0" y="0"/>
            <a:chExt cx="1292352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23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82" r="0" b="-1958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2923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Module d'évaluation quantitative (4 métriques, flag --eval)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7059168"/>
            <a:ext cx="9692640" cy="768096"/>
            <a:chOff x="0" y="0"/>
            <a:chExt cx="1292352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235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82" r="0" b="-1958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29235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Aucune violation de contrainte dure, garanti mathématiquement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8686800"/>
            <a:ext cx="16276320" cy="1316736"/>
            <a:chOff x="0" y="0"/>
            <a:chExt cx="21701760" cy="17556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017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8814816"/>
            <a:ext cx="15544800" cy="658368"/>
            <a:chOff x="0" y="0"/>
            <a:chExt cx="20726400" cy="8778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726400" cy="877824"/>
            </a:xfrm>
            <a:custGeom>
              <a:avLst/>
              <a:gdLst/>
              <a:ahLst/>
              <a:cxnLst/>
              <a:rect r="r" b="b" t="t" l="l"/>
              <a:pathLst>
                <a:path h="877824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063" r="0" b="-41006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0726400" cy="934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CP-SAT = Expressivité musicale  +  Rigueur théorique  +  Traçabilité complète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71600" y="9400032"/>
            <a:ext cx="15544800" cy="475488"/>
            <a:chOff x="0" y="0"/>
            <a:chExt cx="20726400" cy="633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26400" cy="633984"/>
            </a:xfrm>
            <a:custGeom>
              <a:avLst/>
              <a:gdLst/>
              <a:ahLst/>
              <a:cxnLst/>
              <a:rect r="r" b="b" t="t" l="l"/>
              <a:pathLst>
                <a:path h="633984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010" r="0" b="-58701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07264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i="true">
                  <a:solidFill>
                    <a:srgbClr val="9999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Chaque note générée est justifiable et vérifiable par une règle musicale explicite.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1374755" y="2946883"/>
            <a:ext cx="4353167" cy="5368255"/>
          </a:xfrm>
          <a:custGeom>
            <a:avLst/>
            <a:gdLst/>
            <a:ahLst/>
            <a:cxnLst/>
            <a:rect r="r" b="b" t="t" l="l"/>
            <a:pathLst>
              <a:path h="5368255" w="4353167">
                <a:moveTo>
                  <a:pt x="0" y="0"/>
                </a:moveTo>
                <a:lnTo>
                  <a:pt x="4353167" y="0"/>
                </a:lnTo>
                <a:lnTo>
                  <a:pt x="4353167" y="5368255"/>
                </a:lnTo>
                <a:lnTo>
                  <a:pt x="0" y="53682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DAHKBg_NR8A</dc:identifier>
  <dcterms:modified xsi:type="dcterms:W3CDTF">2011-08-01T06:04:30Z</dcterms:modified>
  <cp:revision>1</cp:revision>
  <dc:title>H1_composition_contraintes-2.pptx</dc:title>
</cp:coreProperties>
</file>