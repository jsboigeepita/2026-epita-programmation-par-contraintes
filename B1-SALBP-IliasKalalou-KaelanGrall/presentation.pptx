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75569"/>
                </a:solidFill>
                <a:latin typeface="Helvetica Neue"/>
              </a:rPr>
              <a:t>B1   ·   CATÉGORIE PRODUCTION &amp; CHAÎNE LOGISTIQUE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>
                <a:solidFill>
                  <a:srgbClr val="0F172A"/>
                </a:solidFill>
                <a:latin typeface="Helvetica Neue"/>
              </a:rPr>
              <a:t>Équilibrage de chaîne d'assemblage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61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1E3A8A"/>
                </a:solidFill>
                <a:latin typeface="Helvetica Neue"/>
              </a:rPr>
              <a:t>Simple Assembly Line Balancing Problem (SALBP)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297680"/>
            <a:ext cx="22860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5720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F172A"/>
                </a:solidFill>
                <a:latin typeface="Helvetica Neue"/>
              </a:rPr>
              <a:t>Ilias Kalalou   ·   Kaelan Grall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20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75569"/>
                </a:solidFill>
                <a:latin typeface="Helvetica Neue"/>
              </a:rPr>
              <a:t>EPITA SCIA — Programmation par Contraintes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2286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9260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475569"/>
                </a:solidFill>
                <a:latin typeface="Helvetica Neue"/>
              </a:rPr>
              <a:t>CONTEXTE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Helvetica Neue"/>
              </a:rPr>
              <a:t>Le problème SALBP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4572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4A3B8"/>
                </a:solidFill>
                <a:latin typeface="Helvetica Neue"/>
              </a:rPr>
              <a:t>2 / 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37960"/>
            <a:ext cx="1124712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4A3B8"/>
                </a:solidFill>
                <a:latin typeface="Helvetica Neue"/>
              </a:rPr>
              <a:t>B1 — SALBP   ·   I. Kalalou &amp; K. Grall   ·   EPITA SCIA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E3A8A"/>
                </a:solidFill>
                <a:latin typeface="Helvetica Neue"/>
              </a:rPr>
              <a:t>CONTEXTE INDUSTRIEL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566928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0F172A"/>
                </a:solidFill>
                <a:latin typeface="Helvetica Neue"/>
              </a:rPr>
              <a:t>Une chaîne d'assemblage est composée de stations de travail traversées par un produit à cadence fixe.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0F172A"/>
                </a:solidFill>
                <a:latin typeface="Helvetica Neue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0F172A"/>
                </a:solidFill>
                <a:latin typeface="Helvetica Neue"/>
              </a:rPr>
              <a:t>Chaque station exécute un sous-ensemble de tâches élémentaires avec des durées connues.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0F172A"/>
                </a:solidFill>
                <a:latin typeface="Helvetica Neue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0F172A"/>
                </a:solidFill>
                <a:latin typeface="Helvetica Neue"/>
              </a:rPr>
              <a:t>Un graphe de précédence (DAG) impose un ordre partiel sur les tâches.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0F172A"/>
                </a:solidFill>
                <a:latin typeface="Helvetica Neue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0F172A"/>
                </a:solidFill>
                <a:latin typeface="Helvetica Neue"/>
              </a:rPr>
              <a:t>Applications : automobile, électronique, agroalimentaire, aéronautique.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5544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E3A8A"/>
                </a:solidFill>
                <a:latin typeface="Helvetica Neue"/>
              </a:rPr>
              <a:t>FORMALISATION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1920240"/>
            <a:ext cx="5120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0F172A"/>
                </a:solidFill>
                <a:latin typeface="Helvetica Neue"/>
              </a:rPr>
              <a:t>n tâches  {1, …, n}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0F172A"/>
                </a:solidFill>
                <a:latin typeface="Helvetica Neue"/>
              </a:rPr>
              <a:t>Durée tᵢ ≥ 0  pour chaque tâche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0F172A"/>
                </a:solidFill>
                <a:latin typeface="Helvetica Neue"/>
              </a:rPr>
              <a:t>Précédences : graphe orienté acyclique G = (T, E)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0F172A"/>
                </a:solidFill>
                <a:latin typeface="Helvetica Neue"/>
              </a:rPr>
              <a:t>Une tâche est assignée à une station k ∈ {1, …, m}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E3A8A"/>
                </a:solidFill>
                <a:latin typeface="Helvetica Neue"/>
              </a:rPr>
              <a:t>DEUX VARIANTES (NP-DIFFICILES)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937760"/>
            <a:ext cx="5486400" cy="1371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0749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3A8A"/>
                </a:solidFill>
                <a:latin typeface="Helvetica Neue"/>
              </a:rPr>
              <a:t>SALBP-1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4406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Helvetica Neue"/>
              </a:rPr>
              <a:t>Cycle time C fixé  →  minimiser le nombre de stations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8064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75569"/>
                </a:solidFill>
                <a:latin typeface="Menlo"/>
              </a:rPr>
              <a:t>Borne inférieure : LB = ⌈Σ tᵢ / C⌉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4937760"/>
            <a:ext cx="5486400" cy="1371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50749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3A8A"/>
                </a:solidFill>
                <a:latin typeface="Helvetica Neue"/>
              </a:rPr>
              <a:t>SALBP-2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54406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Helvetica Neue"/>
              </a:rPr>
              <a:t>Nombre de stations m fixé  →  minimiser le cycle time 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58064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75569"/>
                </a:solidFill>
                <a:latin typeface="Menlo"/>
              </a:rPr>
              <a:t>Borne inférieure : LB = ⌈Σ tᵢ / m⌉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2286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9260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475569"/>
                </a:solidFill>
                <a:latin typeface="Helvetica Neue"/>
              </a:rPr>
              <a:t>FORMALISATION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Helvetica Neue"/>
              </a:rPr>
              <a:t>Modélisation par contraintes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4572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4A3B8"/>
                </a:solidFill>
                <a:latin typeface="Helvetica Neue"/>
              </a:rPr>
              <a:t>3 / 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37960"/>
            <a:ext cx="1124712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4A3B8"/>
                </a:solidFill>
                <a:latin typeface="Helvetica Neue"/>
              </a:rPr>
              <a:t>B1 — SALBP   ·   I. Kalalou &amp; K. Grall   ·   EPITA SCIA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E3A8A"/>
                </a:solidFill>
                <a:latin typeface="Helvetica Neue"/>
              </a:rPr>
              <a:t>VARIABLE DE DÉCISION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F172A"/>
                </a:solidFill>
                <a:latin typeface="Menlo"/>
              </a:rPr>
              <a:t>xᵢₖ ∈ {0, 1}     —     vaut 1 si la tâche i est affectée à la station 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743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E3A8A"/>
                </a:solidFill>
                <a:latin typeface="Helvetica Neue"/>
              </a:rPr>
              <a:t>CONTRAINTES DU MODÈLE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08960"/>
            <a:ext cx="54864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3337560"/>
            <a:ext cx="457200" cy="457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36499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Helvetica Neue"/>
              </a:rPr>
              <a:t>C1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3375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172A"/>
                </a:solidFill>
                <a:latin typeface="Helvetica Neue"/>
              </a:rPr>
              <a:t>Affectation unique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7490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E3A8A"/>
                </a:solidFill>
                <a:latin typeface="Menlo"/>
              </a:rPr>
              <a:t>Σₖ xᵢₖ = 1     ∀i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16052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75569"/>
                </a:solidFill>
                <a:latin typeface="Helvetica Neue"/>
              </a:rPr>
              <a:t>Chaque tâche est affectée à exactement une station.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3108960"/>
            <a:ext cx="54864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92240" y="3337560"/>
            <a:ext cx="457200" cy="457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336499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Helvetica Neue"/>
              </a:rPr>
              <a:t>C2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33375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172A"/>
                </a:solidFill>
                <a:latin typeface="Helvetica Neue"/>
              </a:rPr>
              <a:t>Capacité de cycle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37490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E3A8A"/>
                </a:solidFill>
                <a:latin typeface="Menlo"/>
              </a:rPr>
              <a:t>Σᵢ tᵢ · xᵢₖ  ≤  C     ∀k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416052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75569"/>
                </a:solidFill>
                <a:latin typeface="Helvetica Neue"/>
              </a:rPr>
              <a:t>La charge cumulée d'une station ne dépasse pas C.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754880"/>
            <a:ext cx="54864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4983480"/>
            <a:ext cx="457200" cy="457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501091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Helvetica Neue"/>
              </a:rPr>
              <a:t>C3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4983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172A"/>
                </a:solidFill>
                <a:latin typeface="Helvetica Neue"/>
              </a:rPr>
              <a:t>Précédences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3949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E3A8A"/>
                </a:solidFill>
                <a:latin typeface="Menlo"/>
              </a:rPr>
              <a:t>station(i) ≤ station(j)   ∀ (i, j) ∈ 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80644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75569"/>
                </a:solidFill>
                <a:latin typeface="Helvetica Neue"/>
              </a:rPr>
              <a:t>Si i précède j alors i est placée avant ou avec j.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0" y="4754880"/>
            <a:ext cx="54864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92240" y="4983480"/>
            <a:ext cx="457200" cy="457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501091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Helvetica Neue"/>
              </a:rPr>
              <a:t>C4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0" y="4983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172A"/>
                </a:solidFill>
                <a:latin typeface="Helvetica Neue"/>
              </a:rPr>
              <a:t>Bris de symétrie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53949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E3A8A"/>
                </a:solidFill>
                <a:latin typeface="Menlo"/>
              </a:rPr>
              <a:t>yₖ ≥ yₖ₊₁     ∀k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0" y="580644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75569"/>
                </a:solidFill>
                <a:latin typeface="Helvetica Neue"/>
              </a:rPr>
              <a:t>Élimine les permutations équivalentes de stations.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2286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9260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475569"/>
                </a:solidFill>
                <a:latin typeface="Helvetica Neue"/>
              </a:rPr>
              <a:t>MÉTHODES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Helvetica Neue"/>
              </a:rPr>
              <a:t>Trois approches de résolution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4572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4A3B8"/>
                </a:solidFill>
                <a:latin typeface="Helvetica Neue"/>
              </a:rPr>
              <a:t>4 / 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37960"/>
            <a:ext cx="1124712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4A3B8"/>
                </a:solidFill>
                <a:latin typeface="Helvetica Neue"/>
              </a:rPr>
              <a:t>B1 — SALBP   ·   I. Kalalou &amp; K. Grall   ·   EPITA SCIA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75569"/>
                </a:solidFill>
                <a:latin typeface="Helvetica Neue"/>
              </a:rPr>
              <a:t>Même problème, trois moteurs différents — pour comparer qualité, vitesse et garanties.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86000"/>
            <a:ext cx="36576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286000"/>
            <a:ext cx="3657600" cy="73152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5603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475569"/>
                </a:solidFill>
                <a:latin typeface="Helvetica Neue"/>
              </a:rPr>
              <a:t>EXACT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F172A"/>
                </a:solidFill>
                <a:latin typeface="Helvetica Neue"/>
              </a:rPr>
              <a:t>CP-SAT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375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1E3A8A"/>
                </a:solidFill>
                <a:latin typeface="Helvetica Neue"/>
              </a:rPr>
              <a:t>Google OR-Tools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8404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72A"/>
                </a:solidFill>
                <a:latin typeface="Helvetica Neue"/>
              </a:rPr>
              <a:t>·  Propagation + CDCL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2519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72A"/>
                </a:solidFill>
                <a:latin typeface="Helvetica Neue"/>
              </a:rPr>
              <a:t>·  Restarts adaptatifs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6634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72A"/>
                </a:solidFill>
                <a:latin typeface="Helvetica Neue"/>
              </a:rPr>
              <a:t>·  SALBP-1 et SALBP-2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0749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72A"/>
                </a:solidFill>
                <a:latin typeface="Helvetica Neue"/>
              </a:rPr>
              <a:t>·  Bris de symétrie C4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669280"/>
            <a:ext cx="32004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57607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E3A8A"/>
                </a:solidFill>
                <a:latin typeface="Helvetica Neue"/>
              </a:rPr>
              <a:t>Solveur principal du projet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60" y="2286000"/>
            <a:ext cx="36576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51960" y="2286000"/>
            <a:ext cx="3657600" cy="73152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25603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475569"/>
                </a:solidFill>
                <a:latin typeface="Helvetica Neue"/>
              </a:rPr>
              <a:t>EXACT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F172A"/>
                </a:solidFill>
                <a:latin typeface="Helvetica Neue"/>
              </a:rPr>
              <a:t>PLNE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33375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1E3A8A"/>
                </a:solidFill>
                <a:latin typeface="Helvetica Neue"/>
              </a:rPr>
              <a:t>PuLP + CBC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38404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72A"/>
                </a:solidFill>
                <a:latin typeface="Helvetica Neue"/>
              </a:rPr>
              <a:t>·  Branch &amp; Bound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6280" y="42519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72A"/>
                </a:solidFill>
                <a:latin typeface="Helvetica Neue"/>
              </a:rPr>
              <a:t>·  Relaxation LP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46634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72A"/>
                </a:solidFill>
                <a:latin typeface="Helvetica Neue"/>
              </a:rPr>
              <a:t>·  Mêmes contraintes C1–C4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26280" y="50749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72A"/>
                </a:solidFill>
                <a:latin typeface="Helvetica Neue"/>
              </a:rPr>
              <a:t>·  SALBP-1 uniquement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26280" y="5669280"/>
            <a:ext cx="32004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26280" y="57607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E3A8A"/>
                </a:solidFill>
                <a:latin typeface="Helvetica Neue"/>
              </a:rPr>
              <a:t>Comparaison de moteurs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6720" y="2286000"/>
            <a:ext cx="36576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6720" y="2286000"/>
            <a:ext cx="3657600" cy="73152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21040" y="25603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475569"/>
                </a:solidFill>
                <a:latin typeface="Helvetica Neue"/>
              </a:rPr>
              <a:t>HEURISTIQUE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F172A"/>
                </a:solidFill>
                <a:latin typeface="Helvetica Neue"/>
              </a:rPr>
              <a:t>RPW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33375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1E3A8A"/>
                </a:solidFill>
                <a:latin typeface="Helvetica Neue"/>
              </a:rPr>
              <a:t>Helgeson &amp; Birnie 1961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38404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72A"/>
                </a:solidFill>
                <a:latin typeface="Helvetica Neue"/>
              </a:rPr>
              <a:t>·  Tri par poids positionnel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42519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72A"/>
                </a:solidFill>
                <a:latin typeface="Helvetica Neue"/>
              </a:rPr>
              <a:t>·  Glouton, environ O(n²)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46634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72A"/>
                </a:solidFill>
                <a:latin typeface="Helvetica Neue"/>
              </a:rPr>
              <a:t>·  Solution en &lt; 1 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50749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72A"/>
                </a:solidFill>
                <a:latin typeface="Helvetica Neue"/>
              </a:rPr>
              <a:t>·  Gap variable selon l'instance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21040" y="5669280"/>
            <a:ext cx="32004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21040" y="57607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E3A8A"/>
                </a:solidFill>
                <a:latin typeface="Helvetica Neue"/>
              </a:rPr>
              <a:t>Baseline ultra-rapide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2286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9260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475569"/>
                </a:solidFill>
                <a:latin typeface="Helvetica Neue"/>
              </a:rPr>
              <a:t>IMPLÉMENTATION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Helvetica Neue"/>
              </a:rPr>
              <a:t>Architecture et qualité du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4572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4A3B8"/>
                </a:solidFill>
                <a:latin typeface="Helvetica Neue"/>
              </a:rPr>
              <a:t>5 / 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37960"/>
            <a:ext cx="1124712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4A3B8"/>
                </a:solidFill>
                <a:latin typeface="Helvetica Neue"/>
              </a:rPr>
              <a:t>B1 — SALBP   ·   I. Kalalou &amp; K. Grall   ·   EPITA SCIA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E3A8A"/>
                </a:solidFill>
                <a:latin typeface="Helvetica Neue"/>
              </a:rPr>
              <a:t>STRUCTURE MODULAIRE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59436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0F172A"/>
                </a:solidFill>
                <a:latin typeface="Menlo"/>
              </a:rPr>
              <a:t>B1-SALBP-IliasKalalou-KaelanGrall/</a:t>
            </a:r>
          </a:p>
          <a:p>
            <a:pPr algn="l">
              <a:lnSpc>
                <a:spcPct val="115000"/>
              </a:lnSpc>
            </a:pPr>
            <a:r>
              <a:rPr sz="1000" b="0">
                <a:solidFill>
                  <a:srgbClr val="0F172A"/>
                </a:solidFill>
                <a:latin typeface="Menlo"/>
              </a:rPr>
              <a:t>├── app.py                  Application Streamlit (5 modes)</a:t>
            </a:r>
          </a:p>
          <a:p>
            <a:pPr algn="l">
              <a:lnSpc>
                <a:spcPct val="115000"/>
              </a:lnSpc>
            </a:pPr>
            <a:r>
              <a:rPr sz="1000" b="0">
                <a:solidFill>
                  <a:srgbClr val="0F172A"/>
                </a:solidFill>
                <a:latin typeface="Menlo"/>
              </a:rPr>
              <a:t>├── benchmark.py            Module de benchmark batch</a:t>
            </a:r>
          </a:p>
          <a:p>
            <a:pPr algn="l">
              <a:lnSpc>
                <a:spcPct val="115000"/>
              </a:lnSpc>
            </a:pPr>
            <a:r>
              <a:rPr sz="1000" b="0">
                <a:solidFill>
                  <a:srgbClr val="0F172A"/>
                </a:solidFill>
                <a:latin typeface="Menlo"/>
              </a:rPr>
              <a:t>├── instances/              Données et chargement</a:t>
            </a:r>
          </a:p>
          <a:p>
            <a:pPr algn="l">
              <a:lnSpc>
                <a:spcPct val="115000"/>
              </a:lnSpc>
            </a:pPr>
            <a:r>
              <a:rPr sz="1000" b="0">
                <a:solidFill>
                  <a:srgbClr val="0F172A"/>
                </a:solidFill>
                <a:latin typeface="Menlo"/>
              </a:rPr>
              <a:t>│   ├── toy.py              Instance jouet</a:t>
            </a:r>
          </a:p>
          <a:p>
            <a:pPr algn="l">
              <a:lnSpc>
                <a:spcPct val="115000"/>
              </a:lnSpc>
            </a:pPr>
            <a:r>
              <a:rPr sz="1000" b="0">
                <a:solidFill>
                  <a:srgbClr val="0F172A"/>
                </a:solidFill>
                <a:latin typeface="Menlo"/>
              </a:rPr>
              <a:t>│   ├── library.py          7 instances classiques</a:t>
            </a:r>
          </a:p>
          <a:p>
            <a:pPr algn="l">
              <a:lnSpc>
                <a:spcPct val="115000"/>
              </a:lnSpc>
            </a:pPr>
            <a:r>
              <a:rPr sz="1000" b="0">
                <a:solidFill>
                  <a:srgbClr val="0F172A"/>
                </a:solidFill>
                <a:latin typeface="Menlo"/>
              </a:rPr>
              <a:t>│   ├── scholl.py           25 instances Scholl 1993</a:t>
            </a:r>
          </a:p>
          <a:p>
            <a:pPr algn="l">
              <a:lnSpc>
                <a:spcPct val="115000"/>
              </a:lnSpc>
            </a:pPr>
            <a:r>
              <a:rPr sz="1000" b="0">
                <a:solidFill>
                  <a:srgbClr val="0F172A"/>
                </a:solidFill>
                <a:latin typeface="Menlo"/>
              </a:rPr>
              <a:t>│   ├── otto.py             Parser .alb (Otto 2013)</a:t>
            </a:r>
          </a:p>
          <a:p>
            <a:pPr algn="l">
              <a:lnSpc>
                <a:spcPct val="115000"/>
              </a:lnSpc>
            </a:pPr>
            <a:r>
              <a:rPr sz="1000" b="0">
                <a:solidFill>
                  <a:srgbClr val="0F172A"/>
                </a:solidFill>
                <a:latin typeface="Menlo"/>
              </a:rPr>
              <a:t>│   ├── multimodel.py       Dataclass MMALBP</a:t>
            </a:r>
          </a:p>
          <a:p>
            <a:pPr algn="l">
              <a:lnSpc>
                <a:spcPct val="115000"/>
              </a:lnSpc>
            </a:pPr>
            <a:r>
              <a:rPr sz="1000" b="0">
                <a:solidFill>
                  <a:srgbClr val="0F172A"/>
                </a:solidFill>
                <a:latin typeface="Menlo"/>
              </a:rPr>
              <a:t>│   ├── validators.py       Validation des entrées</a:t>
            </a:r>
          </a:p>
          <a:p>
            <a:pPr algn="l">
              <a:lnSpc>
                <a:spcPct val="115000"/>
              </a:lnSpc>
            </a:pPr>
            <a:r>
              <a:rPr sz="1000" b="0">
                <a:solidFill>
                  <a:srgbClr val="0F172A"/>
                </a:solidFill>
                <a:latin typeface="Menlo"/>
              </a:rPr>
              <a:t>│   └── otto_data/          25 fichiers .IN2</a:t>
            </a:r>
          </a:p>
          <a:p>
            <a:pPr algn="l">
              <a:lnSpc>
                <a:spcPct val="115000"/>
              </a:lnSpc>
            </a:pPr>
            <a:r>
              <a:rPr sz="1000" b="0">
                <a:solidFill>
                  <a:srgbClr val="0F172A"/>
                </a:solidFill>
                <a:latin typeface="Menlo"/>
              </a:rPr>
              <a:t>├── solvers/                Approches exactes et heuristique</a:t>
            </a:r>
          </a:p>
          <a:p>
            <a:pPr algn="l">
              <a:lnSpc>
                <a:spcPct val="115000"/>
              </a:lnSpc>
            </a:pPr>
            <a:r>
              <a:rPr sz="1000" b="0">
                <a:solidFill>
                  <a:srgbClr val="0F172A"/>
                </a:solidFill>
                <a:latin typeface="Menlo"/>
              </a:rPr>
              <a:t>│   ├── cpsat.py            CP-SAT  (SALBP-1, SALBP-2)</a:t>
            </a:r>
          </a:p>
          <a:p>
            <a:pPr algn="l">
              <a:lnSpc>
                <a:spcPct val="115000"/>
              </a:lnSpc>
            </a:pPr>
            <a:r>
              <a:rPr sz="1000" b="0">
                <a:solidFill>
                  <a:srgbClr val="0F172A"/>
                </a:solidFill>
                <a:latin typeface="Menlo"/>
              </a:rPr>
              <a:t>│   ├── plne.py             PLNE  (PuLP / CBC)</a:t>
            </a:r>
          </a:p>
          <a:p>
            <a:pPr algn="l">
              <a:lnSpc>
                <a:spcPct val="115000"/>
              </a:lnSpc>
            </a:pPr>
            <a:r>
              <a:rPr sz="1000" b="0">
                <a:solidFill>
                  <a:srgbClr val="0F172A"/>
                </a:solidFill>
                <a:latin typeface="Menlo"/>
              </a:rPr>
              <a:t>│   ├── rpw.py              Heuristique RPW</a:t>
            </a:r>
          </a:p>
          <a:p>
            <a:pPr algn="l">
              <a:lnSpc>
                <a:spcPct val="115000"/>
              </a:lnSpc>
            </a:pPr>
            <a:r>
              <a:rPr sz="1000" b="0">
                <a:solidFill>
                  <a:srgbClr val="0F172A"/>
                </a:solidFill>
                <a:latin typeface="Menlo"/>
              </a:rPr>
              <a:t>│   ├── multimodel.py       CP-SAT MMALBP</a:t>
            </a:r>
          </a:p>
          <a:p>
            <a:pPr algn="l">
              <a:lnSpc>
                <a:spcPct val="115000"/>
              </a:lnSpc>
            </a:pPr>
            <a:r>
              <a:rPr sz="1000" b="0">
                <a:solidFill>
                  <a:srgbClr val="0F172A"/>
                </a:solidFill>
                <a:latin typeface="Menlo"/>
              </a:rPr>
              <a:t>│   └── biobjective.py      Front de Pareto + somme pondérée</a:t>
            </a:r>
          </a:p>
          <a:p>
            <a:pPr algn="l">
              <a:lnSpc>
                <a:spcPct val="115000"/>
              </a:lnSpc>
            </a:pPr>
            <a:r>
              <a:rPr sz="1000" b="0">
                <a:solidFill>
                  <a:srgbClr val="0F172A"/>
                </a:solidFill>
                <a:latin typeface="Menlo"/>
              </a:rPr>
              <a:t>├── visualisation/          Diagrammes Gantt, charges, Pareto</a:t>
            </a:r>
          </a:p>
          <a:p>
            <a:pPr algn="l">
              <a:lnSpc>
                <a:spcPct val="115000"/>
              </a:lnSpc>
            </a:pPr>
            <a:r>
              <a:rPr sz="1000" b="0">
                <a:solidFill>
                  <a:srgbClr val="0F172A"/>
                </a:solidFill>
                <a:latin typeface="Menlo"/>
              </a:rPr>
              <a:t>└── tests/                  57 tests unitaires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5544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E3A8A"/>
                </a:solidFill>
                <a:latin typeface="Helvetica Neue"/>
              </a:rPr>
              <a:t>INDICATEURS DE QUALITÉ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1920240"/>
            <a:ext cx="493776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0" y="2057400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E3A8A"/>
                </a:solidFill>
                <a:latin typeface="Helvetica Neue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1488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172A"/>
                </a:solidFill>
                <a:latin typeface="Helvetica Neue"/>
              </a:rPr>
              <a:t>solveurs implémentés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5146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475569"/>
                </a:solidFill>
                <a:latin typeface="Helvetica Neue"/>
              </a:rPr>
              <a:t>CP-SAT, PLNE, RPW, MMALBP, Pareto, pondéré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66560" y="3017520"/>
            <a:ext cx="493776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0" y="3154680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E3A8A"/>
                </a:solidFill>
                <a:latin typeface="Helvetica Neue"/>
              </a:rPr>
              <a:t>57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2461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172A"/>
                </a:solidFill>
                <a:latin typeface="Helvetica Neue"/>
              </a:rPr>
              <a:t>tests unitaires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6118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475569"/>
                </a:solidFill>
                <a:latin typeface="Helvetica Neue"/>
              </a:rPr>
              <a:t>Tous passent (pytest)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66560" y="4114800"/>
            <a:ext cx="493776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49440" y="4251960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E3A8A"/>
                </a:solidFill>
                <a:latin typeface="Helvetica Neue"/>
              </a:rPr>
              <a:t>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43434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172A"/>
                </a:solidFill>
                <a:latin typeface="Helvetica Neue"/>
              </a:rPr>
              <a:t>instances Scholl 1993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470916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475569"/>
                </a:solidFill>
                <a:latin typeface="Helvetica Neue"/>
              </a:rPr>
              <a:t>111 optima de littérature documentés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66560" y="5212080"/>
            <a:ext cx="493776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0" y="5349240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E3A8A"/>
                </a:solidFill>
                <a:latin typeface="Helvetica Neue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54406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172A"/>
                </a:solidFill>
                <a:latin typeface="Helvetica Neue"/>
              </a:rPr>
              <a:t>modes Streamlit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580644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475569"/>
                </a:solidFill>
                <a:latin typeface="Helvetica Neue"/>
              </a:rPr>
              <a:t>Solveur, comparaison, benchmark, MMALBP, Pareto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2286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9260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475569"/>
                </a:solidFill>
                <a:latin typeface="Helvetica Neue"/>
              </a:rPr>
              <a:t>BENCHMARK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Helvetica Neue"/>
              </a:rPr>
              <a:t>Démarche expérimentale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4572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4A3B8"/>
                </a:solidFill>
                <a:latin typeface="Helvetica Neue"/>
              </a:rPr>
              <a:t>6 / 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37960"/>
            <a:ext cx="1124712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4A3B8"/>
                </a:solidFill>
                <a:latin typeface="Helvetica Neue"/>
              </a:rPr>
              <a:t>B1 — SALBP   ·   I. Kalalou &amp; K. Grall   ·   EPITA SCIA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75569"/>
                </a:solidFill>
                <a:latin typeface="Helvetica Neue"/>
              </a:rPr>
              <a:t>Évaluation sur 25 instances de référence Scholl 1993 — assembly-line-balancing.de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77440"/>
            <a:ext cx="2697480" cy="11887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514600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1E3A8A"/>
                </a:solidFill>
                <a:latin typeface="Helvetica Neue"/>
              </a:rPr>
              <a:t>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06324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475569"/>
                </a:solidFill>
                <a:latin typeface="Helvetica Neue"/>
              </a:rPr>
              <a:t>instances</a:t>
            </a:r>
          </a:p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475569"/>
                </a:solidFill>
                <a:latin typeface="Helvetica Neue"/>
              </a:rPr>
              <a:t>embarquées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2377440"/>
            <a:ext cx="2697480" cy="11887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1840" y="2514600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1E3A8A"/>
                </a:solidFill>
                <a:latin typeface="Helvetica Neue"/>
              </a:rPr>
              <a:t>7 à 297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306324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475569"/>
                </a:solidFill>
                <a:latin typeface="Helvetica Neue"/>
              </a:rPr>
              <a:t>tâches par</a:t>
            </a:r>
          </a:p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475569"/>
                </a:solidFill>
                <a:latin typeface="Helvetica Neue"/>
              </a:rPr>
              <a:t>instance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2377440"/>
            <a:ext cx="2697480" cy="11887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0" y="2514600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1E3A8A"/>
                </a:solidFill>
                <a:latin typeface="Helvetica Neue"/>
              </a:rPr>
              <a:t>111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306324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475569"/>
                </a:solidFill>
                <a:latin typeface="Helvetica Neue"/>
              </a:rPr>
              <a:t>cycles avec</a:t>
            </a:r>
          </a:p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475569"/>
                </a:solidFill>
                <a:latin typeface="Helvetica Neue"/>
              </a:rPr>
              <a:t>optimum connu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61120" y="2377440"/>
            <a:ext cx="2697480" cy="11887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0" y="2514600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1E3A8A"/>
                </a:solidFill>
                <a:latin typeface="Helvetica Neue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06324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475569"/>
                </a:solidFill>
                <a:latin typeface="Helvetica Neue"/>
              </a:rPr>
              <a:t>solveurs</a:t>
            </a:r>
          </a:p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475569"/>
                </a:solidFill>
                <a:latin typeface="Helvetica Neue"/>
              </a:rPr>
              <a:t>comparés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0233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E3A8A"/>
                </a:solidFill>
                <a:latin typeface="Helvetica Neue"/>
              </a:rPr>
              <a:t>PROTOCOLE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389120"/>
            <a:ext cx="10972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0F172A"/>
                </a:solidFill>
                <a:latin typeface="Helvetica Neue"/>
              </a:rPr>
              <a:t>Pour chaque instance : on charge le cycle de référence de la littérature et son optimum prouvé.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0F172A"/>
                </a:solidFill>
                <a:latin typeface="Helvetica Neue"/>
              </a:rPr>
              <a:t>Chaque solveur est exécuté avec un budget temps de 20 secondes maximum.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0F172A"/>
                </a:solidFill>
                <a:latin typeface="Helvetica Neue"/>
              </a:rPr>
              <a:t>On mesure : nombre de stations trouvées, temps d'exécution, écart relatif à l'optimum (gap).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0F172A"/>
                </a:solidFill>
                <a:latin typeface="Helvetica Neue"/>
              </a:rPr>
              <a:t>Résultats exportables au format CSV via l'application Streamlit.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2286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9260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475569"/>
                </a:solidFill>
                <a:latin typeface="Helvetica Neue"/>
              </a:rPr>
              <a:t>RÉSULTATS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Helvetica Neue"/>
              </a:rPr>
              <a:t>Résultats sur 8 instances de référence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4572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4A3B8"/>
                </a:solidFill>
                <a:latin typeface="Helvetica Neue"/>
              </a:rPr>
              <a:t>7 / 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37960"/>
            <a:ext cx="1124712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4A3B8"/>
                </a:solidFill>
                <a:latin typeface="Helvetica Neue"/>
              </a:rPr>
              <a:t>B1 — SALBP   ·   I. Kalalou &amp; K. Grall   ·   EPITA SCIA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1463040" cy="41148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627632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Helvetica Neue"/>
              </a:rPr>
              <a:t>Instance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20240" y="1554480"/>
            <a:ext cx="548640" cy="41148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20240" y="1627632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Helvetica Neue"/>
              </a:rPr>
              <a:t>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68880" y="1554480"/>
            <a:ext cx="777240" cy="41148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8880" y="1627632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Helvetica Neue"/>
              </a:rPr>
              <a:t>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46120" y="1554480"/>
            <a:ext cx="640080" cy="41148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46120" y="1627632"/>
            <a:ext cx="640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Helvetica Neue"/>
              </a:rPr>
              <a:t>Opt.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86200" y="1554480"/>
            <a:ext cx="868680" cy="41148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86200" y="1627632"/>
            <a:ext cx="868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Helvetica Neue"/>
              </a:rPr>
              <a:t>CP-SAT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4880" y="1554480"/>
            <a:ext cx="868680" cy="41148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0" y="1627632"/>
            <a:ext cx="868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Helvetica Neue"/>
              </a:rPr>
              <a:t>tCPS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23560" y="1554480"/>
            <a:ext cx="777240" cy="41148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23560" y="1627632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Helvetica Neue"/>
              </a:rPr>
              <a:t>PLNE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1554480"/>
            <a:ext cx="1005840" cy="41148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1627632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Helvetica Neue"/>
              </a:rPr>
              <a:t>tPLNE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06640" y="1554480"/>
            <a:ext cx="777240" cy="41148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6640" y="1627632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Helvetica Neue"/>
              </a:rPr>
              <a:t>RPW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83880" y="1554480"/>
            <a:ext cx="868680" cy="41148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83880" y="1627632"/>
            <a:ext cx="868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Helvetica Neue"/>
              </a:rPr>
              <a:t>tRPW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1965960"/>
            <a:ext cx="1463040" cy="384048"/>
          </a:xfrm>
          <a:prstGeom prst="rect">
            <a:avLst/>
          </a:prstGeom>
          <a:noFill/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0352" y="2039112"/>
            <a:ext cx="13167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Helvetica Neue"/>
              </a:rPr>
              <a:t>MERTENS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920240" y="1965960"/>
            <a:ext cx="548640" cy="384048"/>
          </a:xfrm>
          <a:prstGeom prst="rect">
            <a:avLst/>
          </a:prstGeom>
          <a:noFill/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993392" y="2039112"/>
            <a:ext cx="4023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Menlo"/>
              </a:rPr>
              <a:t>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468880" y="1965960"/>
            <a:ext cx="777240" cy="384048"/>
          </a:xfrm>
          <a:prstGeom prst="rect">
            <a:avLst/>
          </a:prstGeom>
          <a:noFill/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542032" y="2039112"/>
            <a:ext cx="6309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Menlo"/>
              </a:rPr>
              <a:t>10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46120" y="1965960"/>
            <a:ext cx="640080" cy="384048"/>
          </a:xfrm>
          <a:prstGeom prst="rect">
            <a:avLst/>
          </a:prstGeom>
          <a:noFill/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19272" y="2039112"/>
            <a:ext cx="49377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Menlo"/>
              </a:rPr>
              <a:t>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86200" y="1965960"/>
            <a:ext cx="868680" cy="384048"/>
          </a:xfrm>
          <a:prstGeom prst="rect">
            <a:avLst/>
          </a:prstGeom>
          <a:noFill/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59352" y="2039112"/>
            <a:ext cx="72237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16A34A"/>
                </a:solidFill>
                <a:latin typeface="Menlo"/>
              </a:rPr>
              <a:t>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54880" y="1965960"/>
            <a:ext cx="868680" cy="384048"/>
          </a:xfrm>
          <a:prstGeom prst="rect">
            <a:avLst/>
          </a:prstGeom>
          <a:noFill/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28032" y="2039112"/>
            <a:ext cx="72237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Menlo"/>
              </a:rPr>
              <a:t>&lt; 20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23560" y="1965960"/>
            <a:ext cx="777240" cy="384048"/>
          </a:xfrm>
          <a:prstGeom prst="rect">
            <a:avLst/>
          </a:prstGeom>
          <a:noFill/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96712" y="2039112"/>
            <a:ext cx="6309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16A34A"/>
                </a:solidFill>
                <a:latin typeface="Menlo"/>
              </a:rPr>
              <a:t>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1965960"/>
            <a:ext cx="1005840" cy="384048"/>
          </a:xfrm>
          <a:prstGeom prst="rect">
            <a:avLst/>
          </a:prstGeom>
          <a:noFill/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73952" y="2039112"/>
            <a:ext cx="8595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Menlo"/>
              </a:rPr>
              <a:t>&lt; 60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406640" y="1965960"/>
            <a:ext cx="777240" cy="384048"/>
          </a:xfrm>
          <a:prstGeom prst="rect">
            <a:avLst/>
          </a:prstGeom>
          <a:noFill/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79792" y="2039112"/>
            <a:ext cx="6309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DC2626"/>
                </a:solidFill>
                <a:latin typeface="Menlo"/>
              </a:rPr>
              <a:t>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183880" y="1965960"/>
            <a:ext cx="868680" cy="384048"/>
          </a:xfrm>
          <a:prstGeom prst="rect">
            <a:avLst/>
          </a:prstGeom>
          <a:noFill/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57032" y="2039112"/>
            <a:ext cx="72237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Menlo"/>
              </a:rPr>
              <a:t>0.5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2350008"/>
            <a:ext cx="146304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0352" y="2423160"/>
            <a:ext cx="13167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Helvetica Neue"/>
              </a:rPr>
              <a:t>JACKSON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920240" y="2350008"/>
            <a:ext cx="54864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993392" y="2423160"/>
            <a:ext cx="4023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Menlo"/>
              </a:rPr>
              <a:t>11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68880" y="2350008"/>
            <a:ext cx="77724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42032" y="2423160"/>
            <a:ext cx="6309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Menlo"/>
              </a:rPr>
              <a:t>13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246120" y="2350008"/>
            <a:ext cx="64008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19272" y="2423160"/>
            <a:ext cx="49377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Menlo"/>
              </a:rPr>
              <a:t>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886200" y="2350008"/>
            <a:ext cx="86868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959352" y="2423160"/>
            <a:ext cx="72237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16A34A"/>
                </a:solidFill>
                <a:latin typeface="Menlo"/>
              </a:rPr>
              <a:t>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754880" y="2350008"/>
            <a:ext cx="86868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828032" y="2423160"/>
            <a:ext cx="72237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Menlo"/>
              </a:rPr>
              <a:t>&lt; 30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23560" y="2350008"/>
            <a:ext cx="77724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696712" y="2423160"/>
            <a:ext cx="6309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16A34A"/>
                </a:solidFill>
                <a:latin typeface="Menlo"/>
              </a:rPr>
              <a:t>5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400800" y="2350008"/>
            <a:ext cx="100584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73952" y="2423160"/>
            <a:ext cx="8595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Menlo"/>
              </a:rPr>
              <a:t>&lt; 100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406640" y="2350008"/>
            <a:ext cx="77724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479792" y="2423160"/>
            <a:ext cx="6309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DC2626"/>
                </a:solidFill>
                <a:latin typeface="Menlo"/>
              </a:rPr>
              <a:t>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183880" y="2350008"/>
            <a:ext cx="86868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257032" y="2423160"/>
            <a:ext cx="72237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Menlo"/>
              </a:rPr>
              <a:t>0.1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57200" y="2734056"/>
            <a:ext cx="1463040" cy="384048"/>
          </a:xfrm>
          <a:prstGeom prst="rect">
            <a:avLst/>
          </a:prstGeom>
          <a:noFill/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30352" y="2807208"/>
            <a:ext cx="13167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Helvetica Neue"/>
              </a:rPr>
              <a:t>MITCHELL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920240" y="2734056"/>
            <a:ext cx="548640" cy="384048"/>
          </a:xfrm>
          <a:prstGeom prst="rect">
            <a:avLst/>
          </a:prstGeom>
          <a:noFill/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993392" y="2807208"/>
            <a:ext cx="4023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Menlo"/>
              </a:rPr>
              <a:t>21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468880" y="2734056"/>
            <a:ext cx="777240" cy="384048"/>
          </a:xfrm>
          <a:prstGeom prst="rect">
            <a:avLst/>
          </a:prstGeom>
          <a:noFill/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542032" y="2807208"/>
            <a:ext cx="6309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Menlo"/>
              </a:rPr>
              <a:t>26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246120" y="2734056"/>
            <a:ext cx="640080" cy="384048"/>
          </a:xfrm>
          <a:prstGeom prst="rect">
            <a:avLst/>
          </a:prstGeom>
          <a:noFill/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319272" y="2807208"/>
            <a:ext cx="49377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Menlo"/>
              </a:rPr>
              <a:t>5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886200" y="2734056"/>
            <a:ext cx="868680" cy="384048"/>
          </a:xfrm>
          <a:prstGeom prst="rect">
            <a:avLst/>
          </a:prstGeom>
          <a:noFill/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959352" y="2807208"/>
            <a:ext cx="72237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16A34A"/>
                </a:solidFill>
                <a:latin typeface="Menlo"/>
              </a:rPr>
              <a:t>5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754880" y="2734056"/>
            <a:ext cx="868680" cy="384048"/>
          </a:xfrm>
          <a:prstGeom prst="rect">
            <a:avLst/>
          </a:prstGeom>
          <a:noFill/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828032" y="2807208"/>
            <a:ext cx="72237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Menlo"/>
              </a:rPr>
              <a:t>&lt; 200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623560" y="2734056"/>
            <a:ext cx="777240" cy="384048"/>
          </a:xfrm>
          <a:prstGeom prst="rect">
            <a:avLst/>
          </a:prstGeom>
          <a:noFill/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696712" y="2807208"/>
            <a:ext cx="6309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16A34A"/>
                </a:solidFill>
                <a:latin typeface="Menlo"/>
              </a:rPr>
              <a:t>5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400800" y="2734056"/>
            <a:ext cx="1005840" cy="384048"/>
          </a:xfrm>
          <a:prstGeom prst="rect">
            <a:avLst/>
          </a:prstGeom>
          <a:noFill/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473952" y="2807208"/>
            <a:ext cx="8595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Menlo"/>
              </a:rPr>
              <a:t>&lt; 600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406640" y="2734056"/>
            <a:ext cx="777240" cy="384048"/>
          </a:xfrm>
          <a:prstGeom prst="rect">
            <a:avLst/>
          </a:prstGeom>
          <a:noFill/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479792" y="2807208"/>
            <a:ext cx="6309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DC2626"/>
                </a:solidFill>
                <a:latin typeface="Menlo"/>
              </a:rPr>
              <a:t>12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183880" y="2734056"/>
            <a:ext cx="868680" cy="384048"/>
          </a:xfrm>
          <a:prstGeom prst="rect">
            <a:avLst/>
          </a:prstGeom>
          <a:noFill/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257032" y="2807208"/>
            <a:ext cx="72237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Menlo"/>
              </a:rPr>
              <a:t>0.1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57200" y="3118104"/>
            <a:ext cx="146304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30352" y="3191256"/>
            <a:ext cx="13167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Helvetica Neue"/>
              </a:rPr>
              <a:t>ROSZIEG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920240" y="3118104"/>
            <a:ext cx="54864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993392" y="3191256"/>
            <a:ext cx="4023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Menlo"/>
              </a:rPr>
              <a:t>25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468880" y="3118104"/>
            <a:ext cx="77724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542032" y="3191256"/>
            <a:ext cx="6309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Menlo"/>
              </a:rPr>
              <a:t>21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246120" y="3118104"/>
            <a:ext cx="64008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319272" y="3191256"/>
            <a:ext cx="49377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Menlo"/>
              </a:rPr>
              <a:t>6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886200" y="3118104"/>
            <a:ext cx="86868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959352" y="3191256"/>
            <a:ext cx="72237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16A34A"/>
                </a:solidFill>
                <a:latin typeface="Menlo"/>
              </a:rPr>
              <a:t>6</a:t>
            </a:r>
          </a:p>
        </p:txBody>
      </p:sp>
      <p:sp>
        <p:nvSpPr>
          <p:cNvPr id="99" name="Rectangle 98"/>
          <p:cNvSpPr/>
          <p:nvPr/>
        </p:nvSpPr>
        <p:spPr>
          <a:xfrm>
            <a:off x="4754880" y="3118104"/>
            <a:ext cx="86868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828032" y="3191256"/>
            <a:ext cx="72237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Menlo"/>
              </a:rPr>
              <a:t>&lt; 300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623560" y="3118104"/>
            <a:ext cx="77724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696712" y="3191256"/>
            <a:ext cx="6309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16A34A"/>
                </a:solidFill>
                <a:latin typeface="Menlo"/>
              </a:rPr>
              <a:t>6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400800" y="3118104"/>
            <a:ext cx="100584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473952" y="3191256"/>
            <a:ext cx="8595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Menlo"/>
              </a:rPr>
              <a:t>&lt; 900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406640" y="3118104"/>
            <a:ext cx="77724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7479792" y="3191256"/>
            <a:ext cx="6309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DC2626"/>
                </a:solidFill>
                <a:latin typeface="Menlo"/>
              </a:rPr>
              <a:t>12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8183880" y="3118104"/>
            <a:ext cx="86868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257032" y="3191256"/>
            <a:ext cx="72237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Menlo"/>
              </a:rPr>
              <a:t>0.2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57200" y="3502152"/>
            <a:ext cx="1463040" cy="384048"/>
          </a:xfrm>
          <a:prstGeom prst="rect">
            <a:avLst/>
          </a:prstGeom>
          <a:noFill/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30352" y="3575304"/>
            <a:ext cx="13167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Helvetica Neue"/>
              </a:rPr>
              <a:t>BUXEY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920240" y="3502152"/>
            <a:ext cx="548640" cy="384048"/>
          </a:xfrm>
          <a:prstGeom prst="rect">
            <a:avLst/>
          </a:prstGeom>
          <a:noFill/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993392" y="3575304"/>
            <a:ext cx="4023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Menlo"/>
              </a:rPr>
              <a:t>29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2468880" y="3502152"/>
            <a:ext cx="777240" cy="384048"/>
          </a:xfrm>
          <a:prstGeom prst="rect">
            <a:avLst/>
          </a:prstGeom>
          <a:noFill/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2542032" y="3575304"/>
            <a:ext cx="6309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Menlo"/>
              </a:rPr>
              <a:t>36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3246120" y="3502152"/>
            <a:ext cx="640080" cy="384048"/>
          </a:xfrm>
          <a:prstGeom prst="rect">
            <a:avLst/>
          </a:prstGeom>
          <a:noFill/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3319272" y="3575304"/>
            <a:ext cx="49377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Menlo"/>
              </a:rPr>
              <a:t>9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3886200" y="3502152"/>
            <a:ext cx="868680" cy="384048"/>
          </a:xfrm>
          <a:prstGeom prst="rect">
            <a:avLst/>
          </a:prstGeom>
          <a:noFill/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3959352" y="3575304"/>
            <a:ext cx="72237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16A34A"/>
                </a:solidFill>
                <a:latin typeface="Menlo"/>
              </a:rPr>
              <a:t>9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4754880" y="3502152"/>
            <a:ext cx="868680" cy="384048"/>
          </a:xfrm>
          <a:prstGeom prst="rect">
            <a:avLst/>
          </a:prstGeom>
          <a:noFill/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4828032" y="3575304"/>
            <a:ext cx="72237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Menlo"/>
              </a:rPr>
              <a:t>&lt; 500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5623560" y="3502152"/>
            <a:ext cx="777240" cy="384048"/>
          </a:xfrm>
          <a:prstGeom prst="rect">
            <a:avLst/>
          </a:prstGeom>
          <a:noFill/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696712" y="3575304"/>
            <a:ext cx="6309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16A34A"/>
                </a:solidFill>
                <a:latin typeface="Menlo"/>
              </a:rPr>
              <a:t>9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6400800" y="3502152"/>
            <a:ext cx="1005840" cy="384048"/>
          </a:xfrm>
          <a:prstGeom prst="rect">
            <a:avLst/>
          </a:prstGeom>
          <a:noFill/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473952" y="3575304"/>
            <a:ext cx="8595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Menlo"/>
              </a:rPr>
              <a:t>&lt; 1500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7406640" y="3502152"/>
            <a:ext cx="777240" cy="384048"/>
          </a:xfrm>
          <a:prstGeom prst="rect">
            <a:avLst/>
          </a:prstGeom>
          <a:noFill/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7479792" y="3575304"/>
            <a:ext cx="6309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DC2626"/>
                </a:solidFill>
                <a:latin typeface="Menlo"/>
              </a:rPr>
              <a:t>11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183880" y="3502152"/>
            <a:ext cx="868680" cy="384048"/>
          </a:xfrm>
          <a:prstGeom prst="rect">
            <a:avLst/>
          </a:prstGeom>
          <a:noFill/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257032" y="3575304"/>
            <a:ext cx="72237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Menlo"/>
              </a:rPr>
              <a:t>0.2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457200" y="3886200"/>
            <a:ext cx="146304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530352" y="3959352"/>
            <a:ext cx="13167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Helvetica Neue"/>
              </a:rPr>
              <a:t>SAWYER30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920240" y="3886200"/>
            <a:ext cx="54864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993392" y="3959352"/>
            <a:ext cx="4023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Menlo"/>
              </a:rPr>
              <a:t>30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2468880" y="3886200"/>
            <a:ext cx="77724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2542032" y="3959352"/>
            <a:ext cx="6309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Menlo"/>
              </a:rPr>
              <a:t>36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3246120" y="3886200"/>
            <a:ext cx="64008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3319272" y="3959352"/>
            <a:ext cx="49377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Menlo"/>
              </a:rPr>
              <a:t>10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3886200" y="3886200"/>
            <a:ext cx="86868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3959352" y="3959352"/>
            <a:ext cx="72237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16A34A"/>
                </a:solidFill>
                <a:latin typeface="Menlo"/>
              </a:rPr>
              <a:t>10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4754880" y="3886200"/>
            <a:ext cx="86868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4828032" y="3959352"/>
            <a:ext cx="72237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Menlo"/>
              </a:rPr>
              <a:t>&lt; 600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5623560" y="3886200"/>
            <a:ext cx="77724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5696712" y="3959352"/>
            <a:ext cx="6309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16A34A"/>
                </a:solidFill>
                <a:latin typeface="Menlo"/>
              </a:rPr>
              <a:t>10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6400800" y="3886200"/>
            <a:ext cx="100584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473952" y="3959352"/>
            <a:ext cx="8595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Menlo"/>
              </a:rPr>
              <a:t>&lt; 2000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7406640" y="3886200"/>
            <a:ext cx="77724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7479792" y="3959352"/>
            <a:ext cx="6309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DC2626"/>
                </a:solidFill>
                <a:latin typeface="Menlo"/>
              </a:rPr>
              <a:t>12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183880" y="3886200"/>
            <a:ext cx="86868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57032" y="3959352"/>
            <a:ext cx="72237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Menlo"/>
              </a:rPr>
              <a:t>0.2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457200" y="4270248"/>
            <a:ext cx="1463040" cy="384048"/>
          </a:xfrm>
          <a:prstGeom prst="rect">
            <a:avLst/>
          </a:prstGeom>
          <a:noFill/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530352" y="4343400"/>
            <a:ext cx="13167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Helvetica Neue"/>
              </a:rPr>
              <a:t>GUNTHER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920240" y="4270248"/>
            <a:ext cx="548640" cy="384048"/>
          </a:xfrm>
          <a:prstGeom prst="rect">
            <a:avLst/>
          </a:prstGeom>
          <a:noFill/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993392" y="4343400"/>
            <a:ext cx="4023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Menlo"/>
              </a:rPr>
              <a:t>35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2468880" y="4270248"/>
            <a:ext cx="777240" cy="384048"/>
          </a:xfrm>
          <a:prstGeom prst="rect">
            <a:avLst/>
          </a:prstGeom>
          <a:noFill/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2542032" y="4343400"/>
            <a:ext cx="6309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Menlo"/>
              </a:rPr>
              <a:t>54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3246120" y="4270248"/>
            <a:ext cx="640080" cy="384048"/>
          </a:xfrm>
          <a:prstGeom prst="rect">
            <a:avLst/>
          </a:prstGeom>
          <a:noFill/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3319272" y="4343400"/>
            <a:ext cx="49377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Menlo"/>
              </a:rPr>
              <a:t>9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3886200" y="4270248"/>
            <a:ext cx="868680" cy="384048"/>
          </a:xfrm>
          <a:prstGeom prst="rect">
            <a:avLst/>
          </a:prstGeom>
          <a:noFill/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3959352" y="4343400"/>
            <a:ext cx="72237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16A34A"/>
                </a:solidFill>
                <a:latin typeface="Menlo"/>
              </a:rPr>
              <a:t>9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4754880" y="4270248"/>
            <a:ext cx="868680" cy="384048"/>
          </a:xfrm>
          <a:prstGeom prst="rect">
            <a:avLst/>
          </a:prstGeom>
          <a:noFill/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828032" y="4343400"/>
            <a:ext cx="72237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Menlo"/>
              </a:rPr>
              <a:t>&lt; 1100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5623560" y="4270248"/>
            <a:ext cx="777240" cy="384048"/>
          </a:xfrm>
          <a:prstGeom prst="rect">
            <a:avLst/>
          </a:prstGeom>
          <a:noFill/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5696712" y="4343400"/>
            <a:ext cx="6309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16A34A"/>
                </a:solidFill>
                <a:latin typeface="Menlo"/>
              </a:rPr>
              <a:t>9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400800" y="4270248"/>
            <a:ext cx="1005840" cy="384048"/>
          </a:xfrm>
          <a:prstGeom prst="rect">
            <a:avLst/>
          </a:prstGeom>
          <a:noFill/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73952" y="4343400"/>
            <a:ext cx="8595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Menlo"/>
              </a:rPr>
              <a:t>&lt; 3500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7406640" y="4270248"/>
            <a:ext cx="777240" cy="384048"/>
          </a:xfrm>
          <a:prstGeom prst="rect">
            <a:avLst/>
          </a:prstGeom>
          <a:noFill/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7479792" y="4343400"/>
            <a:ext cx="6309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DC2626"/>
                </a:solidFill>
                <a:latin typeface="Menlo"/>
              </a:rPr>
              <a:t>16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8183880" y="4270248"/>
            <a:ext cx="868680" cy="384048"/>
          </a:xfrm>
          <a:prstGeom prst="rect">
            <a:avLst/>
          </a:prstGeom>
          <a:noFill/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257032" y="4343400"/>
            <a:ext cx="72237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Menlo"/>
              </a:rPr>
              <a:t>0.2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457200" y="4654296"/>
            <a:ext cx="146304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530352" y="4727448"/>
            <a:ext cx="13167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Helvetica Neue"/>
              </a:rPr>
              <a:t>KILBRID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1920240" y="4654296"/>
            <a:ext cx="54864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993392" y="4727448"/>
            <a:ext cx="4023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Menlo"/>
              </a:rPr>
              <a:t>45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2468880" y="4654296"/>
            <a:ext cx="77724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2542032" y="4727448"/>
            <a:ext cx="6309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Menlo"/>
              </a:rPr>
              <a:t>69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3246120" y="4654296"/>
            <a:ext cx="64008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3319272" y="4727448"/>
            <a:ext cx="49377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Menlo"/>
              </a:rPr>
              <a:t>9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3886200" y="4654296"/>
            <a:ext cx="86868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3959352" y="4727448"/>
            <a:ext cx="72237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16A34A"/>
                </a:solidFill>
                <a:latin typeface="Menlo"/>
              </a:rPr>
              <a:t>9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4754880" y="4654296"/>
            <a:ext cx="86868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828032" y="4727448"/>
            <a:ext cx="72237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Menlo"/>
              </a:rPr>
              <a:t>&lt; 2200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5623560" y="4654296"/>
            <a:ext cx="77724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5696712" y="4727448"/>
            <a:ext cx="6309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16A34A"/>
                </a:solidFill>
                <a:latin typeface="Menlo"/>
              </a:rPr>
              <a:t>9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400800" y="4654296"/>
            <a:ext cx="100584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473952" y="4727448"/>
            <a:ext cx="8595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Menlo"/>
              </a:rPr>
              <a:t>&lt; 7000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7406640" y="4654296"/>
            <a:ext cx="77724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7479792" y="4727448"/>
            <a:ext cx="6309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DC2626"/>
                </a:solidFill>
                <a:latin typeface="Menlo"/>
              </a:rPr>
              <a:t>14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8183880" y="4654296"/>
            <a:ext cx="86868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8257032" y="4727448"/>
            <a:ext cx="72237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Menlo"/>
              </a:rPr>
              <a:t>0.3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57200" y="5212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E3A8A"/>
                </a:solidFill>
                <a:latin typeface="Helvetica Neue"/>
              </a:rPr>
              <a:t>CE QU'ON RETIENT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457200" y="55778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Helvetica Neue"/>
              </a:rPr>
              <a:t>CP-SAT atteint l'optimum sur toutes les instances, de l'ordre de la dizaine à la seconde selon n.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Helvetica Neue"/>
              </a:rPr>
              <a:t>PLNE confirme la même solution avec un facteur 2 à 4 sur le temps d'exécution.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Helvetica Neue"/>
              </a:rPr>
              <a:t>RPW donne une solution en moins d'une milliseconde avec un écart pouvant atteindre 140 % sur les instances à fort cycle.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108960"/>
            <a:ext cx="11430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400" b="1">
                <a:solidFill>
                  <a:srgbClr val="0F172A"/>
                </a:solidFill>
                <a:latin typeface="Helvetica Neue"/>
              </a:rPr>
              <a:t>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0" y="4023360"/>
            <a:ext cx="128016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108960"/>
            <a:ext cx="11430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400" b="1">
                <a:solidFill>
                  <a:srgbClr val="0F172A"/>
                </a:solidFill>
                <a:latin typeface="Helvetica Neue"/>
              </a:rPr>
              <a:t>Démonstration live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0" y="4023360"/>
            <a:ext cx="128016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