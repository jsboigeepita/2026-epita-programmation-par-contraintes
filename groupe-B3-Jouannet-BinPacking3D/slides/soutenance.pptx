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29EC93-0596-49BA-9D97-A79A3B16E754}">
  <a:tblStyle styleId="{0529EC93-0596-49BA-9D97-A79A3B16E7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7fd11b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7fd11b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37fd11b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37fd11b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37fd11b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37fd11b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37fd11b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37fd11b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7fd11b2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37fd11b2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37fd11b2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37fd11b2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37fd11b2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37fd11b2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7fd11b2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37fd11b2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7fd11b2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37fd11b2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-435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3D Bin </a:t>
            </a:r>
            <a:r>
              <a:rPr lang="fr"/>
              <a:t>Packing</a:t>
            </a:r>
            <a:r>
              <a:rPr lang="fr"/>
              <a:t> – CP-SAT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Emile Jouannet SCIA 2027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</a:t>
            </a:r>
            <a:r>
              <a:rPr lang="fr"/>
              <a:t>problème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487200" y="1152475"/>
            <a:ext cx="334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Comment charger un maximum de colis dans un minimum de conteneurs 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Contraintes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-les </a:t>
            </a:r>
            <a:r>
              <a:rPr lang="fr"/>
              <a:t>objets</a:t>
            </a:r>
            <a:r>
              <a:rPr lang="fr"/>
              <a:t> ne se chevauchent pas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-chaque </a:t>
            </a:r>
            <a:r>
              <a:rPr lang="fr"/>
              <a:t>objet</a:t>
            </a:r>
            <a:r>
              <a:rPr lang="fr"/>
              <a:t> reste dans le conteneur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-objets fragile </a:t>
            </a:r>
            <a:r>
              <a:rPr lang="fr"/>
              <a:t>placés</a:t>
            </a:r>
            <a:r>
              <a:rPr lang="fr"/>
              <a:t> en haut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-poids maximum par conteneur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782747"/>
            <a:ext cx="5175499" cy="21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Pourquoi c’est difficile 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</a:t>
            </a:r>
            <a:r>
              <a:rPr lang="fr"/>
              <a:t> NP-difficile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Pour n </a:t>
            </a:r>
            <a:r>
              <a:rPr lang="fr"/>
              <a:t>objets</a:t>
            </a:r>
            <a:r>
              <a:rPr lang="fr"/>
              <a:t> et k conteneurs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n=10 -&gt; des </a:t>
            </a:r>
            <a:r>
              <a:rPr lang="fr"/>
              <a:t>milliards</a:t>
            </a:r>
            <a:r>
              <a:rPr lang="fr"/>
              <a:t> de possibles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n=20 -&gt; impossible a </a:t>
            </a:r>
            <a:r>
              <a:rPr lang="fr"/>
              <a:t>énumérer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Preuve : </a:t>
            </a:r>
            <a:r>
              <a:rPr lang="fr"/>
              <a:t>réduction</a:t>
            </a:r>
            <a:r>
              <a:rPr lang="fr"/>
              <a:t> depuis le </a:t>
            </a:r>
            <a:r>
              <a:rPr lang="fr"/>
              <a:t>problème</a:t>
            </a:r>
            <a:r>
              <a:rPr lang="fr"/>
              <a:t> de partition (si on sait pack en 2 bins on resout Partition -&gt; NP-dur)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On ne peut pas tester toutes les solutions. Il faut un solveur intelligent : CP-SAT</a:t>
            </a:r>
            <a:endParaRPr/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311700" y="137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{0529EC93-0596-49BA-9D97-A79A3B16E754}</a:tableStyleId>
              </a:tblPr>
              <a:tblGrid>
                <a:gridCol w="1442375"/>
                <a:gridCol w="2458375"/>
              </a:tblGrid>
              <a:tr h="6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 objects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Configurations possibles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~30 000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~3 </a:t>
                      </a:r>
                      <a:r>
                        <a:rPr lang="fr"/>
                        <a:t>milliards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&gt; 10^20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impossible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 a énumérer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</a:t>
            </a:r>
            <a:r>
              <a:rPr lang="fr"/>
              <a:t> CP-SAT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299850" y="1152475"/>
            <a:ext cx="453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Variables de décision :</a:t>
            </a:r>
            <a:endParaRPr/>
          </a:p>
          <a:p>
            <a:pPr indent="-31718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bin[i]     → dans quel conteneur va l'objet i</a:t>
            </a:r>
            <a:endParaRPr/>
          </a:p>
          <a:p>
            <a:pPr indent="-3171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x[i], y[i], z[i] → sa position dans ce conteneur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Contrainte de non-chevauchement : Pour chaque paire (i, j) dans le même conteneur, au moins 1 des 6 séparations doit tenir :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  x[i]+w[i] ≤ x[j]   OU   x[j]+w[j] ≤ x[i]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  y[i]+d[i] ≤ y[j]   OU   y[j]+d[j] ≤ y[i] 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z[i]+h[i] ≤ z[j]   OU   z[j]+h[j] ≤ z[i]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Objectif : minimiser le nombre de conteneurs utilisés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6275" y="1741725"/>
            <a:ext cx="1360800" cy="99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2676063" y="1741725"/>
            <a:ext cx="1360800" cy="99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1669150" y="2032000"/>
            <a:ext cx="730200" cy="108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63275" y="1152475"/>
            <a:ext cx="37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object i                              object j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669150" y="2249725"/>
            <a:ext cx="11793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&gt;=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6275" y="2867075"/>
            <a:ext cx="4263600" cy="15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i à gauche de j      x[i]+w ≤ x[j]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j à gauche de i      x[j]+w ≤ x[i]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i devant j           y[i]+d ≤ y[j]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j devant i           y[j]+d ≤ y[i]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i sous j             z[i]+h ≤ z[j]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j sous i             z[j]+h ≤ z[i]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Cassage de </a:t>
            </a:r>
            <a:r>
              <a:rPr lang="fr"/>
              <a:t>symétrie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372425" y="1152475"/>
            <a:ext cx="445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</a:t>
            </a:r>
            <a:r>
              <a:rPr lang="fr"/>
              <a:t> : permuter 2 conteneurs vides  = </a:t>
            </a:r>
            <a:r>
              <a:rPr lang="fr"/>
              <a:t>même</a:t>
            </a:r>
            <a:r>
              <a:rPr lang="fr"/>
              <a:t> solution </a:t>
            </a:r>
            <a:r>
              <a:rPr lang="fr"/>
              <a:t>différemment</a:t>
            </a:r>
            <a:r>
              <a:rPr lang="fr"/>
              <a:t> </a:t>
            </a:r>
            <a:r>
              <a:rPr lang="fr"/>
              <a:t>étiquetée</a:t>
            </a:r>
            <a:r>
              <a:rPr lang="fr"/>
              <a:t> -&gt; le solveur explore des solutions </a:t>
            </a:r>
            <a:r>
              <a:rPr lang="fr"/>
              <a:t>inutiles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Solution : forcer un ordre sur les indices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	bin[0]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	bin[i] &lt;= bin[i-1] + 1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Résultat</a:t>
            </a:r>
            <a:r>
              <a:rPr lang="fr"/>
              <a:t> : on </a:t>
            </a:r>
            <a:r>
              <a:rPr lang="fr"/>
              <a:t>élimine</a:t>
            </a:r>
            <a:r>
              <a:rPr lang="fr"/>
              <a:t> les </a:t>
            </a:r>
            <a:r>
              <a:rPr lang="fr"/>
              <a:t>duplicatas</a:t>
            </a:r>
            <a:r>
              <a:rPr lang="fr"/>
              <a:t> -&gt; *10 plus rapide sur les instances </a:t>
            </a:r>
            <a:r>
              <a:rPr lang="fr"/>
              <a:t>testées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508000" y="1886850"/>
            <a:ext cx="3719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❌ Sans cassage          ✅ Avec cassage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[A][ ][ ]                [A][ ][ 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[ ][A][ ]    → interdit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[ ][ ][A]    → interdit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Demo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 title="Screenshot 2026-05-20 at 1.28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863" y="916526"/>
            <a:ext cx="5403888" cy="38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CP-SAT vs Heuristique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089775"/>
            <a:ext cx="8520600" cy="18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Comparaison CP-SAT vs First Fit </a:t>
            </a:r>
            <a:r>
              <a:rPr lang="fr"/>
              <a:t>Decreasing</a:t>
            </a:r>
            <a:r>
              <a:rPr lang="fr"/>
              <a:t> (FFD)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FFD: tri par volume </a:t>
            </a:r>
            <a:r>
              <a:rPr lang="fr"/>
              <a:t>décroissant</a:t>
            </a:r>
            <a:r>
              <a:rPr lang="fr"/>
              <a:t> + placement glouton -&gt; rapide (O(n logn)) mais sous optimal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CP-SAT : exploration </a:t>
            </a:r>
            <a:r>
              <a:rPr lang="fr"/>
              <a:t>complète</a:t>
            </a:r>
            <a:r>
              <a:rPr lang="fr"/>
              <a:t> garantie optimale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</a:t>
            </a:r>
            <a:r>
              <a:rPr lang="fr"/>
              <a:t> sur nos instances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CP-SAT utilise </a:t>
            </a:r>
            <a:r>
              <a:rPr lang="fr"/>
              <a:t>systématiquement</a:t>
            </a:r>
            <a:r>
              <a:rPr lang="fr"/>
              <a:t> moins de bins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FFD peut utiliser </a:t>
            </a:r>
            <a:r>
              <a:rPr lang="fr"/>
              <a:t>jusqu'à</a:t>
            </a:r>
            <a:r>
              <a:rPr lang="fr"/>
              <a:t> 2* plus de conteneurs</a:t>
            </a:r>
            <a:endParaRPr/>
          </a:p>
        </p:txBody>
      </p:sp>
      <p:pic>
        <p:nvPicPr>
          <p:cNvPr id="102" name="Google Shape;102;p19" title="Screenshot 2026-05-20 at 1.28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473" y="1017726"/>
            <a:ext cx="4925250" cy="207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Scalabilite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3048275"/>
            <a:ext cx="4151400" cy="21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Temps de </a:t>
            </a:r>
            <a:r>
              <a:rPr lang="fr"/>
              <a:t>résolution</a:t>
            </a:r>
            <a:r>
              <a:rPr lang="fr"/>
              <a:t> vs nombre d’objets.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n=5 -&gt; &lt; 0.0.1s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n=10 -&gt; ~0.1s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n=15 -&gt; ~5s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n=20- &gt; &gt;30s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n = 30 -&gt; timeout</a:t>
            </a:r>
            <a:endParaRPr/>
          </a:p>
        </p:txBody>
      </p:sp>
      <p:pic>
        <p:nvPicPr>
          <p:cNvPr id="109" name="Google Shape;109;p20" title="Screenshot 2026-05-20 at 1.32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425" y="908855"/>
            <a:ext cx="5085433" cy="21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680900" y="3048275"/>
            <a:ext cx="4151400" cy="21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Explication : O(n2) paires * 6 </a:t>
            </a:r>
            <a:r>
              <a:rPr lang="fr"/>
              <a:t>booléens</a:t>
            </a:r>
            <a:r>
              <a:rPr lang="fr"/>
              <a:t> par paire -&gt; explosion combinatoire </a:t>
            </a:r>
            <a:r>
              <a:rPr lang="fr"/>
              <a:t>inévitable</a:t>
            </a:r>
            <a:r>
              <a:rPr lang="fr"/>
              <a:t> (NP difficile)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Limites et perspectives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LImites actuelles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lent au delà de ~20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Rotation des objets non modélisées (6 orientations)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stabilité physique non garantie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Perspectives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Warm start : initialiser CP-SAT avec la solution FFD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Recherche dichotomique sur le nombre de bins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Hybridation avec ALNS les pour les grandes instances (n&gt;50)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Rotation : 6 booléens d’orientation par object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Bilan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✓ Modèle CP-SAT complet et correct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✓ Non-chevauchement 3D avec disjonctions sur 6 axes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✓ Fragilité et poids modélisés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✓ Cassage de symétrie efficace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✓ CP-SAT bat l'heuristique FFD sur toutes les instances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  Programmation par contraintes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 -&gt;un outil puissant pour les problèmes combinatoires réels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